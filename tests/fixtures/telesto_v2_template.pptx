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saveSubsetFonts="1">
  <p:sldMasterIdLst>
    <p:sldMasterId id="2147483648" r:id="rId1"/>
  </p:sldMasterIdLst>
  <p:notesMasterIdLst>
    <p:notesMasterId r:id="rId40"/>
  </p:notesMasterIdLst>
  <p:handoutMasterIdLst>
    <p:handoutMasterId r:id="rId41"/>
  </p:handoutMasterIdLst>
  <p:sldIdLst>
    <p:sldId id="307268" r:id="rId2"/>
    <p:sldId id="307305" r:id="rId3"/>
    <p:sldId id="307331" r:id="rId4"/>
    <p:sldId id="307299" r:id="rId5"/>
    <p:sldId id="307318" r:id="rId6"/>
    <p:sldId id="307357" r:id="rId7"/>
    <p:sldId id="307358" r:id="rId8"/>
    <p:sldId id="307359" r:id="rId9"/>
    <p:sldId id="307337" r:id="rId10"/>
    <p:sldId id="307338" r:id="rId11"/>
    <p:sldId id="307339" r:id="rId12"/>
    <p:sldId id="307306" r:id="rId13"/>
    <p:sldId id="307319" r:id="rId14"/>
    <p:sldId id="307336" r:id="rId15"/>
    <p:sldId id="307340" r:id="rId16"/>
    <p:sldId id="307341" r:id="rId17"/>
    <p:sldId id="307342" r:id="rId18"/>
    <p:sldId id="307330" r:id="rId19"/>
    <p:sldId id="307320" r:id="rId20"/>
    <p:sldId id="307343" r:id="rId21"/>
    <p:sldId id="307344" r:id="rId22"/>
    <p:sldId id="307347" r:id="rId23"/>
    <p:sldId id="307346" r:id="rId24"/>
    <p:sldId id="307345" r:id="rId25"/>
    <p:sldId id="307348" r:id="rId26"/>
    <p:sldId id="307333" r:id="rId27"/>
    <p:sldId id="307323" r:id="rId28"/>
    <p:sldId id="307354" r:id="rId29"/>
    <p:sldId id="307298" r:id="rId30"/>
    <p:sldId id="307350" r:id="rId31"/>
    <p:sldId id="307334" r:id="rId32"/>
    <p:sldId id="307327" r:id="rId33"/>
    <p:sldId id="307351" r:id="rId34"/>
    <p:sldId id="307352" r:id="rId35"/>
    <p:sldId id="307335" r:id="rId36"/>
    <p:sldId id="307356" r:id="rId37"/>
    <p:sldId id="307332" r:id="rId38"/>
    <p:sldId id="307355" r:id="rId39"/>
  </p:sldIdLst>
  <p:sldSz cx="12192000" cy="6858000"/>
  <p:notesSz cx="6858000" cy="9144000"/>
  <p:embeddedFontLst>
    <p:embeddedFont>
      <p:font typeface="Avenir Next LT Pro Light" panose="020B0304020202020204" pitchFamily="34" charset="0"/>
      <p:regular r:id="rId42"/>
      <p:italic r:id="rId43"/>
    </p:embeddedFont>
    <p:embeddedFont>
      <p:font typeface="Lato" panose="020F0502020204030203" pitchFamily="34" charset="0"/>
      <p:regular r:id="rId44"/>
      <p:bold r:id="rId45"/>
      <p:italic r:id="rId46"/>
      <p:boldItalic r:id="rId47"/>
    </p:embeddedFont>
  </p:embeddedFontLst>
  <p:custDataLst>
    <p:tags r:id="rId4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Vanguard v2" id="{8597E0A4-7068-4F01-AEFA-93E7B6659A2E}">
          <p14:sldIdLst>
            <p14:sldId id="307268"/>
            <p14:sldId id="307305"/>
            <p14:sldId id="307331"/>
            <p14:sldId id="307299"/>
            <p14:sldId id="307318"/>
            <p14:sldId id="307357"/>
            <p14:sldId id="307358"/>
            <p14:sldId id="307359"/>
          </p14:sldIdLst>
        </p14:section>
        <p14:section name="Archived v1" id="{C6DBC089-7422-4D34-87B4-80A5DC66CFB2}">
          <p14:sldIdLst>
            <p14:sldId id="307337"/>
            <p14:sldId id="307338"/>
            <p14:sldId id="307339"/>
            <p14:sldId id="307306"/>
            <p14:sldId id="307319"/>
            <p14:sldId id="307336"/>
            <p14:sldId id="307340"/>
            <p14:sldId id="307341"/>
            <p14:sldId id="307342"/>
            <p14:sldId id="307330"/>
            <p14:sldId id="307320"/>
            <p14:sldId id="307343"/>
            <p14:sldId id="307344"/>
            <p14:sldId id="307347"/>
            <p14:sldId id="307346"/>
            <p14:sldId id="307345"/>
            <p14:sldId id="307348"/>
            <p14:sldId id="307333"/>
            <p14:sldId id="307323"/>
            <p14:sldId id="307354"/>
            <p14:sldId id="307298"/>
            <p14:sldId id="307350"/>
            <p14:sldId id="307334"/>
            <p14:sldId id="307327"/>
            <p14:sldId id="307351"/>
            <p14:sldId id="307352"/>
            <p14:sldId id="307335"/>
          </p14:sldIdLst>
        </p14:section>
        <p14:section name="Resources" id="{8EC96852-FFCB-4A9B-A724-78462A89513B}">
          <p14:sldIdLst>
            <p14:sldId id="307356"/>
            <p14:sldId id="307332"/>
            <p14:sldId id="30735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66"/>
    <a:srgbClr val="000000"/>
    <a:srgbClr val="282828"/>
    <a:srgbClr val="FFFFFF"/>
    <a:srgbClr val="009999"/>
    <a:srgbClr val="D5BA98"/>
    <a:srgbClr val="17406D"/>
    <a:srgbClr val="F2F2F2"/>
    <a:srgbClr val="C49500"/>
    <a:srgbClr val="0062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31" autoAdjust="0"/>
    <p:restoredTop sz="94660"/>
  </p:normalViewPr>
  <p:slideViewPr>
    <p:cSldViewPr snapToGrid="0">
      <p:cViewPr varScale="1">
        <p:scale>
          <a:sx n="87" d="100"/>
          <a:sy n="87" d="100"/>
        </p:scale>
        <p:origin x="442" y="77"/>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78" d="100"/>
          <a:sy n="78" d="100"/>
        </p:scale>
        <p:origin x="3966"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4.fntdata"/><Relationship Id="rId53" Type="http://schemas.microsoft.com/office/2018/10/relationships/authors" Target="author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5B882AF-6D11-1181-D2D1-679561BA1DC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68907E8-11B0-5AF6-B3F9-C8FDBE5D4F9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DF27576-6378-46A1-83F5-E942D03BBC96}" type="datetimeFigureOut">
              <a:rPr lang="en-US" smtClean="0"/>
              <a:t>9/10/2026</a:t>
            </a:fld>
            <a:endParaRPr lang="en-US"/>
          </a:p>
        </p:txBody>
      </p:sp>
      <p:sp>
        <p:nvSpPr>
          <p:cNvPr id="4" name="Footer Placeholder 3">
            <a:extLst>
              <a:ext uri="{FF2B5EF4-FFF2-40B4-BE49-F238E27FC236}">
                <a16:creationId xmlns:a16="http://schemas.microsoft.com/office/drawing/2014/main" id="{8A991FC6-30B5-A5F9-4AD2-0275B50402B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038577E-D212-D033-D76B-EA91EF5ADE3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0A8F607-C6D4-4728-95B4-93C593136222}" type="slidenum">
              <a:rPr lang="en-US" smtClean="0"/>
              <a:t>‹#›</a:t>
            </a:fld>
            <a:endParaRPr lang="en-US"/>
          </a:p>
        </p:txBody>
      </p:sp>
    </p:spTree>
    <p:extLst>
      <p:ext uri="{BB962C8B-B14F-4D97-AF65-F5344CB8AC3E}">
        <p14:creationId xmlns:p14="http://schemas.microsoft.com/office/powerpoint/2010/main" val="3179987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E6A2CA-3EC9-4F35-9CF6-26B83A9DD6BE}" type="datetimeFigureOut">
              <a:rPr lang="en-US" smtClean="0"/>
              <a:t>9/10/2026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0E5BE5-4ADF-47CE-B7CE-40389D4C0B2B}" type="slidenum">
              <a:rPr lang="en-US" smtClean="0"/>
              <a:t>‹#›</a:t>
            </a:fld>
            <a:endParaRPr lang="en-US"/>
          </a:p>
        </p:txBody>
      </p:sp>
    </p:spTree>
    <p:extLst>
      <p:ext uri="{BB962C8B-B14F-4D97-AF65-F5344CB8AC3E}">
        <p14:creationId xmlns:p14="http://schemas.microsoft.com/office/powerpoint/2010/main" val="4201737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tags" Target="../tags/tag6.xml"/><Relationship Id="rId7"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image" Target="../media/image3.png"/><Relationship Id="rId5" Type="http://schemas.openxmlformats.org/officeDocument/2006/relationships/tags" Target="../tags/tag8.xml"/><Relationship Id="rId10" Type="http://schemas.openxmlformats.org/officeDocument/2006/relationships/image" Target="../media/image1.emf"/><Relationship Id="rId4" Type="http://schemas.openxmlformats.org/officeDocument/2006/relationships/tags" Target="../tags/tag7.xml"/><Relationship Id="rId9"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tags" Target="../tags/tag12.xml"/><Relationship Id="rId7"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image" Target="../media/image4.png"/><Relationship Id="rId5" Type="http://schemas.openxmlformats.org/officeDocument/2006/relationships/tags" Target="../tags/tag14.xml"/><Relationship Id="rId10" Type="http://schemas.openxmlformats.org/officeDocument/2006/relationships/image" Target="../media/image1.emf"/><Relationship Id="rId4" Type="http://schemas.openxmlformats.org/officeDocument/2006/relationships/tags" Target="../tags/tag13.xml"/><Relationship Id="rId9" Type="http://schemas.openxmlformats.org/officeDocument/2006/relationships/oleObject" Target="../embeddings/oleObject2.bin"/></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tags" Target="../tags/tag18.xml"/><Relationship Id="rId7"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image" Target="../media/image3.png"/><Relationship Id="rId5" Type="http://schemas.openxmlformats.org/officeDocument/2006/relationships/tags" Target="../tags/tag20.xml"/><Relationship Id="rId10" Type="http://schemas.openxmlformats.org/officeDocument/2006/relationships/image" Target="../media/image1.emf"/><Relationship Id="rId4" Type="http://schemas.openxmlformats.org/officeDocument/2006/relationships/tags" Target="../tags/tag19.xml"/><Relationship Id="rId9" Type="http://schemas.openxmlformats.org/officeDocument/2006/relationships/oleObject" Target="../embeddings/oleObject2.bin"/></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image" Target="../media/image4.png"/><Relationship Id="rId5" Type="http://schemas.openxmlformats.org/officeDocument/2006/relationships/tags" Target="../tags/tag26.xml"/><Relationship Id="rId10" Type="http://schemas.openxmlformats.org/officeDocument/2006/relationships/image" Target="../media/image1.emf"/><Relationship Id="rId4" Type="http://schemas.openxmlformats.org/officeDocument/2006/relationships/tags" Target="../tags/tag25.xml"/><Relationship Id="rId9" Type="http://schemas.openxmlformats.org/officeDocument/2006/relationships/oleObject" Target="../embeddings/oleObject2.bin"/></Relationships>
</file>

<file path=ppt/slideLayouts/_rels/slideLayout5.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tags" Target="../tags/tag30.xml"/><Relationship Id="rId7" Type="http://schemas.openxmlformats.org/officeDocument/2006/relationships/slideMaster" Target="../slideMasters/slideMaster1.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10" Type="http://schemas.openxmlformats.org/officeDocument/2006/relationships/image" Target="../media/image4.png"/><Relationship Id="rId4" Type="http://schemas.openxmlformats.org/officeDocument/2006/relationships/tags" Target="../tags/tag31.xml"/><Relationship Id="rId9"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tags" Target="../tags/tag36.xml"/><Relationship Id="rId7" Type="http://schemas.openxmlformats.org/officeDocument/2006/relationships/slideMaster" Target="../slideMasters/slideMaster1.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image" Target="../media/image8.png"/><Relationship Id="rId5" Type="http://schemas.openxmlformats.org/officeDocument/2006/relationships/tags" Target="../tags/tag38.xml"/><Relationship Id="rId10" Type="http://schemas.openxmlformats.org/officeDocument/2006/relationships/image" Target="../media/image1.emf"/><Relationship Id="rId4" Type="http://schemas.openxmlformats.org/officeDocument/2006/relationships/tags" Target="../tags/tag37.xml"/><Relationship Id="rId9" Type="http://schemas.openxmlformats.org/officeDocument/2006/relationships/oleObject" Target="../embeddings/oleObject4.bin"/></Relationships>
</file>

<file path=ppt/slideLayouts/_rels/slideLayout7.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42.xml"/><Relationship Id="rId7" Type="http://schemas.openxmlformats.org/officeDocument/2006/relationships/slideMaster" Target="../slideMasters/slideMaster1.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tags" Target="../tags/tag45.xml"/><Relationship Id="rId5" Type="http://schemas.openxmlformats.org/officeDocument/2006/relationships/tags" Target="../tags/tag44.xml"/><Relationship Id="rId10" Type="http://schemas.openxmlformats.org/officeDocument/2006/relationships/image" Target="../media/image8.png"/><Relationship Id="rId4" Type="http://schemas.openxmlformats.org/officeDocument/2006/relationships/tags" Target="../tags/tag43.xml"/><Relationship Id="rId9"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48.xml"/><Relationship Id="rId7" Type="http://schemas.openxmlformats.org/officeDocument/2006/relationships/oleObject" Target="../embeddings/oleObject5.bin"/><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slideMaster" Target="../slideMasters/slideMaster1.xml"/><Relationship Id="rId5" Type="http://schemas.openxmlformats.org/officeDocument/2006/relationships/tags" Target="../tags/tag50.xml"/><Relationship Id="rId4" Type="http://schemas.openxmlformats.org/officeDocument/2006/relationships/tags" Target="../tags/tag49.xml"/><Relationship Id="rId9"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tags" Target="../tags/tag53.xml"/><Relationship Id="rId7" Type="http://schemas.openxmlformats.org/officeDocument/2006/relationships/image" Target="../media/image2.jpeg"/><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slideMaster" Target="../slideMasters/slideMaster1.xml"/><Relationship Id="rId5" Type="http://schemas.openxmlformats.org/officeDocument/2006/relationships/tags" Target="../tags/tag55.xml"/><Relationship Id="rId10" Type="http://schemas.openxmlformats.org/officeDocument/2006/relationships/image" Target="../media/image9.png"/><Relationship Id="rId4" Type="http://schemas.openxmlformats.org/officeDocument/2006/relationships/tags" Target="../tags/tag54.xml"/><Relationship Id="rId9"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58.xml"/><Relationship Id="rId7" Type="http://schemas.openxmlformats.org/officeDocument/2006/relationships/image" Target="../media/image1.emf"/><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oleObject" Target="../embeddings/oleObject6.bin"/><Relationship Id="rId5" Type="http://schemas.openxmlformats.org/officeDocument/2006/relationships/slideMaster" Target="../slideMasters/slideMaster1.xml"/><Relationship Id="rId4" Type="http://schemas.openxmlformats.org/officeDocument/2006/relationships/tags" Target="../tags/tag59.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62.xml"/><Relationship Id="rId7" Type="http://schemas.openxmlformats.org/officeDocument/2006/relationships/oleObject" Target="../embeddings/oleObject6.bin"/><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image" Target="../media/image5.jpeg"/><Relationship Id="rId5" Type="http://schemas.openxmlformats.org/officeDocument/2006/relationships/slideMaster" Target="../slideMasters/slideMaster1.xml"/><Relationship Id="rId4" Type="http://schemas.openxmlformats.org/officeDocument/2006/relationships/tags" Target="../tags/tag63.xml"/><Relationship Id="rId9"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66.xml"/><Relationship Id="rId7" Type="http://schemas.openxmlformats.org/officeDocument/2006/relationships/oleObject" Target="../embeddings/oleObject6.bin"/><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image" Target="../media/image2.jpeg"/><Relationship Id="rId5" Type="http://schemas.openxmlformats.org/officeDocument/2006/relationships/slideMaster" Target="../slideMasters/slideMaster1.xml"/><Relationship Id="rId4" Type="http://schemas.openxmlformats.org/officeDocument/2006/relationships/tags" Target="../tags/tag67.xml"/><Relationship Id="rId9"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70.xml"/><Relationship Id="rId7" Type="http://schemas.openxmlformats.org/officeDocument/2006/relationships/image" Target="../media/image1.emf"/><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oleObject" Target="../embeddings/oleObject7.bin"/><Relationship Id="rId5" Type="http://schemas.openxmlformats.org/officeDocument/2006/relationships/slideMaster" Target="../slideMasters/slideMaster1.xml"/><Relationship Id="rId4" Type="http://schemas.openxmlformats.org/officeDocument/2006/relationships/tags" Target="../tags/tag71.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74.xml"/><Relationship Id="rId7" Type="http://schemas.openxmlformats.org/officeDocument/2006/relationships/oleObject" Target="../embeddings/oleObject7.bin"/><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image" Target="../media/image10.jpeg"/><Relationship Id="rId5" Type="http://schemas.openxmlformats.org/officeDocument/2006/relationships/slideMaster" Target="../slideMasters/slideMaster1.xml"/><Relationship Id="rId4" Type="http://schemas.openxmlformats.org/officeDocument/2006/relationships/tags" Target="../tags/tag75.xml"/><Relationship Id="rId9"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78.xml"/><Relationship Id="rId7" Type="http://schemas.openxmlformats.org/officeDocument/2006/relationships/oleObject" Target="../embeddings/oleObject7.bin"/><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image" Target="../media/image11.jpeg"/><Relationship Id="rId5" Type="http://schemas.openxmlformats.org/officeDocument/2006/relationships/slideMaster" Target="../slideMasters/slideMaster1.xml"/><Relationship Id="rId4" Type="http://schemas.openxmlformats.org/officeDocument/2006/relationships/tags" Target="../tags/tag79.xml"/><Relationship Id="rId9"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82.xml"/><Relationship Id="rId7" Type="http://schemas.openxmlformats.org/officeDocument/2006/relationships/image" Target="../media/image1.emf"/><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oleObject" Target="../embeddings/oleObject8.bin"/><Relationship Id="rId5" Type="http://schemas.openxmlformats.org/officeDocument/2006/relationships/slideMaster" Target="../slideMasters/slideMaster1.xml"/><Relationship Id="rId4" Type="http://schemas.openxmlformats.org/officeDocument/2006/relationships/tags" Target="../tags/tag83.xml"/></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86.xml"/><Relationship Id="rId7" Type="http://schemas.openxmlformats.org/officeDocument/2006/relationships/oleObject" Target="../embeddings/oleObject9.bin"/><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image" Target="../media/image12.jpeg"/><Relationship Id="rId5" Type="http://schemas.openxmlformats.org/officeDocument/2006/relationships/slideMaster" Target="../slideMasters/slideMaster1.xml"/><Relationship Id="rId4" Type="http://schemas.openxmlformats.org/officeDocument/2006/relationships/tags" Target="../tags/tag87.xml"/><Relationship Id="rId9" Type="http://schemas.openxmlformats.org/officeDocument/2006/relationships/image" Target="../media/image8.pn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90.xml"/><Relationship Id="rId7" Type="http://schemas.openxmlformats.org/officeDocument/2006/relationships/image" Target="../media/image1.emf"/><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oleObject" Target="../embeddings/oleObject10.bin"/><Relationship Id="rId5" Type="http://schemas.openxmlformats.org/officeDocument/2006/relationships/slideMaster" Target="../slideMasters/slideMaster1.xml"/><Relationship Id="rId4" Type="http://schemas.openxmlformats.org/officeDocument/2006/relationships/tags" Target="../tags/tag91.xml"/></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94.xml"/><Relationship Id="rId7" Type="http://schemas.openxmlformats.org/officeDocument/2006/relationships/image" Target="../media/image1.emf"/><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oleObject" Target="../embeddings/oleObject10.bin"/><Relationship Id="rId5" Type="http://schemas.openxmlformats.org/officeDocument/2006/relationships/slideMaster" Target="../slideMasters/slideMaster1.xml"/><Relationship Id="rId4" Type="http://schemas.openxmlformats.org/officeDocument/2006/relationships/tags" Target="../tags/tag95.xml"/></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98.xml"/><Relationship Id="rId7" Type="http://schemas.openxmlformats.org/officeDocument/2006/relationships/oleObject" Target="../embeddings/oleObject11.bin"/><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slideMaster" Target="../slideMasters/slideMaster1.xml"/><Relationship Id="rId5" Type="http://schemas.openxmlformats.org/officeDocument/2006/relationships/tags" Target="../tags/tag100.xml"/><Relationship Id="rId4" Type="http://schemas.openxmlformats.org/officeDocument/2006/relationships/tags" Target="../tags/tag99.xml"/><Relationship Id="rId9"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03.xml"/><Relationship Id="rId7" Type="http://schemas.openxmlformats.org/officeDocument/2006/relationships/tags" Target="../tags/tag107.xml"/><Relationship Id="rId12" Type="http://schemas.openxmlformats.org/officeDocument/2006/relationships/image" Target="../media/image8.png"/><Relationship Id="rId2" Type="http://schemas.openxmlformats.org/officeDocument/2006/relationships/tags" Target="../tags/tag102.xml"/><Relationship Id="rId1" Type="http://schemas.openxmlformats.org/officeDocument/2006/relationships/tags" Target="../tags/tag101.xml"/><Relationship Id="rId6" Type="http://schemas.openxmlformats.org/officeDocument/2006/relationships/tags" Target="../tags/tag106.xml"/><Relationship Id="rId11" Type="http://schemas.openxmlformats.org/officeDocument/2006/relationships/image" Target="../media/image13.jpeg"/><Relationship Id="rId5" Type="http://schemas.openxmlformats.org/officeDocument/2006/relationships/tags" Target="../tags/tag105.xml"/><Relationship Id="rId10" Type="http://schemas.openxmlformats.org/officeDocument/2006/relationships/image" Target="../media/image1.emf"/><Relationship Id="rId4" Type="http://schemas.openxmlformats.org/officeDocument/2006/relationships/tags" Target="../tags/tag104.xml"/><Relationship Id="rId9" Type="http://schemas.openxmlformats.org/officeDocument/2006/relationships/oleObject" Target="../embeddings/oleObject11.bin"/></Relationships>
</file>

<file path=ppt/slideLayouts/_rels/slideLayout22.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tags" Target="../tags/tag110.xml"/><Relationship Id="rId7" Type="http://schemas.openxmlformats.org/officeDocument/2006/relationships/image" Target="../media/image14.jpeg"/><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slideMaster" Target="../slideMasters/slideMaster1.xml"/><Relationship Id="rId5" Type="http://schemas.openxmlformats.org/officeDocument/2006/relationships/tags" Target="../tags/tag112.xml"/><Relationship Id="rId10" Type="http://schemas.openxmlformats.org/officeDocument/2006/relationships/image" Target="../media/image8.png"/><Relationship Id="rId4" Type="http://schemas.openxmlformats.org/officeDocument/2006/relationships/tags" Target="../tags/tag111.xml"/><Relationship Id="rId9"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tags" Target="../tags/tag115.xml"/><Relationship Id="rId7" Type="http://schemas.openxmlformats.org/officeDocument/2006/relationships/image" Target="../media/image15.jpeg"/><Relationship Id="rId2" Type="http://schemas.openxmlformats.org/officeDocument/2006/relationships/tags" Target="../tags/tag114.xml"/><Relationship Id="rId1" Type="http://schemas.openxmlformats.org/officeDocument/2006/relationships/tags" Target="../tags/tag113.xml"/><Relationship Id="rId6" Type="http://schemas.openxmlformats.org/officeDocument/2006/relationships/slideMaster" Target="../slideMasters/slideMaster1.xml"/><Relationship Id="rId5" Type="http://schemas.openxmlformats.org/officeDocument/2006/relationships/tags" Target="../tags/tag117.xml"/><Relationship Id="rId10" Type="http://schemas.openxmlformats.org/officeDocument/2006/relationships/image" Target="../media/image8.png"/><Relationship Id="rId4" Type="http://schemas.openxmlformats.org/officeDocument/2006/relationships/tags" Target="../tags/tag116.xml"/><Relationship Id="rId9"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120.xml"/><Relationship Id="rId7" Type="http://schemas.openxmlformats.org/officeDocument/2006/relationships/image" Target="../media/image1.emf"/><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oleObject" Target="../embeddings/oleObject12.bin"/><Relationship Id="rId5" Type="http://schemas.openxmlformats.org/officeDocument/2006/relationships/slideMaster" Target="../slideMasters/slideMaster1.xml"/><Relationship Id="rId4" Type="http://schemas.openxmlformats.org/officeDocument/2006/relationships/tags" Target="../tags/tag121.xml"/></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124.xml"/><Relationship Id="rId7" Type="http://schemas.openxmlformats.org/officeDocument/2006/relationships/image" Target="../media/image1.emf"/><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oleObject" Target="../embeddings/oleObject12.bin"/><Relationship Id="rId5" Type="http://schemas.openxmlformats.org/officeDocument/2006/relationships/slideMaster" Target="../slideMasters/slideMaster1.xml"/><Relationship Id="rId4" Type="http://schemas.openxmlformats.org/officeDocument/2006/relationships/tags" Target="../tags/tag125.xml"/></Relationships>
</file>

<file path=ppt/slideLayouts/_rels/slideLayout2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128.xml"/><Relationship Id="rId7" Type="http://schemas.openxmlformats.org/officeDocument/2006/relationships/image" Target="../media/image1.emf"/><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oleObject" Target="../embeddings/oleObject13.bin"/><Relationship Id="rId5" Type="http://schemas.openxmlformats.org/officeDocument/2006/relationships/slideMaster" Target="../slideMasters/slideMaster1.xml"/><Relationship Id="rId4" Type="http://schemas.openxmlformats.org/officeDocument/2006/relationships/tags" Target="../tags/tag129.xml"/></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32.xml"/><Relationship Id="rId7" Type="http://schemas.openxmlformats.org/officeDocument/2006/relationships/oleObject" Target="../embeddings/oleObject14.bin"/><Relationship Id="rId2" Type="http://schemas.openxmlformats.org/officeDocument/2006/relationships/tags" Target="../tags/tag131.xml"/><Relationship Id="rId1" Type="http://schemas.openxmlformats.org/officeDocument/2006/relationships/tags" Target="../tags/tag130.xml"/><Relationship Id="rId6" Type="http://schemas.openxmlformats.org/officeDocument/2006/relationships/slideMaster" Target="../slideMasters/slideMaster1.xml"/><Relationship Id="rId5" Type="http://schemas.openxmlformats.org/officeDocument/2006/relationships/tags" Target="../tags/tag134.xml"/><Relationship Id="rId10" Type="http://schemas.openxmlformats.org/officeDocument/2006/relationships/image" Target="../media/image8.png"/><Relationship Id="rId4" Type="http://schemas.openxmlformats.org/officeDocument/2006/relationships/tags" Target="../tags/tag133.xml"/><Relationship Id="rId9" Type="http://schemas.openxmlformats.org/officeDocument/2006/relationships/image" Target="../media/image16.jpeg"/></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137.xml"/><Relationship Id="rId7" Type="http://schemas.openxmlformats.org/officeDocument/2006/relationships/image" Target="../media/image1.emf"/><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oleObject" Target="../embeddings/oleObject15.bin"/><Relationship Id="rId5" Type="http://schemas.openxmlformats.org/officeDocument/2006/relationships/slideMaster" Target="../slideMasters/slideMaster1.xml"/><Relationship Id="rId4" Type="http://schemas.openxmlformats.org/officeDocument/2006/relationships/tags" Target="../tags/tag138.xml"/></Relationships>
</file>

<file path=ppt/slideLayouts/_rels/slideLayout29.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41.xml"/><Relationship Id="rId7" Type="http://schemas.openxmlformats.org/officeDocument/2006/relationships/tags" Target="../tags/tag145.xml"/><Relationship Id="rId12" Type="http://schemas.openxmlformats.org/officeDocument/2006/relationships/image" Target="../media/image8.png"/><Relationship Id="rId2" Type="http://schemas.openxmlformats.org/officeDocument/2006/relationships/tags" Target="../tags/tag140.xml"/><Relationship Id="rId1" Type="http://schemas.openxmlformats.org/officeDocument/2006/relationships/tags" Target="../tags/tag139.xml"/><Relationship Id="rId6" Type="http://schemas.openxmlformats.org/officeDocument/2006/relationships/tags" Target="../tags/tag144.xml"/><Relationship Id="rId11" Type="http://schemas.openxmlformats.org/officeDocument/2006/relationships/image" Target="../media/image17.jpeg"/><Relationship Id="rId5" Type="http://schemas.openxmlformats.org/officeDocument/2006/relationships/tags" Target="../tags/tag143.xml"/><Relationship Id="rId10" Type="http://schemas.openxmlformats.org/officeDocument/2006/relationships/image" Target="../media/image1.emf"/><Relationship Id="rId4" Type="http://schemas.openxmlformats.org/officeDocument/2006/relationships/tags" Target="../tags/tag142.xml"/><Relationship Id="rId9" Type="http://schemas.openxmlformats.org/officeDocument/2006/relationships/oleObject" Target="../embeddings/oleObject16.bin"/></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148.xml"/><Relationship Id="rId7" Type="http://schemas.openxmlformats.org/officeDocument/2006/relationships/image" Target="../media/image1.emf"/><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oleObject" Target="../embeddings/oleObject17.bin"/><Relationship Id="rId5" Type="http://schemas.openxmlformats.org/officeDocument/2006/relationships/slideMaster" Target="../slideMasters/slideMaster1.xml"/><Relationship Id="rId4" Type="http://schemas.openxmlformats.org/officeDocument/2006/relationships/tags" Target="../tags/tag149.xml"/></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152.xml"/><Relationship Id="rId7" Type="http://schemas.openxmlformats.org/officeDocument/2006/relationships/image" Target="../media/image1.emf"/><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oleObject" Target="../embeddings/oleObject18.bin"/><Relationship Id="rId5" Type="http://schemas.openxmlformats.org/officeDocument/2006/relationships/slideMaster" Target="../slideMasters/slideMaster1.xml"/><Relationship Id="rId4" Type="http://schemas.openxmlformats.org/officeDocument/2006/relationships/tags" Target="../tags/tag153.xml"/></Relationships>
</file>

<file path=ppt/slideLayouts/_rels/slideLayout3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156.xml"/><Relationship Id="rId7" Type="http://schemas.openxmlformats.org/officeDocument/2006/relationships/image" Target="../media/image1.emf"/><Relationship Id="rId2" Type="http://schemas.openxmlformats.org/officeDocument/2006/relationships/tags" Target="../tags/tag155.xml"/><Relationship Id="rId1" Type="http://schemas.openxmlformats.org/officeDocument/2006/relationships/tags" Target="../tags/tag154.xml"/><Relationship Id="rId6" Type="http://schemas.openxmlformats.org/officeDocument/2006/relationships/oleObject" Target="../embeddings/oleObject19.bin"/><Relationship Id="rId5" Type="http://schemas.openxmlformats.org/officeDocument/2006/relationships/slideMaster" Target="../slideMasters/slideMaster1.xml"/><Relationship Id="rId4" Type="http://schemas.openxmlformats.org/officeDocument/2006/relationships/tags" Target="../tags/tag157.xml"/></Relationships>
</file>

<file path=ppt/slideLayouts/_rels/slideLayout3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160.xml"/><Relationship Id="rId7" Type="http://schemas.openxmlformats.org/officeDocument/2006/relationships/image" Target="../media/image1.emf"/><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oleObject" Target="../embeddings/oleObject19.bin"/><Relationship Id="rId5" Type="http://schemas.openxmlformats.org/officeDocument/2006/relationships/slideMaster" Target="../slideMasters/slideMaster1.xml"/><Relationship Id="rId4" Type="http://schemas.openxmlformats.org/officeDocument/2006/relationships/tags" Target="../tags/tag161.xml"/></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64.xml"/><Relationship Id="rId7" Type="http://schemas.openxmlformats.org/officeDocument/2006/relationships/oleObject" Target="../embeddings/oleObject19.bin"/><Relationship Id="rId2" Type="http://schemas.openxmlformats.org/officeDocument/2006/relationships/tags" Target="../tags/tag163.xml"/><Relationship Id="rId1" Type="http://schemas.openxmlformats.org/officeDocument/2006/relationships/tags" Target="../tags/tag162.xml"/><Relationship Id="rId6" Type="http://schemas.openxmlformats.org/officeDocument/2006/relationships/image" Target="../media/image18.jpeg"/><Relationship Id="rId5" Type="http://schemas.openxmlformats.org/officeDocument/2006/relationships/slideMaster" Target="../slideMasters/slideMaster1.xml"/><Relationship Id="rId4" Type="http://schemas.openxmlformats.org/officeDocument/2006/relationships/tags" Target="../tags/tag165.xml"/><Relationship Id="rId9" Type="http://schemas.openxmlformats.org/officeDocument/2006/relationships/image" Target="../media/image9.png"/></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168.xml"/><Relationship Id="rId7" Type="http://schemas.openxmlformats.org/officeDocument/2006/relationships/image" Target="../media/image1.emf"/><Relationship Id="rId2" Type="http://schemas.openxmlformats.org/officeDocument/2006/relationships/tags" Target="../tags/tag167.xml"/><Relationship Id="rId1" Type="http://schemas.openxmlformats.org/officeDocument/2006/relationships/tags" Target="../tags/tag166.xml"/><Relationship Id="rId6" Type="http://schemas.openxmlformats.org/officeDocument/2006/relationships/oleObject" Target="../embeddings/oleObject20.bin"/><Relationship Id="rId5" Type="http://schemas.openxmlformats.org/officeDocument/2006/relationships/slideMaster" Target="../slideMasters/slideMaster1.xml"/><Relationship Id="rId4" Type="http://schemas.openxmlformats.org/officeDocument/2006/relationships/tags" Target="../tags/tag169.xml"/></Relationships>
</file>

<file path=ppt/slideLayouts/_rels/slideLayout3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172.xml"/><Relationship Id="rId7" Type="http://schemas.openxmlformats.org/officeDocument/2006/relationships/image" Target="../media/image1.emf"/><Relationship Id="rId2" Type="http://schemas.openxmlformats.org/officeDocument/2006/relationships/tags" Target="../tags/tag171.xml"/><Relationship Id="rId1" Type="http://schemas.openxmlformats.org/officeDocument/2006/relationships/tags" Target="../tags/tag170.xml"/><Relationship Id="rId6" Type="http://schemas.openxmlformats.org/officeDocument/2006/relationships/oleObject" Target="../embeddings/oleObject21.bin"/><Relationship Id="rId5" Type="http://schemas.openxmlformats.org/officeDocument/2006/relationships/slideMaster" Target="../slideMasters/slideMaster1.xml"/><Relationship Id="rId4" Type="http://schemas.openxmlformats.org/officeDocument/2006/relationships/tags" Target="../tags/tag173.xml"/></Relationships>
</file>

<file path=ppt/slideLayouts/_rels/slideLayout3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176.xml"/><Relationship Id="rId7" Type="http://schemas.openxmlformats.org/officeDocument/2006/relationships/image" Target="../media/image1.emf"/><Relationship Id="rId2" Type="http://schemas.openxmlformats.org/officeDocument/2006/relationships/tags" Target="../tags/tag175.xml"/><Relationship Id="rId1" Type="http://schemas.openxmlformats.org/officeDocument/2006/relationships/tags" Target="../tags/tag174.xml"/><Relationship Id="rId6" Type="http://schemas.openxmlformats.org/officeDocument/2006/relationships/oleObject" Target="../embeddings/oleObject21.bin"/><Relationship Id="rId5" Type="http://schemas.openxmlformats.org/officeDocument/2006/relationships/slideMaster" Target="../slideMasters/slideMaster1.xml"/><Relationship Id="rId4" Type="http://schemas.openxmlformats.org/officeDocument/2006/relationships/tags" Target="../tags/tag177.xml"/></Relationships>
</file>

<file path=ppt/slideLayouts/_rels/slideLayout38.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80.xml"/><Relationship Id="rId7" Type="http://schemas.openxmlformats.org/officeDocument/2006/relationships/oleObject" Target="../embeddings/oleObject21.bin"/><Relationship Id="rId2" Type="http://schemas.openxmlformats.org/officeDocument/2006/relationships/tags" Target="../tags/tag179.xml"/><Relationship Id="rId1" Type="http://schemas.openxmlformats.org/officeDocument/2006/relationships/tags" Target="../tags/tag178.xml"/><Relationship Id="rId6" Type="http://schemas.openxmlformats.org/officeDocument/2006/relationships/image" Target="../media/image19.jpeg"/><Relationship Id="rId5" Type="http://schemas.openxmlformats.org/officeDocument/2006/relationships/slideMaster" Target="../slideMasters/slideMaster1.xml"/><Relationship Id="rId4" Type="http://schemas.openxmlformats.org/officeDocument/2006/relationships/tags" Target="../tags/tag181.xml"/><Relationship Id="rId9" Type="http://schemas.openxmlformats.org/officeDocument/2006/relationships/image" Target="../media/image9.png"/></Relationships>
</file>

<file path=ppt/slideLayouts/_rels/slideLayout39.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84.xml"/><Relationship Id="rId7" Type="http://schemas.openxmlformats.org/officeDocument/2006/relationships/oleObject" Target="../embeddings/oleObject22.bin"/><Relationship Id="rId2" Type="http://schemas.openxmlformats.org/officeDocument/2006/relationships/tags" Target="../tags/tag183.xml"/><Relationship Id="rId1" Type="http://schemas.openxmlformats.org/officeDocument/2006/relationships/tags" Target="../tags/tag182.xml"/><Relationship Id="rId6" Type="http://schemas.openxmlformats.org/officeDocument/2006/relationships/slideMaster" Target="../slideMasters/slideMaster1.xml"/><Relationship Id="rId5" Type="http://schemas.openxmlformats.org/officeDocument/2006/relationships/tags" Target="../tags/tag186.xml"/><Relationship Id="rId10" Type="http://schemas.openxmlformats.org/officeDocument/2006/relationships/image" Target="../media/image9.png"/><Relationship Id="rId4" Type="http://schemas.openxmlformats.org/officeDocument/2006/relationships/tags" Target="../tags/tag185.xml"/><Relationship Id="rId9" Type="http://schemas.openxmlformats.org/officeDocument/2006/relationships/image" Target="../media/image20.jpeg"/></Relationships>
</file>

<file path=ppt/slideLayouts/_rels/slideLayout4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189.xml"/><Relationship Id="rId7" Type="http://schemas.openxmlformats.org/officeDocument/2006/relationships/image" Target="../media/image1.emf"/><Relationship Id="rId2" Type="http://schemas.openxmlformats.org/officeDocument/2006/relationships/tags" Target="../tags/tag188.xml"/><Relationship Id="rId1" Type="http://schemas.openxmlformats.org/officeDocument/2006/relationships/tags" Target="../tags/tag187.xml"/><Relationship Id="rId6" Type="http://schemas.openxmlformats.org/officeDocument/2006/relationships/oleObject" Target="../embeddings/oleObject23.bin"/><Relationship Id="rId5" Type="http://schemas.openxmlformats.org/officeDocument/2006/relationships/slideMaster" Target="../slideMasters/slideMaster1.xml"/><Relationship Id="rId4" Type="http://schemas.openxmlformats.org/officeDocument/2006/relationships/tags" Target="../tags/tag190.xml"/></Relationships>
</file>

<file path=ppt/slideLayouts/_rels/slideLayout4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193.xml"/><Relationship Id="rId7" Type="http://schemas.openxmlformats.org/officeDocument/2006/relationships/image" Target="../media/image1.emf"/><Relationship Id="rId2" Type="http://schemas.openxmlformats.org/officeDocument/2006/relationships/tags" Target="../tags/tag192.xml"/><Relationship Id="rId1" Type="http://schemas.openxmlformats.org/officeDocument/2006/relationships/tags" Target="../tags/tag191.xml"/><Relationship Id="rId6" Type="http://schemas.openxmlformats.org/officeDocument/2006/relationships/oleObject" Target="../embeddings/oleObject23.bin"/><Relationship Id="rId5" Type="http://schemas.openxmlformats.org/officeDocument/2006/relationships/slideMaster" Target="../slideMasters/slideMaster1.xml"/><Relationship Id="rId4" Type="http://schemas.openxmlformats.org/officeDocument/2006/relationships/tags" Target="../tags/tag194.xml"/></Relationships>
</file>

<file path=ppt/slideLayouts/_rels/slideLayout4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97.xml"/><Relationship Id="rId7" Type="http://schemas.openxmlformats.org/officeDocument/2006/relationships/oleObject" Target="../embeddings/oleObject24.bin"/><Relationship Id="rId2" Type="http://schemas.openxmlformats.org/officeDocument/2006/relationships/tags" Target="../tags/tag196.xml"/><Relationship Id="rId1" Type="http://schemas.openxmlformats.org/officeDocument/2006/relationships/tags" Target="../tags/tag195.xml"/><Relationship Id="rId6" Type="http://schemas.openxmlformats.org/officeDocument/2006/relationships/image" Target="../media/image21.jpeg"/><Relationship Id="rId5" Type="http://schemas.openxmlformats.org/officeDocument/2006/relationships/slideMaster" Target="../slideMasters/slideMaster1.xml"/><Relationship Id="rId4" Type="http://schemas.openxmlformats.org/officeDocument/2006/relationships/tags" Target="../tags/tag198.xml"/><Relationship Id="rId9" Type="http://schemas.openxmlformats.org/officeDocument/2006/relationships/image" Target="../media/image8.png"/></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201.xml"/><Relationship Id="rId7" Type="http://schemas.openxmlformats.org/officeDocument/2006/relationships/oleObject" Target="../embeddings/oleObject24.bin"/><Relationship Id="rId2" Type="http://schemas.openxmlformats.org/officeDocument/2006/relationships/tags" Target="../tags/tag200.xml"/><Relationship Id="rId1" Type="http://schemas.openxmlformats.org/officeDocument/2006/relationships/tags" Target="../tags/tag199.xml"/><Relationship Id="rId6" Type="http://schemas.openxmlformats.org/officeDocument/2006/relationships/image" Target="../media/image2.jpeg"/><Relationship Id="rId5" Type="http://schemas.openxmlformats.org/officeDocument/2006/relationships/slideMaster" Target="../slideMasters/slideMaster1.xml"/><Relationship Id="rId4" Type="http://schemas.openxmlformats.org/officeDocument/2006/relationships/tags" Target="../tags/tag202.xml"/><Relationship Id="rId9" Type="http://schemas.openxmlformats.org/officeDocument/2006/relationships/image" Target="../media/image8.png"/></Relationships>
</file>

<file path=ppt/slideLayouts/_rels/slideLayout4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205.xml"/><Relationship Id="rId7" Type="http://schemas.openxmlformats.org/officeDocument/2006/relationships/image" Target="../media/image1.emf"/><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oleObject" Target="../embeddings/oleObject25.bin"/><Relationship Id="rId5" Type="http://schemas.openxmlformats.org/officeDocument/2006/relationships/slideMaster" Target="../slideMasters/slideMaster1.xml"/><Relationship Id="rId4" Type="http://schemas.openxmlformats.org/officeDocument/2006/relationships/tags" Target="../tags/tag206.xml"/></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209.xml"/><Relationship Id="rId7" Type="http://schemas.openxmlformats.org/officeDocument/2006/relationships/image" Target="../media/image1.emf"/><Relationship Id="rId2" Type="http://schemas.openxmlformats.org/officeDocument/2006/relationships/tags" Target="../tags/tag208.xml"/><Relationship Id="rId1" Type="http://schemas.openxmlformats.org/officeDocument/2006/relationships/tags" Target="../tags/tag207.xml"/><Relationship Id="rId6" Type="http://schemas.openxmlformats.org/officeDocument/2006/relationships/oleObject" Target="../embeddings/oleObject25.bin"/><Relationship Id="rId5" Type="http://schemas.openxmlformats.org/officeDocument/2006/relationships/slideMaster" Target="../slideMasters/slideMaster1.xml"/><Relationship Id="rId4" Type="http://schemas.openxmlformats.org/officeDocument/2006/relationships/tags" Target="../tags/tag210.xml"/></Relationships>
</file>

<file path=ppt/slideLayouts/_rels/slideLayout46.xml.rels><?xml version="1.0" encoding="UTF-8" standalone="yes"?>
<Relationships xmlns="http://schemas.openxmlformats.org/package/2006/relationships"><Relationship Id="rId3" Type="http://schemas.openxmlformats.org/officeDocument/2006/relationships/tags" Target="../tags/tag213.xml"/><Relationship Id="rId7" Type="http://schemas.openxmlformats.org/officeDocument/2006/relationships/image" Target="../media/image8.png"/><Relationship Id="rId2" Type="http://schemas.openxmlformats.org/officeDocument/2006/relationships/tags" Target="../tags/tag212.xml"/><Relationship Id="rId1" Type="http://schemas.openxmlformats.org/officeDocument/2006/relationships/tags" Target="../tags/tag211.xml"/><Relationship Id="rId6" Type="http://schemas.openxmlformats.org/officeDocument/2006/relationships/image" Target="../media/image1.emf"/><Relationship Id="rId5" Type="http://schemas.openxmlformats.org/officeDocument/2006/relationships/oleObject" Target="../embeddings/oleObject25.bin"/><Relationship Id="rId4"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tags" Target="../tags/tag216.xml"/><Relationship Id="rId7" Type="http://schemas.openxmlformats.org/officeDocument/2006/relationships/image" Target="../media/image8.png"/><Relationship Id="rId2" Type="http://schemas.openxmlformats.org/officeDocument/2006/relationships/tags" Target="../tags/tag215.xml"/><Relationship Id="rId1" Type="http://schemas.openxmlformats.org/officeDocument/2006/relationships/tags" Target="../tags/tag214.xml"/><Relationship Id="rId6" Type="http://schemas.openxmlformats.org/officeDocument/2006/relationships/image" Target="../media/image1.emf"/><Relationship Id="rId5" Type="http://schemas.openxmlformats.org/officeDocument/2006/relationships/oleObject" Target="../embeddings/oleObject25.bin"/><Relationship Id="rId4"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219.xml"/><Relationship Id="rId7" Type="http://schemas.openxmlformats.org/officeDocument/2006/relationships/image" Target="../media/image1.emf"/><Relationship Id="rId2" Type="http://schemas.openxmlformats.org/officeDocument/2006/relationships/tags" Target="../tags/tag218.xml"/><Relationship Id="rId1" Type="http://schemas.openxmlformats.org/officeDocument/2006/relationships/tags" Target="../tags/tag217.xml"/><Relationship Id="rId6" Type="http://schemas.openxmlformats.org/officeDocument/2006/relationships/oleObject" Target="../embeddings/oleObject25.bin"/><Relationship Id="rId5" Type="http://schemas.openxmlformats.org/officeDocument/2006/relationships/image" Target="../media/image2.jpeg"/><Relationship Id="rId4"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222.xml"/><Relationship Id="rId7" Type="http://schemas.openxmlformats.org/officeDocument/2006/relationships/image" Target="../media/image1.emf"/><Relationship Id="rId2" Type="http://schemas.openxmlformats.org/officeDocument/2006/relationships/tags" Target="../tags/tag221.xml"/><Relationship Id="rId1" Type="http://schemas.openxmlformats.org/officeDocument/2006/relationships/tags" Target="../tags/tag220.xml"/><Relationship Id="rId6" Type="http://schemas.openxmlformats.org/officeDocument/2006/relationships/oleObject" Target="../embeddings/oleObject25.bin"/><Relationship Id="rId5" Type="http://schemas.openxmlformats.org/officeDocument/2006/relationships/image" Target="../media/image2.jpe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2_Title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9FB34CE-F739-0242-1761-63694A80DCB7}"/>
              </a:ext>
            </a:extLst>
          </p:cNvPr>
          <p:cNvPicPr>
            <a:picLocks noChangeAspect="1"/>
          </p:cNvPicPr>
          <p:nvPr userDrawn="1"/>
        </p:nvPicPr>
        <p:blipFill rotWithShape="1">
          <a:blip r:embed="rId8">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graphicFrame>
        <p:nvGraphicFramePr>
          <p:cNvPr id="3" name="think-cell data - do not delete" hidden="1">
            <a:extLst>
              <a:ext uri="{FF2B5EF4-FFF2-40B4-BE49-F238E27FC236}">
                <a16:creationId xmlns:a16="http://schemas.microsoft.com/office/drawing/2014/main" id="{43E646D6-F65D-5006-7C7C-48E61E4A14B6}"/>
              </a:ext>
            </a:extLst>
          </p:cNvPr>
          <p:cNvGraphicFramePr>
            <a:graphicFrameLocks noChangeAspect="1"/>
          </p:cNvGraphicFramePr>
          <p:nvPr userDrawn="1">
            <p:custDataLst>
              <p:tags r:id="rId1"/>
            </p:custDataLst>
            <p:extLst>
              <p:ext uri="{D42A27DB-BD31-4B8C-83A1-F6EECF244321}">
                <p14:modId xmlns:p14="http://schemas.microsoft.com/office/powerpoint/2010/main" val="1830611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606" imgH="608" progId="TCLayout.ActiveDocument.1">
                  <p:embed/>
                </p:oleObj>
              </mc:Choice>
              <mc:Fallback>
                <p:oleObj name="thinkcell Slide" r:id="rId9" imgW="606" imgH="608" progId="TCLayout.ActiveDocument.1">
                  <p:embed/>
                  <p:pic>
                    <p:nvPicPr>
                      <p:cNvPr id="3" name="think-cell data - do not delete" hidden="1">
                        <a:extLst>
                          <a:ext uri="{FF2B5EF4-FFF2-40B4-BE49-F238E27FC236}">
                            <a16:creationId xmlns:a16="http://schemas.microsoft.com/office/drawing/2014/main" id="{43E646D6-F65D-5006-7C7C-48E61E4A14B6}"/>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580DB651-4757-7DFC-829C-3D554E2BA252}"/>
              </a:ext>
            </a:extLst>
          </p:cNvPr>
          <p:cNvSpPr/>
          <p:nvPr userDrawn="1"/>
        </p:nvSpPr>
        <p:spPr>
          <a:xfrm>
            <a:off x="0" y="0"/>
            <a:ext cx="12192000" cy="6858000"/>
          </a:xfrm>
          <a:prstGeom prst="rect">
            <a:avLst/>
          </a:prstGeom>
          <a:solidFill>
            <a:srgbClr val="FFFFFF">
              <a:alpha val="69804"/>
            </a:srgbClr>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17" name="ClientLogo">
            <a:extLst>
              <a:ext uri="{FF2B5EF4-FFF2-40B4-BE49-F238E27FC236}">
                <a16:creationId xmlns:a16="http://schemas.microsoft.com/office/drawing/2014/main" id="{595C0A44-CFA5-4158-7990-BA5DA2178502}"/>
              </a:ext>
            </a:extLst>
          </p:cNvPr>
          <p:cNvSpPr>
            <a:spLocks noGrp="1"/>
          </p:cNvSpPr>
          <p:nvPr>
            <p:ph type="pic" sz="quarter" idx="14" hasCustomPrompt="1"/>
            <p:custDataLst>
              <p:tags r:id="rId2"/>
            </p:custDataLst>
          </p:nvPr>
        </p:nvSpPr>
        <p:spPr>
          <a:xfrm>
            <a:off x="551942" y="4984025"/>
            <a:ext cx="2833432" cy="969264"/>
          </a:xfrm>
          <a:prstGeom prst="rect">
            <a:avLst/>
          </a:prstGeom>
        </p:spPr>
        <p:txBody>
          <a:bodyPr>
            <a:noAutofit/>
          </a:bodyPr>
          <a:lstStyle>
            <a:lvl1pPr algn="ctr">
              <a:defRPr sz="1200">
                <a:solidFill>
                  <a:schemeClr val="bg1"/>
                </a:solidFill>
              </a:defRPr>
            </a:lvl1pPr>
          </a:lstStyle>
          <a:p>
            <a:r>
              <a:rPr lang="en-US"/>
              <a:t>Client logo goes here.</a:t>
            </a:r>
          </a:p>
        </p:txBody>
      </p:sp>
      <p:sp>
        <p:nvSpPr>
          <p:cNvPr id="18" name="Documenttype">
            <a:extLst>
              <a:ext uri="{FF2B5EF4-FFF2-40B4-BE49-F238E27FC236}">
                <a16:creationId xmlns:a16="http://schemas.microsoft.com/office/drawing/2014/main" id="{F92320DC-6702-C465-A52E-7A0713ED1847}"/>
              </a:ext>
            </a:extLst>
          </p:cNvPr>
          <p:cNvSpPr>
            <a:spLocks noGrp="1"/>
          </p:cNvSpPr>
          <p:nvPr>
            <p:ph type="body" sz="quarter" idx="13" hasCustomPrompt="1"/>
            <p:custDataLst>
              <p:tags r:id="rId3"/>
            </p:custDataLst>
          </p:nvPr>
        </p:nvSpPr>
        <p:spPr>
          <a:xfrm>
            <a:off x="554736" y="4510168"/>
            <a:ext cx="6016752" cy="215444"/>
          </a:xfrm>
          <a:prstGeom prst="rect">
            <a:avLst/>
          </a:prstGeom>
        </p:spPr>
        <p:txBody>
          <a:bodyPr wrap="square">
            <a:noAutofit/>
          </a:bodyPr>
          <a:lstStyle>
            <a:lvl1pPr>
              <a:buNone/>
              <a:defRPr sz="1400">
                <a:solidFill>
                  <a:schemeClr val="tx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a:t>Edit date or title/role</a:t>
            </a:r>
          </a:p>
        </p:txBody>
      </p:sp>
      <p:sp>
        <p:nvSpPr>
          <p:cNvPr id="19" name="Subtitle">
            <a:extLst>
              <a:ext uri="{FF2B5EF4-FFF2-40B4-BE49-F238E27FC236}">
                <a16:creationId xmlns:a16="http://schemas.microsoft.com/office/drawing/2014/main" id="{0290045A-AEE3-0769-CF9F-1042D4B9C8FD}"/>
              </a:ext>
            </a:extLst>
          </p:cNvPr>
          <p:cNvSpPr>
            <a:spLocks noGrp="1"/>
          </p:cNvSpPr>
          <p:nvPr>
            <p:ph type="subTitle" idx="1"/>
            <p:custDataLst>
              <p:tags r:id="rId4"/>
            </p:custDataLst>
          </p:nvPr>
        </p:nvSpPr>
        <p:spPr>
          <a:xfrm>
            <a:off x="551942" y="4092559"/>
            <a:ext cx="6016752" cy="307777"/>
          </a:xfrm>
          <a:prstGeom prst="rect">
            <a:avLst/>
          </a:prstGeom>
        </p:spPr>
        <p:txBody>
          <a:bodyPr wrap="square">
            <a:no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sp>
        <p:nvSpPr>
          <p:cNvPr id="20" name="Title">
            <a:extLst>
              <a:ext uri="{FF2B5EF4-FFF2-40B4-BE49-F238E27FC236}">
                <a16:creationId xmlns:a16="http://schemas.microsoft.com/office/drawing/2014/main" id="{C69FB337-778B-9C0B-EB4A-35FECC7CD71E}"/>
              </a:ext>
            </a:extLst>
          </p:cNvPr>
          <p:cNvSpPr>
            <a:spLocks noGrp="1"/>
          </p:cNvSpPr>
          <p:nvPr>
            <p:ph type="title"/>
            <p:custDataLst>
              <p:tags r:id="rId5"/>
            </p:custDataLst>
          </p:nvPr>
        </p:nvSpPr>
        <p:spPr>
          <a:xfrm>
            <a:off x="551942" y="2049805"/>
            <a:ext cx="6016752" cy="1921708"/>
          </a:xfrm>
          <a:prstGeom prst="rect">
            <a:avLst/>
          </a:prstGeom>
        </p:spPr>
        <p:txBody>
          <a:bodyPr vert="horz" anchor="b">
            <a:normAutofit/>
          </a:bodyPr>
          <a:lstStyle>
            <a:lvl1pPr>
              <a:defRPr sz="4800" baseline="0">
                <a:ln w="6350" cap="flat">
                  <a:noFill/>
                  <a:miter lim="800000"/>
                </a:ln>
                <a:solidFill>
                  <a:schemeClr val="tx1"/>
                </a:solidFill>
              </a:defRPr>
            </a:lvl1pPr>
          </a:lstStyle>
          <a:p>
            <a:endParaRPr lang="en-US"/>
          </a:p>
        </p:txBody>
      </p:sp>
      <p:sp>
        <p:nvSpPr>
          <p:cNvPr id="2" name="Disclaimer-English (United States)">
            <a:extLst>
              <a:ext uri="{FF2B5EF4-FFF2-40B4-BE49-F238E27FC236}">
                <a16:creationId xmlns:a16="http://schemas.microsoft.com/office/drawing/2014/main" id="{BE1AD253-BB6A-C7E8-76B5-27E95989CD9C}"/>
              </a:ext>
            </a:extLst>
          </p:cNvPr>
          <p:cNvSpPr>
            <a:spLocks noChangeArrowheads="1"/>
          </p:cNvSpPr>
          <p:nvPr userDrawn="1">
            <p:custDataLst>
              <p:tags r:id="rId6"/>
            </p:custDataLst>
          </p:nvPr>
        </p:nvSpPr>
        <p:spPr bwMode="black">
          <a:xfrm>
            <a:off x="551942" y="6190488"/>
            <a:ext cx="5207508" cy="356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noAutofit/>
          </a:bodyPr>
          <a:lstStyle/>
          <a:p>
            <a:pPr defTabSz="804863" eaLnBrk="0" hangingPunct="0"/>
            <a:r>
              <a:rPr lang="en-US" sz="800">
                <a:solidFill>
                  <a:schemeClr val="tx1"/>
                </a:solidFill>
                <a:latin typeface="+mn-lt"/>
              </a:rPr>
              <a:t>CONFIDENTIAL</a:t>
            </a:r>
          </a:p>
          <a:p>
            <a:pPr defTabSz="804863" eaLnBrk="0" hangingPunct="0"/>
            <a:r>
              <a:rPr lang="en-US" sz="800">
                <a:solidFill>
                  <a:schemeClr val="tx1"/>
                </a:solidFill>
                <a:latin typeface="+mn-lt"/>
              </a:rPr>
              <a:t>Any use or reproduction of this material without the express written consent of </a:t>
            </a:r>
            <a:r>
              <a:rPr lang="en-US" sz="800" err="1">
                <a:solidFill>
                  <a:schemeClr val="tx1"/>
                </a:solidFill>
                <a:latin typeface="+mn-lt"/>
              </a:rPr>
              <a:t>Telesto</a:t>
            </a:r>
            <a:r>
              <a:rPr lang="en-US" sz="800">
                <a:solidFill>
                  <a:schemeClr val="tx1"/>
                </a:solidFill>
                <a:latin typeface="+mn-lt"/>
              </a:rPr>
              <a:t> Strategy LLC is prohibited </a:t>
            </a:r>
          </a:p>
        </p:txBody>
      </p:sp>
      <p:pic>
        <p:nvPicPr>
          <p:cNvPr id="6" name="Picture 5">
            <a:extLst>
              <a:ext uri="{FF2B5EF4-FFF2-40B4-BE49-F238E27FC236}">
                <a16:creationId xmlns:a16="http://schemas.microsoft.com/office/drawing/2014/main" id="{6EA3D6D9-A703-3B85-36C7-82418F866310}"/>
              </a:ext>
            </a:extLst>
          </p:cNvPr>
          <p:cNvPicPr>
            <a:picLocks noChangeAspect="1"/>
          </p:cNvPicPr>
          <p:nvPr userDrawn="1"/>
        </p:nvPicPr>
        <p:blipFill>
          <a:blip r:embed="rId11">
            <a:extLst>
              <a:ext uri="{28A0092B-C50C-407E-A947-70E740481C1C}">
                <a14:useLocalDpi xmlns:a14="http://schemas.microsoft.com/office/drawing/2010/main"/>
              </a:ext>
            </a:extLst>
          </a:blip>
          <a:stretch>
            <a:fillRect/>
          </a:stretch>
        </p:blipFill>
        <p:spPr>
          <a:xfrm>
            <a:off x="9030281" y="179064"/>
            <a:ext cx="2926080" cy="1170432"/>
          </a:xfrm>
          <a:prstGeom prst="rect">
            <a:avLst/>
          </a:prstGeom>
        </p:spPr>
      </p:pic>
    </p:spTree>
    <p:extLst>
      <p:ext uri="{BB962C8B-B14F-4D97-AF65-F5344CB8AC3E}">
        <p14:creationId xmlns:p14="http://schemas.microsoft.com/office/powerpoint/2010/main" val="92062864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6_Title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9FB34CE-F739-0242-1761-63694A80DCB7}"/>
              </a:ext>
            </a:extLst>
          </p:cNvPr>
          <p:cNvPicPr>
            <a:picLocks noChangeAspect="1"/>
          </p:cNvPicPr>
          <p:nvPr userDrawn="1"/>
        </p:nvPicPr>
        <p:blipFill rotWithShape="1">
          <a:blip r:embed="rId8">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graphicFrame>
        <p:nvGraphicFramePr>
          <p:cNvPr id="3" name="think-cell data - do not delete" hidden="1">
            <a:extLst>
              <a:ext uri="{FF2B5EF4-FFF2-40B4-BE49-F238E27FC236}">
                <a16:creationId xmlns:a16="http://schemas.microsoft.com/office/drawing/2014/main" id="{43E646D6-F65D-5006-7C7C-48E61E4A14B6}"/>
              </a:ext>
            </a:extLst>
          </p:cNvPr>
          <p:cNvGraphicFramePr>
            <a:graphicFrameLocks noChangeAspect="1"/>
          </p:cNvGraphicFramePr>
          <p:nvPr userDrawn="1">
            <p:custDataLst>
              <p:tags r:id="rId1"/>
            </p:custDataLst>
            <p:extLst>
              <p:ext uri="{D42A27DB-BD31-4B8C-83A1-F6EECF244321}">
                <p14:modId xmlns:p14="http://schemas.microsoft.com/office/powerpoint/2010/main" val="1830611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606" imgH="608" progId="TCLayout.ActiveDocument.1">
                  <p:embed/>
                </p:oleObj>
              </mc:Choice>
              <mc:Fallback>
                <p:oleObj name="thinkcell Slide" r:id="rId9" imgW="606" imgH="608" progId="TCLayout.ActiveDocument.1">
                  <p:embed/>
                  <p:pic>
                    <p:nvPicPr>
                      <p:cNvPr id="3" name="think-cell data - do not delete" hidden="1">
                        <a:extLst>
                          <a:ext uri="{FF2B5EF4-FFF2-40B4-BE49-F238E27FC236}">
                            <a16:creationId xmlns:a16="http://schemas.microsoft.com/office/drawing/2014/main" id="{43E646D6-F65D-5006-7C7C-48E61E4A14B6}"/>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580DB651-4757-7DFC-829C-3D554E2BA252}"/>
              </a:ext>
            </a:extLst>
          </p:cNvPr>
          <p:cNvSpPr/>
          <p:nvPr userDrawn="1"/>
        </p:nvSpPr>
        <p:spPr>
          <a:xfrm>
            <a:off x="0" y="0"/>
            <a:ext cx="12192000" cy="6858000"/>
          </a:xfrm>
          <a:prstGeom prst="rect">
            <a:avLst/>
          </a:prstGeom>
          <a:solidFill>
            <a:srgbClr val="282828">
              <a:alpha val="50196"/>
            </a:srgbClr>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lang="en-US" noProof="0"/>
          </a:p>
        </p:txBody>
      </p:sp>
      <p:sp>
        <p:nvSpPr>
          <p:cNvPr id="18" name="Documenttype">
            <a:extLst>
              <a:ext uri="{FF2B5EF4-FFF2-40B4-BE49-F238E27FC236}">
                <a16:creationId xmlns:a16="http://schemas.microsoft.com/office/drawing/2014/main" id="{F92320DC-6702-C465-A52E-7A0713ED1847}"/>
              </a:ext>
            </a:extLst>
          </p:cNvPr>
          <p:cNvSpPr>
            <a:spLocks noGrp="1"/>
          </p:cNvSpPr>
          <p:nvPr>
            <p:ph type="body" sz="quarter" idx="13" hasCustomPrompt="1"/>
            <p:custDataLst>
              <p:tags r:id="rId2"/>
            </p:custDataLst>
          </p:nvPr>
        </p:nvSpPr>
        <p:spPr>
          <a:xfrm>
            <a:off x="554736" y="4510168"/>
            <a:ext cx="6016752" cy="215444"/>
          </a:xfrm>
          <a:prstGeom prst="rect">
            <a:avLst/>
          </a:prstGeom>
        </p:spPr>
        <p:txBody>
          <a:bodyPr wrap="square">
            <a:noAutofit/>
          </a:bodyPr>
          <a:lstStyle>
            <a:lvl1pPr>
              <a:buNone/>
              <a:defRPr sz="1400">
                <a:solidFill>
                  <a:schemeClr val="bg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a:t>Edit date or title/role</a:t>
            </a:r>
          </a:p>
        </p:txBody>
      </p:sp>
      <p:sp>
        <p:nvSpPr>
          <p:cNvPr id="19" name="Subtitle">
            <a:extLst>
              <a:ext uri="{FF2B5EF4-FFF2-40B4-BE49-F238E27FC236}">
                <a16:creationId xmlns:a16="http://schemas.microsoft.com/office/drawing/2014/main" id="{0290045A-AEE3-0769-CF9F-1042D4B9C8FD}"/>
              </a:ext>
            </a:extLst>
          </p:cNvPr>
          <p:cNvSpPr>
            <a:spLocks noGrp="1"/>
          </p:cNvSpPr>
          <p:nvPr>
            <p:ph type="subTitle" idx="1"/>
            <p:custDataLst>
              <p:tags r:id="rId3"/>
            </p:custDataLst>
          </p:nvPr>
        </p:nvSpPr>
        <p:spPr>
          <a:xfrm>
            <a:off x="551942" y="4092559"/>
            <a:ext cx="6016752" cy="307777"/>
          </a:xfrm>
          <a:prstGeom prst="rect">
            <a:avLst/>
          </a:prstGeom>
        </p:spPr>
        <p:txBody>
          <a:bodyPr wrap="square">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sp>
        <p:nvSpPr>
          <p:cNvPr id="20" name="Title">
            <a:extLst>
              <a:ext uri="{FF2B5EF4-FFF2-40B4-BE49-F238E27FC236}">
                <a16:creationId xmlns:a16="http://schemas.microsoft.com/office/drawing/2014/main" id="{C69FB337-778B-9C0B-EB4A-35FECC7CD71E}"/>
              </a:ext>
            </a:extLst>
          </p:cNvPr>
          <p:cNvSpPr>
            <a:spLocks noGrp="1"/>
          </p:cNvSpPr>
          <p:nvPr>
            <p:ph type="title"/>
            <p:custDataLst>
              <p:tags r:id="rId4"/>
            </p:custDataLst>
          </p:nvPr>
        </p:nvSpPr>
        <p:spPr>
          <a:xfrm>
            <a:off x="551942" y="2049805"/>
            <a:ext cx="6016752" cy="1921708"/>
          </a:xfrm>
          <a:prstGeom prst="rect">
            <a:avLst/>
          </a:prstGeom>
        </p:spPr>
        <p:txBody>
          <a:bodyPr vert="horz" anchor="b">
            <a:normAutofit/>
          </a:bodyPr>
          <a:lstStyle>
            <a:lvl1pPr>
              <a:defRPr sz="4800" baseline="0">
                <a:ln w="6350" cap="flat">
                  <a:noFill/>
                  <a:miter lim="800000"/>
                </a:ln>
                <a:solidFill>
                  <a:schemeClr val="bg1"/>
                </a:solidFill>
              </a:defRPr>
            </a:lvl1pPr>
          </a:lstStyle>
          <a:p>
            <a:endParaRPr lang="en-US"/>
          </a:p>
        </p:txBody>
      </p:sp>
      <p:sp>
        <p:nvSpPr>
          <p:cNvPr id="2" name="Disclaimer-English (United States)">
            <a:extLst>
              <a:ext uri="{FF2B5EF4-FFF2-40B4-BE49-F238E27FC236}">
                <a16:creationId xmlns:a16="http://schemas.microsoft.com/office/drawing/2014/main" id="{BE1AD253-BB6A-C7E8-76B5-27E95989CD9C}"/>
              </a:ext>
            </a:extLst>
          </p:cNvPr>
          <p:cNvSpPr>
            <a:spLocks noChangeArrowheads="1"/>
          </p:cNvSpPr>
          <p:nvPr userDrawn="1">
            <p:custDataLst>
              <p:tags r:id="rId5"/>
            </p:custDataLst>
          </p:nvPr>
        </p:nvSpPr>
        <p:spPr bwMode="black">
          <a:xfrm>
            <a:off x="551942" y="6190488"/>
            <a:ext cx="5207508" cy="356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noAutofit/>
          </a:bodyPr>
          <a:lstStyle/>
          <a:p>
            <a:pPr defTabSz="804863" eaLnBrk="0" hangingPunct="0"/>
            <a:r>
              <a:rPr lang="en-US" sz="800">
                <a:solidFill>
                  <a:schemeClr val="bg1"/>
                </a:solidFill>
                <a:latin typeface="+mn-lt"/>
              </a:rPr>
              <a:t>CONFIDENTIAL</a:t>
            </a:r>
          </a:p>
          <a:p>
            <a:pPr defTabSz="804863" eaLnBrk="0" hangingPunct="0"/>
            <a:r>
              <a:rPr lang="en-US" sz="800">
                <a:solidFill>
                  <a:schemeClr val="bg1"/>
                </a:solidFill>
                <a:latin typeface="+mn-lt"/>
              </a:rPr>
              <a:t>Any use or reproduction of this material without the express written consent of </a:t>
            </a:r>
            <a:r>
              <a:rPr lang="en-US" sz="800" err="1">
                <a:solidFill>
                  <a:schemeClr val="bg1"/>
                </a:solidFill>
                <a:latin typeface="+mn-lt"/>
              </a:rPr>
              <a:t>Telesto</a:t>
            </a:r>
            <a:r>
              <a:rPr lang="en-US" sz="800">
                <a:solidFill>
                  <a:schemeClr val="bg1"/>
                </a:solidFill>
                <a:latin typeface="+mn-lt"/>
              </a:rPr>
              <a:t> Strategy LLC is prohibited </a:t>
            </a:r>
          </a:p>
        </p:txBody>
      </p:sp>
      <p:pic>
        <p:nvPicPr>
          <p:cNvPr id="6" name="Picture 5">
            <a:extLst>
              <a:ext uri="{FF2B5EF4-FFF2-40B4-BE49-F238E27FC236}">
                <a16:creationId xmlns:a16="http://schemas.microsoft.com/office/drawing/2014/main" id="{828E582C-643C-ED23-B8D9-710A354D128D}"/>
              </a:ext>
            </a:extLst>
          </p:cNvPr>
          <p:cNvPicPr>
            <a:picLocks noChangeAspect="1"/>
          </p:cNvPicPr>
          <p:nvPr userDrawn="1"/>
        </p:nvPicPr>
        <p:blipFill>
          <a:blip r:embed="rId11">
            <a:extLst>
              <a:ext uri="{28A0092B-C50C-407E-A947-70E740481C1C}">
                <a14:useLocalDpi xmlns:a14="http://schemas.microsoft.com/office/drawing/2010/main"/>
              </a:ext>
            </a:extLst>
          </a:blip>
          <a:stretch>
            <a:fillRect/>
          </a:stretch>
        </p:blipFill>
        <p:spPr>
          <a:xfrm>
            <a:off x="9031329" y="172898"/>
            <a:ext cx="2926080" cy="1170432"/>
          </a:xfrm>
          <a:prstGeom prst="rect">
            <a:avLst/>
          </a:prstGeom>
        </p:spPr>
      </p:pic>
      <p:sp>
        <p:nvSpPr>
          <p:cNvPr id="4" name="ClientLogo">
            <a:extLst>
              <a:ext uri="{FF2B5EF4-FFF2-40B4-BE49-F238E27FC236}">
                <a16:creationId xmlns:a16="http://schemas.microsoft.com/office/drawing/2014/main" id="{6D405767-39A5-B8D5-D9B7-967793AEA4B8}"/>
              </a:ext>
            </a:extLst>
          </p:cNvPr>
          <p:cNvSpPr>
            <a:spLocks noGrp="1"/>
          </p:cNvSpPr>
          <p:nvPr>
            <p:ph type="pic" sz="quarter" idx="14" hasCustomPrompt="1"/>
            <p:custDataLst>
              <p:tags r:id="rId6"/>
            </p:custDataLst>
          </p:nvPr>
        </p:nvSpPr>
        <p:spPr>
          <a:xfrm>
            <a:off x="551942" y="4984025"/>
            <a:ext cx="2833432" cy="969264"/>
          </a:xfrm>
          <a:prstGeom prst="rect">
            <a:avLst/>
          </a:prstGeom>
        </p:spPr>
        <p:txBody>
          <a:bodyPr>
            <a:noAutofit/>
          </a:bodyPr>
          <a:lstStyle>
            <a:lvl1pPr algn="ctr">
              <a:defRPr sz="1200">
                <a:solidFill>
                  <a:schemeClr val="bg1"/>
                </a:solidFill>
              </a:defRPr>
            </a:lvl1pPr>
          </a:lstStyle>
          <a:p>
            <a:r>
              <a:rPr lang="en-US"/>
              <a:t>Client logo goes here.</a:t>
            </a:r>
          </a:p>
        </p:txBody>
      </p:sp>
    </p:spTree>
    <p:extLst>
      <p:ext uri="{BB962C8B-B14F-4D97-AF65-F5344CB8AC3E}">
        <p14:creationId xmlns:p14="http://schemas.microsoft.com/office/powerpoint/2010/main" val="936357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5_Title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B6B5E4B-F629-59AF-5AF1-788C1B333D0D}"/>
              </a:ext>
            </a:extLst>
          </p:cNvPr>
          <p:cNvPicPr>
            <a:picLocks noChangeAspect="1"/>
          </p:cNvPicPr>
          <p:nvPr userDrawn="1"/>
        </p:nvPicPr>
        <p:blipFill rotWithShape="1">
          <a:blip r:embed="rId8">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graphicFrame>
        <p:nvGraphicFramePr>
          <p:cNvPr id="3" name="think-cell data - do not delete" hidden="1">
            <a:extLst>
              <a:ext uri="{FF2B5EF4-FFF2-40B4-BE49-F238E27FC236}">
                <a16:creationId xmlns:a16="http://schemas.microsoft.com/office/drawing/2014/main" id="{43E646D6-F65D-5006-7C7C-48E61E4A14B6}"/>
              </a:ext>
            </a:extLst>
          </p:cNvPr>
          <p:cNvGraphicFramePr>
            <a:graphicFrameLocks noChangeAspect="1"/>
          </p:cNvGraphicFramePr>
          <p:nvPr userDrawn="1">
            <p:custDataLst>
              <p:tags r:id="rId1"/>
            </p:custDataLst>
            <p:extLst>
              <p:ext uri="{D42A27DB-BD31-4B8C-83A1-F6EECF244321}">
                <p14:modId xmlns:p14="http://schemas.microsoft.com/office/powerpoint/2010/main" val="1830611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606" imgH="608" progId="TCLayout.ActiveDocument.1">
                  <p:embed/>
                </p:oleObj>
              </mc:Choice>
              <mc:Fallback>
                <p:oleObj name="thinkcell Slide" r:id="rId9" imgW="606" imgH="608" progId="TCLayout.ActiveDocument.1">
                  <p:embed/>
                  <p:pic>
                    <p:nvPicPr>
                      <p:cNvPr id="3" name="think-cell data - do not delete" hidden="1">
                        <a:extLst>
                          <a:ext uri="{FF2B5EF4-FFF2-40B4-BE49-F238E27FC236}">
                            <a16:creationId xmlns:a16="http://schemas.microsoft.com/office/drawing/2014/main" id="{43E646D6-F65D-5006-7C7C-48E61E4A14B6}"/>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580DB651-4757-7DFC-829C-3D554E2BA252}"/>
              </a:ext>
            </a:extLst>
          </p:cNvPr>
          <p:cNvSpPr/>
          <p:nvPr userDrawn="1"/>
        </p:nvSpPr>
        <p:spPr>
          <a:xfrm>
            <a:off x="0" y="0"/>
            <a:ext cx="12192000" cy="6857999"/>
          </a:xfrm>
          <a:prstGeom prst="rect">
            <a:avLst/>
          </a:prstGeom>
          <a:solidFill>
            <a:srgbClr val="FFFFFF">
              <a:alpha val="56863"/>
            </a:srgbClr>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18" name="Documenttype">
            <a:extLst>
              <a:ext uri="{FF2B5EF4-FFF2-40B4-BE49-F238E27FC236}">
                <a16:creationId xmlns:a16="http://schemas.microsoft.com/office/drawing/2014/main" id="{F92320DC-6702-C465-A52E-7A0713ED1847}"/>
              </a:ext>
            </a:extLst>
          </p:cNvPr>
          <p:cNvSpPr>
            <a:spLocks noGrp="1"/>
          </p:cNvSpPr>
          <p:nvPr>
            <p:ph type="body" sz="quarter" idx="13" hasCustomPrompt="1"/>
            <p:custDataLst>
              <p:tags r:id="rId2"/>
            </p:custDataLst>
          </p:nvPr>
        </p:nvSpPr>
        <p:spPr>
          <a:xfrm>
            <a:off x="554736" y="4510168"/>
            <a:ext cx="6016752" cy="215444"/>
          </a:xfrm>
          <a:prstGeom prst="rect">
            <a:avLst/>
          </a:prstGeom>
        </p:spPr>
        <p:txBody>
          <a:bodyPr wrap="square">
            <a:noAutofit/>
          </a:bodyPr>
          <a:lstStyle>
            <a:lvl1pPr>
              <a:buNone/>
              <a:defRPr sz="1400">
                <a:solidFill>
                  <a:schemeClr val="tx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a:t>Edit date or title/role</a:t>
            </a:r>
          </a:p>
        </p:txBody>
      </p:sp>
      <p:sp>
        <p:nvSpPr>
          <p:cNvPr id="19" name="Subtitle">
            <a:extLst>
              <a:ext uri="{FF2B5EF4-FFF2-40B4-BE49-F238E27FC236}">
                <a16:creationId xmlns:a16="http://schemas.microsoft.com/office/drawing/2014/main" id="{0290045A-AEE3-0769-CF9F-1042D4B9C8FD}"/>
              </a:ext>
            </a:extLst>
          </p:cNvPr>
          <p:cNvSpPr>
            <a:spLocks noGrp="1"/>
          </p:cNvSpPr>
          <p:nvPr>
            <p:ph type="subTitle" idx="1"/>
            <p:custDataLst>
              <p:tags r:id="rId3"/>
            </p:custDataLst>
          </p:nvPr>
        </p:nvSpPr>
        <p:spPr>
          <a:xfrm>
            <a:off x="551942" y="4092559"/>
            <a:ext cx="6016752" cy="307777"/>
          </a:xfrm>
          <a:prstGeom prst="rect">
            <a:avLst/>
          </a:prstGeom>
        </p:spPr>
        <p:txBody>
          <a:bodyPr wrap="square">
            <a:no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sp>
        <p:nvSpPr>
          <p:cNvPr id="20" name="Title">
            <a:extLst>
              <a:ext uri="{FF2B5EF4-FFF2-40B4-BE49-F238E27FC236}">
                <a16:creationId xmlns:a16="http://schemas.microsoft.com/office/drawing/2014/main" id="{C69FB337-778B-9C0B-EB4A-35FECC7CD71E}"/>
              </a:ext>
            </a:extLst>
          </p:cNvPr>
          <p:cNvSpPr>
            <a:spLocks noGrp="1"/>
          </p:cNvSpPr>
          <p:nvPr>
            <p:ph type="title" hasCustomPrompt="1"/>
            <p:custDataLst>
              <p:tags r:id="rId4"/>
            </p:custDataLst>
          </p:nvPr>
        </p:nvSpPr>
        <p:spPr>
          <a:xfrm>
            <a:off x="551942" y="2049805"/>
            <a:ext cx="6016752" cy="1921708"/>
          </a:xfrm>
          <a:prstGeom prst="rect">
            <a:avLst/>
          </a:prstGeom>
        </p:spPr>
        <p:txBody>
          <a:bodyPr vert="horz" anchor="b">
            <a:normAutofit/>
          </a:bodyPr>
          <a:lstStyle>
            <a:lvl1pPr>
              <a:defRPr sz="4800" baseline="0">
                <a:ln w="6350" cap="flat">
                  <a:noFill/>
                  <a:miter lim="800000"/>
                </a:ln>
                <a:solidFill>
                  <a:schemeClr val="tx1"/>
                </a:solidFill>
              </a:defRPr>
            </a:lvl1pPr>
          </a:lstStyle>
          <a:p>
            <a:r>
              <a:rPr lang="en-US"/>
              <a:t>Title of the deck</a:t>
            </a:r>
          </a:p>
        </p:txBody>
      </p:sp>
      <p:sp>
        <p:nvSpPr>
          <p:cNvPr id="2" name="Disclaimer-English (United States)">
            <a:extLst>
              <a:ext uri="{FF2B5EF4-FFF2-40B4-BE49-F238E27FC236}">
                <a16:creationId xmlns:a16="http://schemas.microsoft.com/office/drawing/2014/main" id="{BE1AD253-BB6A-C7E8-76B5-27E95989CD9C}"/>
              </a:ext>
            </a:extLst>
          </p:cNvPr>
          <p:cNvSpPr>
            <a:spLocks noChangeArrowheads="1"/>
          </p:cNvSpPr>
          <p:nvPr userDrawn="1">
            <p:custDataLst>
              <p:tags r:id="rId5"/>
            </p:custDataLst>
          </p:nvPr>
        </p:nvSpPr>
        <p:spPr bwMode="black">
          <a:xfrm>
            <a:off x="551942" y="6190488"/>
            <a:ext cx="5207508" cy="356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noAutofit/>
          </a:bodyPr>
          <a:lstStyle/>
          <a:p>
            <a:pPr defTabSz="804863" eaLnBrk="0" hangingPunct="0"/>
            <a:r>
              <a:rPr lang="en-US" sz="800">
                <a:solidFill>
                  <a:schemeClr val="tx1"/>
                </a:solidFill>
                <a:latin typeface="+mn-lt"/>
              </a:rPr>
              <a:t>CONFIDENTIAL</a:t>
            </a:r>
          </a:p>
          <a:p>
            <a:pPr defTabSz="804863" eaLnBrk="0" hangingPunct="0"/>
            <a:r>
              <a:rPr lang="en-US" sz="800">
                <a:solidFill>
                  <a:schemeClr val="tx1"/>
                </a:solidFill>
                <a:latin typeface="+mn-lt"/>
              </a:rPr>
              <a:t>Any use or reproduction of this material without the express written consent of Telesto Strategy LLC is prohibited </a:t>
            </a:r>
          </a:p>
        </p:txBody>
      </p:sp>
      <p:sp>
        <p:nvSpPr>
          <p:cNvPr id="4" name="ClientLogo">
            <a:extLst>
              <a:ext uri="{FF2B5EF4-FFF2-40B4-BE49-F238E27FC236}">
                <a16:creationId xmlns:a16="http://schemas.microsoft.com/office/drawing/2014/main" id="{476C8FE1-901A-4B80-FBAF-7838EB225B6C}"/>
              </a:ext>
            </a:extLst>
          </p:cNvPr>
          <p:cNvSpPr>
            <a:spLocks noGrp="1"/>
          </p:cNvSpPr>
          <p:nvPr>
            <p:ph type="pic" sz="quarter" idx="14" hasCustomPrompt="1"/>
            <p:custDataLst>
              <p:tags r:id="rId6"/>
            </p:custDataLst>
          </p:nvPr>
        </p:nvSpPr>
        <p:spPr>
          <a:xfrm>
            <a:off x="551942" y="4984025"/>
            <a:ext cx="2833432" cy="969264"/>
          </a:xfrm>
          <a:prstGeom prst="rect">
            <a:avLst/>
          </a:prstGeom>
        </p:spPr>
        <p:txBody>
          <a:bodyPr>
            <a:noAutofit/>
          </a:bodyPr>
          <a:lstStyle>
            <a:lvl1pPr algn="ctr">
              <a:defRPr sz="1200">
                <a:solidFill>
                  <a:srgbClr val="282828"/>
                </a:solidFill>
              </a:defRPr>
            </a:lvl1pPr>
          </a:lstStyle>
          <a:p>
            <a:r>
              <a:rPr lang="en-US"/>
              <a:t>Client logo goes here.</a:t>
            </a:r>
          </a:p>
        </p:txBody>
      </p:sp>
      <p:pic>
        <p:nvPicPr>
          <p:cNvPr id="5" name="Picture 4">
            <a:extLst>
              <a:ext uri="{FF2B5EF4-FFF2-40B4-BE49-F238E27FC236}">
                <a16:creationId xmlns:a16="http://schemas.microsoft.com/office/drawing/2014/main" id="{7CB35170-88FE-5083-7F78-094651864838}"/>
              </a:ext>
            </a:extLst>
          </p:cNvPr>
          <p:cNvPicPr>
            <a:picLocks noChangeAspect="1"/>
          </p:cNvPicPr>
          <p:nvPr userDrawn="1"/>
        </p:nvPicPr>
        <p:blipFill>
          <a:blip r:embed="rId11">
            <a:extLst>
              <a:ext uri="{28A0092B-C50C-407E-A947-70E740481C1C}">
                <a14:useLocalDpi xmlns:a14="http://schemas.microsoft.com/office/drawing/2010/main"/>
              </a:ext>
            </a:extLst>
          </a:blip>
          <a:stretch>
            <a:fillRect/>
          </a:stretch>
        </p:blipFill>
        <p:spPr>
          <a:xfrm>
            <a:off x="9030281" y="179064"/>
            <a:ext cx="2926080" cy="1170432"/>
          </a:xfrm>
          <a:prstGeom prst="rect">
            <a:avLst/>
          </a:prstGeom>
        </p:spPr>
      </p:pic>
    </p:spTree>
    <p:extLst>
      <p:ext uri="{BB962C8B-B14F-4D97-AF65-F5344CB8AC3E}">
        <p14:creationId xmlns:p14="http://schemas.microsoft.com/office/powerpoint/2010/main" val="21859252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3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Title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B74751E-19A5-9A00-5CDE-2AFEE644AC2E}"/>
              </a:ext>
            </a:extLst>
          </p:cNvPr>
          <p:cNvPicPr>
            <a:picLocks noChangeAspect="1"/>
          </p:cNvPicPr>
          <p:nvPr userDrawn="1"/>
        </p:nvPicPr>
        <p:blipFill rotWithShape="1">
          <a:blip r:embed="rId8">
            <a:extLst>
              <a:ext uri="{28A0092B-C50C-407E-A947-70E740481C1C}">
                <a14:useLocalDpi xmlns:a14="http://schemas.microsoft.com/office/drawing/2010/main"/>
              </a:ext>
            </a:extLst>
          </a:blip>
          <a:srcRect/>
          <a:stretch>
            <a:fillRect/>
          </a:stretch>
        </p:blipFill>
        <p:spPr>
          <a:xfrm>
            <a:off x="-1" y="0"/>
            <a:ext cx="12191999" cy="6858000"/>
          </a:xfrm>
          <a:prstGeom prst="rect">
            <a:avLst/>
          </a:prstGeom>
        </p:spPr>
      </p:pic>
      <p:graphicFrame>
        <p:nvGraphicFramePr>
          <p:cNvPr id="3" name="think-cell data - do not delete" hidden="1">
            <a:extLst>
              <a:ext uri="{FF2B5EF4-FFF2-40B4-BE49-F238E27FC236}">
                <a16:creationId xmlns:a16="http://schemas.microsoft.com/office/drawing/2014/main" id="{43E646D6-F65D-5006-7C7C-48E61E4A14B6}"/>
              </a:ext>
            </a:extLst>
          </p:cNvPr>
          <p:cNvGraphicFramePr>
            <a:graphicFrameLocks noChangeAspect="1"/>
          </p:cNvGraphicFramePr>
          <p:nvPr userDrawn="1">
            <p:custDataLst>
              <p:tags r:id="rId1"/>
            </p:custDataLst>
            <p:extLst>
              <p:ext uri="{D42A27DB-BD31-4B8C-83A1-F6EECF244321}">
                <p14:modId xmlns:p14="http://schemas.microsoft.com/office/powerpoint/2010/main" val="1830611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606" imgH="608" progId="TCLayout.ActiveDocument.1">
                  <p:embed/>
                </p:oleObj>
              </mc:Choice>
              <mc:Fallback>
                <p:oleObj name="thinkcell Slide" r:id="rId9" imgW="606" imgH="608" progId="TCLayout.ActiveDocument.1">
                  <p:embed/>
                  <p:pic>
                    <p:nvPicPr>
                      <p:cNvPr id="3" name="think-cell data - do not delete" hidden="1">
                        <a:extLst>
                          <a:ext uri="{FF2B5EF4-FFF2-40B4-BE49-F238E27FC236}">
                            <a16:creationId xmlns:a16="http://schemas.microsoft.com/office/drawing/2014/main" id="{43E646D6-F65D-5006-7C7C-48E61E4A14B6}"/>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580DB651-4757-7DFC-829C-3D554E2BA252}"/>
              </a:ext>
            </a:extLst>
          </p:cNvPr>
          <p:cNvSpPr/>
          <p:nvPr userDrawn="1"/>
        </p:nvSpPr>
        <p:spPr>
          <a:xfrm>
            <a:off x="-2" y="-4362"/>
            <a:ext cx="12192000" cy="6862361"/>
          </a:xfrm>
          <a:prstGeom prst="rect">
            <a:avLst/>
          </a:prstGeom>
          <a:solidFill>
            <a:srgbClr val="282828">
              <a:alpha val="69804"/>
            </a:srgbClr>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lang="en-US" noProof="0"/>
          </a:p>
        </p:txBody>
      </p:sp>
      <p:sp>
        <p:nvSpPr>
          <p:cNvPr id="18" name="Documenttype">
            <a:extLst>
              <a:ext uri="{FF2B5EF4-FFF2-40B4-BE49-F238E27FC236}">
                <a16:creationId xmlns:a16="http://schemas.microsoft.com/office/drawing/2014/main" id="{F92320DC-6702-C465-A52E-7A0713ED1847}"/>
              </a:ext>
            </a:extLst>
          </p:cNvPr>
          <p:cNvSpPr>
            <a:spLocks noGrp="1"/>
          </p:cNvSpPr>
          <p:nvPr>
            <p:ph type="body" sz="quarter" idx="13" hasCustomPrompt="1"/>
            <p:custDataLst>
              <p:tags r:id="rId2"/>
            </p:custDataLst>
          </p:nvPr>
        </p:nvSpPr>
        <p:spPr>
          <a:xfrm>
            <a:off x="554736" y="4510168"/>
            <a:ext cx="6016752" cy="215444"/>
          </a:xfrm>
          <a:prstGeom prst="rect">
            <a:avLst/>
          </a:prstGeom>
        </p:spPr>
        <p:txBody>
          <a:bodyPr wrap="square">
            <a:noAutofit/>
          </a:bodyPr>
          <a:lstStyle>
            <a:lvl1pPr>
              <a:buNone/>
              <a:defRPr sz="1400">
                <a:solidFill>
                  <a:schemeClr val="bg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a:t>Edit date or title/role</a:t>
            </a:r>
          </a:p>
        </p:txBody>
      </p:sp>
      <p:sp>
        <p:nvSpPr>
          <p:cNvPr id="19" name="Subtitle">
            <a:extLst>
              <a:ext uri="{FF2B5EF4-FFF2-40B4-BE49-F238E27FC236}">
                <a16:creationId xmlns:a16="http://schemas.microsoft.com/office/drawing/2014/main" id="{0290045A-AEE3-0769-CF9F-1042D4B9C8FD}"/>
              </a:ext>
            </a:extLst>
          </p:cNvPr>
          <p:cNvSpPr>
            <a:spLocks noGrp="1"/>
          </p:cNvSpPr>
          <p:nvPr>
            <p:ph type="subTitle" idx="1"/>
            <p:custDataLst>
              <p:tags r:id="rId3"/>
            </p:custDataLst>
          </p:nvPr>
        </p:nvSpPr>
        <p:spPr>
          <a:xfrm>
            <a:off x="551942" y="4092559"/>
            <a:ext cx="6016752" cy="307777"/>
          </a:xfrm>
          <a:prstGeom prst="rect">
            <a:avLst/>
          </a:prstGeom>
        </p:spPr>
        <p:txBody>
          <a:bodyPr wrap="square">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sp>
        <p:nvSpPr>
          <p:cNvPr id="20" name="Title">
            <a:extLst>
              <a:ext uri="{FF2B5EF4-FFF2-40B4-BE49-F238E27FC236}">
                <a16:creationId xmlns:a16="http://schemas.microsoft.com/office/drawing/2014/main" id="{C69FB337-778B-9C0B-EB4A-35FECC7CD71E}"/>
              </a:ext>
            </a:extLst>
          </p:cNvPr>
          <p:cNvSpPr>
            <a:spLocks noGrp="1"/>
          </p:cNvSpPr>
          <p:nvPr>
            <p:ph type="title"/>
            <p:custDataLst>
              <p:tags r:id="rId4"/>
            </p:custDataLst>
          </p:nvPr>
        </p:nvSpPr>
        <p:spPr>
          <a:xfrm>
            <a:off x="551942" y="2049805"/>
            <a:ext cx="6016752" cy="1921708"/>
          </a:xfrm>
          <a:prstGeom prst="rect">
            <a:avLst/>
          </a:prstGeom>
        </p:spPr>
        <p:txBody>
          <a:bodyPr vert="horz" anchor="b">
            <a:normAutofit/>
          </a:bodyPr>
          <a:lstStyle>
            <a:lvl1pPr>
              <a:defRPr sz="4800" baseline="0">
                <a:ln w="6350" cap="flat">
                  <a:noFill/>
                  <a:miter lim="800000"/>
                </a:ln>
                <a:solidFill>
                  <a:schemeClr val="bg1"/>
                </a:solidFill>
              </a:defRPr>
            </a:lvl1pPr>
          </a:lstStyle>
          <a:p>
            <a:endParaRPr lang="en-US"/>
          </a:p>
        </p:txBody>
      </p:sp>
      <p:sp>
        <p:nvSpPr>
          <p:cNvPr id="2" name="Disclaimer-English (United States)">
            <a:extLst>
              <a:ext uri="{FF2B5EF4-FFF2-40B4-BE49-F238E27FC236}">
                <a16:creationId xmlns:a16="http://schemas.microsoft.com/office/drawing/2014/main" id="{BE1AD253-BB6A-C7E8-76B5-27E95989CD9C}"/>
              </a:ext>
            </a:extLst>
          </p:cNvPr>
          <p:cNvSpPr>
            <a:spLocks noChangeArrowheads="1"/>
          </p:cNvSpPr>
          <p:nvPr userDrawn="1">
            <p:custDataLst>
              <p:tags r:id="rId5"/>
            </p:custDataLst>
          </p:nvPr>
        </p:nvSpPr>
        <p:spPr bwMode="black">
          <a:xfrm>
            <a:off x="551942" y="6190488"/>
            <a:ext cx="5207508" cy="356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noAutofit/>
          </a:bodyPr>
          <a:lstStyle/>
          <a:p>
            <a:pPr defTabSz="804863" eaLnBrk="0" hangingPunct="0"/>
            <a:r>
              <a:rPr lang="en-US" sz="800">
                <a:solidFill>
                  <a:schemeClr val="bg1"/>
                </a:solidFill>
                <a:latin typeface="+mn-lt"/>
              </a:rPr>
              <a:t>CONFIDENTIAL</a:t>
            </a:r>
          </a:p>
          <a:p>
            <a:pPr defTabSz="804863" eaLnBrk="0" hangingPunct="0"/>
            <a:r>
              <a:rPr lang="en-US" sz="800">
                <a:solidFill>
                  <a:schemeClr val="bg1"/>
                </a:solidFill>
                <a:latin typeface="+mn-lt"/>
              </a:rPr>
              <a:t>Any use or reproduction of this material without the express written consent of </a:t>
            </a:r>
            <a:r>
              <a:rPr lang="en-US" sz="800" err="1">
                <a:solidFill>
                  <a:schemeClr val="bg1"/>
                </a:solidFill>
                <a:latin typeface="+mn-lt"/>
              </a:rPr>
              <a:t>Telesto</a:t>
            </a:r>
            <a:r>
              <a:rPr lang="en-US" sz="800">
                <a:solidFill>
                  <a:schemeClr val="bg1"/>
                </a:solidFill>
                <a:latin typeface="+mn-lt"/>
              </a:rPr>
              <a:t> Strategy LLC is prohibited </a:t>
            </a:r>
          </a:p>
        </p:txBody>
      </p:sp>
      <p:pic>
        <p:nvPicPr>
          <p:cNvPr id="5" name="Picture 4">
            <a:extLst>
              <a:ext uri="{FF2B5EF4-FFF2-40B4-BE49-F238E27FC236}">
                <a16:creationId xmlns:a16="http://schemas.microsoft.com/office/drawing/2014/main" id="{A48148FA-F56C-D91C-FB3F-826BFF69F258}"/>
              </a:ext>
            </a:extLst>
          </p:cNvPr>
          <p:cNvPicPr>
            <a:picLocks noChangeAspect="1"/>
          </p:cNvPicPr>
          <p:nvPr userDrawn="1"/>
        </p:nvPicPr>
        <p:blipFill>
          <a:blip r:embed="rId11">
            <a:extLst>
              <a:ext uri="{28A0092B-C50C-407E-A947-70E740481C1C}">
                <a14:useLocalDpi xmlns:a14="http://schemas.microsoft.com/office/drawing/2010/main"/>
              </a:ext>
            </a:extLst>
          </a:blip>
          <a:stretch>
            <a:fillRect/>
          </a:stretch>
        </p:blipFill>
        <p:spPr>
          <a:xfrm>
            <a:off x="9031329" y="165810"/>
            <a:ext cx="2926080" cy="1170432"/>
          </a:xfrm>
          <a:prstGeom prst="rect">
            <a:avLst/>
          </a:prstGeom>
        </p:spPr>
      </p:pic>
      <p:sp>
        <p:nvSpPr>
          <p:cNvPr id="4" name="ClientLogo">
            <a:extLst>
              <a:ext uri="{FF2B5EF4-FFF2-40B4-BE49-F238E27FC236}">
                <a16:creationId xmlns:a16="http://schemas.microsoft.com/office/drawing/2014/main" id="{0634024F-6A9F-278F-8EC9-D25D64439086}"/>
              </a:ext>
            </a:extLst>
          </p:cNvPr>
          <p:cNvSpPr>
            <a:spLocks noGrp="1"/>
          </p:cNvSpPr>
          <p:nvPr>
            <p:ph type="pic" sz="quarter" idx="14" hasCustomPrompt="1"/>
            <p:custDataLst>
              <p:tags r:id="rId6"/>
            </p:custDataLst>
          </p:nvPr>
        </p:nvSpPr>
        <p:spPr>
          <a:xfrm>
            <a:off x="551942" y="4984025"/>
            <a:ext cx="2833432" cy="969264"/>
          </a:xfrm>
          <a:prstGeom prst="rect">
            <a:avLst/>
          </a:prstGeom>
        </p:spPr>
        <p:txBody>
          <a:bodyPr>
            <a:noAutofit/>
          </a:bodyPr>
          <a:lstStyle>
            <a:lvl1pPr algn="ctr">
              <a:defRPr sz="1200">
                <a:solidFill>
                  <a:schemeClr val="bg1"/>
                </a:solidFill>
              </a:defRPr>
            </a:lvl1pPr>
          </a:lstStyle>
          <a:p>
            <a:r>
              <a:rPr lang="en-US"/>
              <a:t>Client logo goes here.</a:t>
            </a:r>
          </a:p>
        </p:txBody>
      </p:sp>
    </p:spTree>
    <p:extLst>
      <p:ext uri="{BB962C8B-B14F-4D97-AF65-F5344CB8AC3E}">
        <p14:creationId xmlns:p14="http://schemas.microsoft.com/office/powerpoint/2010/main" val="32033856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1">
    <p:bg>
      <p:bgPr>
        <a:solidFill>
          <a:srgbClr val="282828"/>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3E646D6-F65D-5006-7C7C-48E61E4A14B6}"/>
              </a:ext>
            </a:extLst>
          </p:cNvPr>
          <p:cNvGraphicFramePr>
            <a:graphicFrameLocks noChangeAspect="1"/>
          </p:cNvGraphicFramePr>
          <p:nvPr userDrawn="1">
            <p:custDataLst>
              <p:tags r:id="rId1"/>
            </p:custDataLst>
            <p:extLst>
              <p:ext uri="{D42A27DB-BD31-4B8C-83A1-F6EECF244321}">
                <p14:modId xmlns:p14="http://schemas.microsoft.com/office/powerpoint/2010/main" val="29072664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3" name="think-cell data - do not delete" hidden="1">
                        <a:extLst>
                          <a:ext uri="{FF2B5EF4-FFF2-40B4-BE49-F238E27FC236}">
                            <a16:creationId xmlns:a16="http://schemas.microsoft.com/office/drawing/2014/main" id="{43E646D6-F65D-5006-7C7C-48E61E4A14B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18" name="Documenttype">
            <a:extLst>
              <a:ext uri="{FF2B5EF4-FFF2-40B4-BE49-F238E27FC236}">
                <a16:creationId xmlns:a16="http://schemas.microsoft.com/office/drawing/2014/main" id="{F92320DC-6702-C465-A52E-7A0713ED1847}"/>
              </a:ext>
            </a:extLst>
          </p:cNvPr>
          <p:cNvSpPr>
            <a:spLocks noGrp="1"/>
          </p:cNvSpPr>
          <p:nvPr>
            <p:ph type="body" sz="quarter" idx="13" hasCustomPrompt="1"/>
            <p:custDataLst>
              <p:tags r:id="rId2"/>
            </p:custDataLst>
          </p:nvPr>
        </p:nvSpPr>
        <p:spPr>
          <a:xfrm>
            <a:off x="554736" y="4510168"/>
            <a:ext cx="6016752" cy="215444"/>
          </a:xfrm>
          <a:prstGeom prst="rect">
            <a:avLst/>
          </a:prstGeom>
        </p:spPr>
        <p:txBody>
          <a:bodyPr wrap="square">
            <a:noAutofit/>
          </a:bodyPr>
          <a:lstStyle>
            <a:lvl1pPr>
              <a:buNone/>
              <a:defRPr sz="1400">
                <a:solidFill>
                  <a:schemeClr val="bg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a:t>Edit date or title/role</a:t>
            </a:r>
          </a:p>
        </p:txBody>
      </p:sp>
      <p:sp>
        <p:nvSpPr>
          <p:cNvPr id="19" name="Subtitle">
            <a:extLst>
              <a:ext uri="{FF2B5EF4-FFF2-40B4-BE49-F238E27FC236}">
                <a16:creationId xmlns:a16="http://schemas.microsoft.com/office/drawing/2014/main" id="{0290045A-AEE3-0769-CF9F-1042D4B9C8FD}"/>
              </a:ext>
            </a:extLst>
          </p:cNvPr>
          <p:cNvSpPr>
            <a:spLocks noGrp="1"/>
          </p:cNvSpPr>
          <p:nvPr>
            <p:ph type="subTitle" idx="1"/>
            <p:custDataLst>
              <p:tags r:id="rId3"/>
            </p:custDataLst>
          </p:nvPr>
        </p:nvSpPr>
        <p:spPr>
          <a:xfrm>
            <a:off x="551942" y="4092559"/>
            <a:ext cx="6016752" cy="307777"/>
          </a:xfrm>
          <a:prstGeom prst="rect">
            <a:avLst/>
          </a:prstGeom>
        </p:spPr>
        <p:txBody>
          <a:bodyPr wrap="square">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sp>
        <p:nvSpPr>
          <p:cNvPr id="20" name="Title">
            <a:extLst>
              <a:ext uri="{FF2B5EF4-FFF2-40B4-BE49-F238E27FC236}">
                <a16:creationId xmlns:a16="http://schemas.microsoft.com/office/drawing/2014/main" id="{C69FB337-778B-9C0B-EB4A-35FECC7CD71E}"/>
              </a:ext>
            </a:extLst>
          </p:cNvPr>
          <p:cNvSpPr>
            <a:spLocks noGrp="1"/>
          </p:cNvSpPr>
          <p:nvPr>
            <p:ph type="title"/>
            <p:custDataLst>
              <p:tags r:id="rId4"/>
            </p:custDataLst>
          </p:nvPr>
        </p:nvSpPr>
        <p:spPr>
          <a:xfrm>
            <a:off x="551942" y="2049805"/>
            <a:ext cx="6016752" cy="1921708"/>
          </a:xfrm>
          <a:prstGeom prst="rect">
            <a:avLst/>
          </a:prstGeom>
        </p:spPr>
        <p:txBody>
          <a:bodyPr vert="horz" anchor="b">
            <a:normAutofit/>
          </a:bodyPr>
          <a:lstStyle>
            <a:lvl1pPr>
              <a:defRPr sz="4800" baseline="0">
                <a:ln w="6350" cap="flat">
                  <a:noFill/>
                  <a:miter lim="800000"/>
                </a:ln>
                <a:solidFill>
                  <a:schemeClr val="bg1"/>
                </a:solidFill>
              </a:defRPr>
            </a:lvl1pPr>
          </a:lstStyle>
          <a:p>
            <a:endParaRPr lang="en-US"/>
          </a:p>
        </p:txBody>
      </p:sp>
      <p:sp>
        <p:nvSpPr>
          <p:cNvPr id="27" name="Disclaimer-English (United States)">
            <a:extLst>
              <a:ext uri="{FF2B5EF4-FFF2-40B4-BE49-F238E27FC236}">
                <a16:creationId xmlns:a16="http://schemas.microsoft.com/office/drawing/2014/main" id="{00A79FED-855B-B4EB-A995-A801107F4FF9}"/>
              </a:ext>
            </a:extLst>
          </p:cNvPr>
          <p:cNvSpPr>
            <a:spLocks noChangeArrowheads="1"/>
          </p:cNvSpPr>
          <p:nvPr userDrawn="1">
            <p:custDataLst>
              <p:tags r:id="rId5"/>
            </p:custDataLst>
          </p:nvPr>
        </p:nvSpPr>
        <p:spPr bwMode="black">
          <a:xfrm>
            <a:off x="551942" y="6190488"/>
            <a:ext cx="5207508" cy="356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noAutofit/>
          </a:bodyPr>
          <a:lstStyle/>
          <a:p>
            <a:pPr defTabSz="804863" eaLnBrk="0" hangingPunct="0"/>
            <a:r>
              <a:rPr lang="en-US" sz="800">
                <a:solidFill>
                  <a:schemeClr val="bg1"/>
                </a:solidFill>
                <a:latin typeface="+mn-lt"/>
              </a:rPr>
              <a:t>CONFIDENTIAL</a:t>
            </a:r>
          </a:p>
          <a:p>
            <a:pPr defTabSz="804863" eaLnBrk="0" hangingPunct="0"/>
            <a:r>
              <a:rPr lang="en-US" sz="800">
                <a:solidFill>
                  <a:schemeClr val="bg1"/>
                </a:solidFill>
                <a:latin typeface="+mn-lt"/>
              </a:rPr>
              <a:t>Any use or reproduction of this material without the express written consent of </a:t>
            </a:r>
            <a:r>
              <a:rPr lang="en-US" sz="800" err="1">
                <a:solidFill>
                  <a:schemeClr val="bg1"/>
                </a:solidFill>
                <a:latin typeface="+mn-lt"/>
              </a:rPr>
              <a:t>Telesto</a:t>
            </a:r>
            <a:r>
              <a:rPr lang="en-US" sz="800">
                <a:solidFill>
                  <a:schemeClr val="bg1"/>
                </a:solidFill>
                <a:latin typeface="+mn-lt"/>
              </a:rPr>
              <a:t> Strategy LLC is prohibited </a:t>
            </a:r>
          </a:p>
        </p:txBody>
      </p:sp>
      <p:pic>
        <p:nvPicPr>
          <p:cNvPr id="4" name="Picture 3">
            <a:extLst>
              <a:ext uri="{FF2B5EF4-FFF2-40B4-BE49-F238E27FC236}">
                <a16:creationId xmlns:a16="http://schemas.microsoft.com/office/drawing/2014/main" id="{6CB4108F-8EAC-FF3E-A0A9-389C1113DD24}"/>
              </a:ext>
            </a:extLst>
          </p:cNvPr>
          <p:cNvPicPr>
            <a:picLocks noChangeAspect="1"/>
          </p:cNvPicPr>
          <p:nvPr userDrawn="1"/>
        </p:nvPicPr>
        <p:blipFill>
          <a:blip r:embed="rId10">
            <a:extLst>
              <a:ext uri="{28A0092B-C50C-407E-A947-70E740481C1C}">
                <a14:useLocalDpi xmlns:a14="http://schemas.microsoft.com/office/drawing/2010/main"/>
              </a:ext>
            </a:extLst>
          </a:blip>
          <a:stretch>
            <a:fillRect/>
          </a:stretch>
        </p:blipFill>
        <p:spPr>
          <a:xfrm>
            <a:off x="9031329" y="165810"/>
            <a:ext cx="2926080" cy="1170432"/>
          </a:xfrm>
          <a:prstGeom prst="rect">
            <a:avLst/>
          </a:prstGeom>
        </p:spPr>
      </p:pic>
      <p:sp>
        <p:nvSpPr>
          <p:cNvPr id="2" name="ClientLogo">
            <a:extLst>
              <a:ext uri="{FF2B5EF4-FFF2-40B4-BE49-F238E27FC236}">
                <a16:creationId xmlns:a16="http://schemas.microsoft.com/office/drawing/2014/main" id="{278D6CAD-7133-5B54-E36F-5CBC7CACF19B}"/>
              </a:ext>
            </a:extLst>
          </p:cNvPr>
          <p:cNvSpPr>
            <a:spLocks noGrp="1"/>
          </p:cNvSpPr>
          <p:nvPr>
            <p:ph type="pic" sz="quarter" idx="14" hasCustomPrompt="1"/>
            <p:custDataLst>
              <p:tags r:id="rId6"/>
            </p:custDataLst>
          </p:nvPr>
        </p:nvSpPr>
        <p:spPr>
          <a:xfrm>
            <a:off x="551942" y="4984025"/>
            <a:ext cx="2833432" cy="969264"/>
          </a:xfrm>
          <a:prstGeom prst="rect">
            <a:avLst/>
          </a:prstGeom>
        </p:spPr>
        <p:txBody>
          <a:bodyPr>
            <a:noAutofit/>
          </a:bodyPr>
          <a:lstStyle>
            <a:lvl1pPr algn="ctr">
              <a:defRPr sz="1200">
                <a:solidFill>
                  <a:schemeClr val="bg1"/>
                </a:solidFill>
              </a:defRPr>
            </a:lvl1pPr>
          </a:lstStyle>
          <a:p>
            <a:r>
              <a:rPr lang="en-US"/>
              <a:t>Client logo goes here.</a:t>
            </a:r>
          </a:p>
        </p:txBody>
      </p:sp>
    </p:spTree>
    <p:extLst>
      <p:ext uri="{BB962C8B-B14F-4D97-AF65-F5344CB8AC3E}">
        <p14:creationId xmlns:p14="http://schemas.microsoft.com/office/powerpoint/2010/main" val="386897228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hapter Break (Contras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9EBFDC4-8D06-CEA9-EBFB-51CED3076835}"/>
              </a:ext>
            </a:extLst>
          </p:cNvPr>
          <p:cNvPicPr>
            <a:picLocks noChangeAspect="1"/>
          </p:cNvPicPr>
          <p:nvPr userDrawn="1"/>
        </p:nvPicPr>
        <p:blipFill rotWithShape="1">
          <a:blip r:embed="rId8">
            <a:extLst>
              <a:ext uri="{28A0092B-C50C-407E-A947-70E740481C1C}">
                <a14:useLocalDpi xmlns:a14="http://schemas.microsoft.com/office/drawing/2010/main"/>
              </a:ext>
            </a:extLst>
          </a:blip>
          <a:srcRect/>
          <a:stretch>
            <a:fillRect/>
          </a:stretch>
        </p:blipFill>
        <p:spPr>
          <a:xfrm>
            <a:off x="1" y="1"/>
            <a:ext cx="12192000" cy="6858000"/>
          </a:xfrm>
          <a:prstGeom prst="rect">
            <a:avLst/>
          </a:prstGeom>
        </p:spPr>
      </p:pic>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543749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606" imgH="608" progId="TCLayout.ActiveDocument.1">
                  <p:embed/>
                </p:oleObj>
              </mc:Choice>
              <mc:Fallback>
                <p:oleObj name="thinkcell Slide" r:id="rId9"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081D0576-49D8-26B3-E95C-58D3A15B730A}"/>
              </a:ext>
            </a:extLst>
          </p:cNvPr>
          <p:cNvSpPr/>
          <p:nvPr userDrawn="1"/>
        </p:nvSpPr>
        <p:spPr>
          <a:xfrm>
            <a:off x="0" y="0"/>
            <a:ext cx="12192000" cy="6858000"/>
          </a:xfrm>
          <a:prstGeom prst="rect">
            <a:avLst/>
          </a:prstGeom>
          <a:solidFill>
            <a:srgbClr val="282828">
              <a:alpha val="69804"/>
            </a:srgbClr>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16" name="2. Slide Title">
            <a:extLst>
              <a:ext uri="{FF2B5EF4-FFF2-40B4-BE49-F238E27FC236}">
                <a16:creationId xmlns:a16="http://schemas.microsoft.com/office/drawing/2014/main" id="{31175465-90B0-C6C5-C69E-8EF632BF77E7}"/>
              </a:ext>
            </a:extLst>
          </p:cNvPr>
          <p:cNvSpPr>
            <a:spLocks noGrp="1"/>
          </p:cNvSpPr>
          <p:nvPr>
            <p:ph type="title"/>
            <p:custDataLst>
              <p:tags r:id="rId2"/>
            </p:custDataLst>
          </p:nvPr>
        </p:nvSpPr>
        <p:spPr>
          <a:xfrm>
            <a:off x="560970" y="3428344"/>
            <a:ext cx="7918703" cy="731520"/>
          </a:xfrm>
        </p:spPr>
        <p:txBody>
          <a:bodyPr vert="horz"/>
          <a:lstStyle>
            <a:lvl1pPr>
              <a:defRPr sz="4800">
                <a:solidFill>
                  <a:schemeClr val="bg1"/>
                </a:solidFill>
              </a:defRPr>
            </a:lvl1pPr>
          </a:lstStyle>
          <a:p>
            <a:endParaRPr lang="en-US" dirty="0"/>
          </a:p>
        </p:txBody>
      </p:sp>
      <p:sp>
        <p:nvSpPr>
          <p:cNvPr id="17" name="2. Slide Title">
            <a:extLst>
              <a:ext uri="{FF2B5EF4-FFF2-40B4-BE49-F238E27FC236}">
                <a16:creationId xmlns:a16="http://schemas.microsoft.com/office/drawing/2014/main" id="{D1A48DE1-A930-33B3-D9CE-D6E5F05BA3CD}"/>
              </a:ext>
            </a:extLst>
          </p:cNvPr>
          <p:cNvSpPr txBox="1">
            <a:spLocks/>
          </p:cNvSpPr>
          <p:nvPr userDrawn="1">
            <p:custDataLst>
              <p:tags r:id="rId3"/>
            </p:custDataLst>
          </p:nvPr>
        </p:nvSpPr>
        <p:spPr>
          <a:xfrm>
            <a:off x="458011" y="2246617"/>
            <a:ext cx="7918703" cy="731520"/>
          </a:xfrm>
          <a:prstGeom prst="rect">
            <a:avLst/>
          </a:prstGeom>
        </p:spPr>
        <p:txBody>
          <a:bodyPr vert="horz" wrap="square" lIns="0" tIns="0" rIns="0" bIns="0" rtlCol="0" anchor="b" anchorCtr="0">
            <a:noAutofit/>
          </a:bodyPr>
          <a:lstStyle>
            <a:lvl1pPr algn="l" defTabSz="914400" rtl="0" eaLnBrk="1" latinLnBrk="0" hangingPunct="1">
              <a:lnSpc>
                <a:spcPct val="90000"/>
              </a:lnSpc>
              <a:spcBef>
                <a:spcPct val="0"/>
              </a:spcBef>
              <a:buNone/>
              <a:defRPr sz="4800" kern="1200">
                <a:solidFill>
                  <a:schemeClr val="bg1"/>
                </a:solidFill>
                <a:latin typeface="+mj-lt"/>
                <a:ea typeface="+mj-ea"/>
                <a:cs typeface="+mj-cs"/>
              </a:defRPr>
            </a:lvl1pPr>
          </a:lstStyle>
          <a:p>
            <a:endParaRPr lang="en-US"/>
          </a:p>
        </p:txBody>
      </p:sp>
      <p:sp>
        <p:nvSpPr>
          <p:cNvPr id="4" name="2. Slide Title">
            <a:extLst>
              <a:ext uri="{FF2B5EF4-FFF2-40B4-BE49-F238E27FC236}">
                <a16:creationId xmlns:a16="http://schemas.microsoft.com/office/drawing/2014/main" id="{54C57EC4-3892-BC12-B621-313BC72C097D}"/>
              </a:ext>
            </a:extLst>
          </p:cNvPr>
          <p:cNvSpPr txBox="1">
            <a:spLocks/>
          </p:cNvSpPr>
          <p:nvPr userDrawn="1">
            <p:custDataLst>
              <p:tags r:id="rId4"/>
            </p:custDataLst>
          </p:nvPr>
        </p:nvSpPr>
        <p:spPr>
          <a:xfrm>
            <a:off x="458011" y="1815460"/>
            <a:ext cx="7918703" cy="731520"/>
          </a:xfrm>
          <a:prstGeom prst="rect">
            <a:avLst/>
          </a:prstGeom>
        </p:spPr>
        <p:txBody>
          <a:bodyPr vert="horz" wrap="square" lIns="0" tIns="0" rIns="0" bIns="0" rtlCol="0" anchor="b" anchorCtr="0">
            <a:noAutofit/>
          </a:bodyPr>
          <a:lstStyle>
            <a:lvl1pPr algn="l" defTabSz="914400" rtl="0" eaLnBrk="1" latinLnBrk="0" hangingPunct="1">
              <a:lnSpc>
                <a:spcPct val="90000"/>
              </a:lnSpc>
              <a:spcBef>
                <a:spcPct val="0"/>
              </a:spcBef>
              <a:buNone/>
              <a:defRPr sz="4800" kern="1200">
                <a:solidFill>
                  <a:schemeClr val="bg1"/>
                </a:solidFill>
                <a:latin typeface="+mj-lt"/>
                <a:ea typeface="+mj-ea"/>
                <a:cs typeface="+mj-cs"/>
              </a:defRPr>
            </a:lvl1pPr>
          </a:lstStyle>
          <a:p>
            <a:endParaRPr lang="en-US"/>
          </a:p>
        </p:txBody>
      </p:sp>
      <p:sp>
        <p:nvSpPr>
          <p:cNvPr id="11" name="3. Subtitle">
            <a:extLst>
              <a:ext uri="{FF2B5EF4-FFF2-40B4-BE49-F238E27FC236}">
                <a16:creationId xmlns:a16="http://schemas.microsoft.com/office/drawing/2014/main" id="{57F75B52-1739-892A-B396-ACFDFE6FA383}"/>
              </a:ext>
            </a:extLst>
          </p:cNvPr>
          <p:cNvSpPr>
            <a:spLocks noGrp="1"/>
          </p:cNvSpPr>
          <p:nvPr>
            <p:ph type="subTitle" idx="1" hasCustomPrompt="1"/>
            <p:custDataLst>
              <p:tags r:id="rId5"/>
            </p:custDataLst>
          </p:nvPr>
        </p:nvSpPr>
        <p:spPr>
          <a:xfrm>
            <a:off x="560970" y="1465792"/>
            <a:ext cx="1333698" cy="1501775"/>
          </a:xfrm>
        </p:spPr>
        <p:txBody>
          <a:bodyPr wrap="square" anchor="b">
            <a:noAutofit/>
          </a:bodyPr>
          <a:lstStyle>
            <a:lvl1pPr marL="0" indent="0" algn="l">
              <a:buNone/>
              <a:defRPr sz="115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t>
            </a:r>
          </a:p>
        </p:txBody>
      </p:sp>
      <p:sp>
        <p:nvSpPr>
          <p:cNvPr id="12" name="Slide Number">
            <a:extLst>
              <a:ext uri="{FF2B5EF4-FFF2-40B4-BE49-F238E27FC236}">
                <a16:creationId xmlns:a16="http://schemas.microsoft.com/office/drawing/2014/main" id="{73D4F6C3-4F88-BB74-2B64-73E323F82FBD}"/>
              </a:ext>
            </a:extLst>
          </p:cNvPr>
          <p:cNvSpPr>
            <a:spLocks noChangeArrowheads="1"/>
          </p:cNvSpPr>
          <p:nvPr userDrawn="1">
            <p:custDataLst>
              <p:tags r:id="rId6"/>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sp>
        <p:nvSpPr>
          <p:cNvPr id="13" name="TextBox 12">
            <a:extLst>
              <a:ext uri="{FF2B5EF4-FFF2-40B4-BE49-F238E27FC236}">
                <a16:creationId xmlns:a16="http://schemas.microsoft.com/office/drawing/2014/main" id="{EBFA3099-1C19-A53B-EDB1-108D7B5CDEF3}"/>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bg1"/>
                </a:solidFill>
                <a:latin typeface="+mn-lt"/>
                <a:ea typeface="Lato Light" panose="020F0502020204030203" pitchFamily="34" charset="0"/>
                <a:cs typeface="Lato Light" panose="020F0502020204030203" pitchFamily="34" charset="0"/>
              </a:rPr>
              <a:t>©Telesto Strategy LLC 2026</a:t>
            </a:r>
          </a:p>
        </p:txBody>
      </p:sp>
      <p:pic>
        <p:nvPicPr>
          <p:cNvPr id="7" name="Picture 6">
            <a:extLst>
              <a:ext uri="{FF2B5EF4-FFF2-40B4-BE49-F238E27FC236}">
                <a16:creationId xmlns:a16="http://schemas.microsoft.com/office/drawing/2014/main" id="{5304AD7A-DD97-A54E-308A-BC908EF267D7}"/>
              </a:ext>
            </a:extLst>
          </p:cNvPr>
          <p:cNvPicPr>
            <a:picLocks noChangeAspect="1"/>
          </p:cNvPicPr>
          <p:nvPr userDrawn="1"/>
        </p:nvPicPr>
        <p:blipFill>
          <a:blip r:embed="rId11" cstate="hqprint">
            <a:extLst>
              <a:ext uri="{28A0092B-C50C-407E-A947-70E740481C1C}">
                <a14:useLocalDpi xmlns:a14="http://schemas.microsoft.com/office/drawing/2010/main"/>
              </a:ext>
            </a:extLst>
          </a:blip>
          <a:stretch>
            <a:fillRect/>
          </a:stretch>
        </p:blipFill>
        <p:spPr>
          <a:xfrm>
            <a:off x="548145" y="6320941"/>
            <a:ext cx="1188720" cy="475488"/>
          </a:xfrm>
          <a:prstGeom prst="rect">
            <a:avLst/>
          </a:prstGeom>
        </p:spPr>
      </p:pic>
    </p:spTree>
    <p:extLst>
      <p:ext uri="{BB962C8B-B14F-4D97-AF65-F5344CB8AC3E}">
        <p14:creationId xmlns:p14="http://schemas.microsoft.com/office/powerpoint/2010/main" val="25950356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Break (Contrast)">
    <p:bg>
      <p:bgPr>
        <a:solidFill>
          <a:srgbClr val="282828"/>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543749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16" name="2. Slide Title">
            <a:extLst>
              <a:ext uri="{FF2B5EF4-FFF2-40B4-BE49-F238E27FC236}">
                <a16:creationId xmlns:a16="http://schemas.microsoft.com/office/drawing/2014/main" id="{31175465-90B0-C6C5-C69E-8EF632BF77E7}"/>
              </a:ext>
            </a:extLst>
          </p:cNvPr>
          <p:cNvSpPr>
            <a:spLocks noGrp="1"/>
          </p:cNvSpPr>
          <p:nvPr>
            <p:ph type="title"/>
            <p:custDataLst>
              <p:tags r:id="rId2"/>
            </p:custDataLst>
          </p:nvPr>
        </p:nvSpPr>
        <p:spPr>
          <a:xfrm>
            <a:off x="554083" y="3428344"/>
            <a:ext cx="7918703" cy="731520"/>
          </a:xfrm>
        </p:spPr>
        <p:txBody>
          <a:bodyPr vert="horz"/>
          <a:lstStyle>
            <a:lvl1pPr>
              <a:defRPr sz="4800">
                <a:solidFill>
                  <a:schemeClr val="bg1"/>
                </a:solidFill>
              </a:defRPr>
            </a:lvl1pPr>
          </a:lstStyle>
          <a:p>
            <a:endParaRPr lang="en-US"/>
          </a:p>
        </p:txBody>
      </p:sp>
      <p:sp>
        <p:nvSpPr>
          <p:cNvPr id="17" name="2. Slide Title">
            <a:extLst>
              <a:ext uri="{FF2B5EF4-FFF2-40B4-BE49-F238E27FC236}">
                <a16:creationId xmlns:a16="http://schemas.microsoft.com/office/drawing/2014/main" id="{D1A48DE1-A930-33B3-D9CE-D6E5F05BA3CD}"/>
              </a:ext>
            </a:extLst>
          </p:cNvPr>
          <p:cNvSpPr txBox="1">
            <a:spLocks/>
          </p:cNvSpPr>
          <p:nvPr userDrawn="1">
            <p:custDataLst>
              <p:tags r:id="rId3"/>
            </p:custDataLst>
          </p:nvPr>
        </p:nvSpPr>
        <p:spPr>
          <a:xfrm>
            <a:off x="458011" y="2246617"/>
            <a:ext cx="7918703" cy="731520"/>
          </a:xfrm>
          <a:prstGeom prst="rect">
            <a:avLst/>
          </a:prstGeom>
        </p:spPr>
        <p:txBody>
          <a:bodyPr vert="horz" wrap="square" lIns="0" tIns="0" rIns="0" bIns="0" rtlCol="0" anchor="b" anchorCtr="0">
            <a:noAutofit/>
          </a:bodyPr>
          <a:lstStyle>
            <a:lvl1pPr algn="l" defTabSz="914400" rtl="0" eaLnBrk="1" latinLnBrk="0" hangingPunct="1">
              <a:lnSpc>
                <a:spcPct val="90000"/>
              </a:lnSpc>
              <a:spcBef>
                <a:spcPct val="0"/>
              </a:spcBef>
              <a:buNone/>
              <a:defRPr sz="4800" kern="1200">
                <a:solidFill>
                  <a:schemeClr val="bg1"/>
                </a:solidFill>
                <a:latin typeface="+mj-lt"/>
                <a:ea typeface="+mj-ea"/>
                <a:cs typeface="+mj-cs"/>
              </a:defRPr>
            </a:lvl1pPr>
          </a:lstStyle>
          <a:p>
            <a:endParaRPr lang="en-US"/>
          </a:p>
        </p:txBody>
      </p:sp>
      <p:sp>
        <p:nvSpPr>
          <p:cNvPr id="4" name="2. Slide Title">
            <a:extLst>
              <a:ext uri="{FF2B5EF4-FFF2-40B4-BE49-F238E27FC236}">
                <a16:creationId xmlns:a16="http://schemas.microsoft.com/office/drawing/2014/main" id="{54C57EC4-3892-BC12-B621-313BC72C097D}"/>
              </a:ext>
            </a:extLst>
          </p:cNvPr>
          <p:cNvSpPr txBox="1">
            <a:spLocks/>
          </p:cNvSpPr>
          <p:nvPr userDrawn="1">
            <p:custDataLst>
              <p:tags r:id="rId4"/>
            </p:custDataLst>
          </p:nvPr>
        </p:nvSpPr>
        <p:spPr>
          <a:xfrm>
            <a:off x="458011" y="1815460"/>
            <a:ext cx="7918703" cy="731520"/>
          </a:xfrm>
          <a:prstGeom prst="rect">
            <a:avLst/>
          </a:prstGeom>
        </p:spPr>
        <p:txBody>
          <a:bodyPr vert="horz" wrap="square" lIns="0" tIns="0" rIns="0" bIns="0" rtlCol="0" anchor="b" anchorCtr="0">
            <a:noAutofit/>
          </a:bodyPr>
          <a:lstStyle>
            <a:lvl1pPr algn="l" defTabSz="914400" rtl="0" eaLnBrk="1" latinLnBrk="0" hangingPunct="1">
              <a:lnSpc>
                <a:spcPct val="90000"/>
              </a:lnSpc>
              <a:spcBef>
                <a:spcPct val="0"/>
              </a:spcBef>
              <a:buNone/>
              <a:defRPr sz="4800" kern="1200">
                <a:solidFill>
                  <a:schemeClr val="bg1"/>
                </a:solidFill>
                <a:latin typeface="+mj-lt"/>
                <a:ea typeface="+mj-ea"/>
                <a:cs typeface="+mj-cs"/>
              </a:defRPr>
            </a:lvl1pPr>
          </a:lstStyle>
          <a:p>
            <a:endParaRPr lang="en-US"/>
          </a:p>
        </p:txBody>
      </p:sp>
      <p:sp>
        <p:nvSpPr>
          <p:cNvPr id="11" name="3. Subtitle">
            <a:extLst>
              <a:ext uri="{FF2B5EF4-FFF2-40B4-BE49-F238E27FC236}">
                <a16:creationId xmlns:a16="http://schemas.microsoft.com/office/drawing/2014/main" id="{57F75B52-1739-892A-B396-ACFDFE6FA383}"/>
              </a:ext>
            </a:extLst>
          </p:cNvPr>
          <p:cNvSpPr>
            <a:spLocks noGrp="1"/>
          </p:cNvSpPr>
          <p:nvPr>
            <p:ph type="subTitle" idx="1" hasCustomPrompt="1"/>
            <p:custDataLst>
              <p:tags r:id="rId5"/>
            </p:custDataLst>
          </p:nvPr>
        </p:nvSpPr>
        <p:spPr>
          <a:xfrm>
            <a:off x="554083" y="1465792"/>
            <a:ext cx="1333698" cy="1501775"/>
          </a:xfrm>
        </p:spPr>
        <p:txBody>
          <a:bodyPr wrap="square" anchor="b">
            <a:noAutofit/>
          </a:bodyPr>
          <a:lstStyle>
            <a:lvl1pPr marL="0" indent="0" algn="l">
              <a:buNone/>
              <a:defRPr sz="115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t>
            </a:r>
          </a:p>
        </p:txBody>
      </p:sp>
      <p:sp>
        <p:nvSpPr>
          <p:cNvPr id="10" name="Slide Number">
            <a:extLst>
              <a:ext uri="{FF2B5EF4-FFF2-40B4-BE49-F238E27FC236}">
                <a16:creationId xmlns:a16="http://schemas.microsoft.com/office/drawing/2014/main" id="{9CBEFA67-C762-BA75-0184-7041FDF594D2}"/>
              </a:ext>
            </a:extLst>
          </p:cNvPr>
          <p:cNvSpPr>
            <a:spLocks noChangeArrowheads="1"/>
          </p:cNvSpPr>
          <p:nvPr userDrawn="1">
            <p:custDataLst>
              <p:tags r:id="rId6"/>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sp>
        <p:nvSpPr>
          <p:cNvPr id="12" name="TextBox 11">
            <a:extLst>
              <a:ext uri="{FF2B5EF4-FFF2-40B4-BE49-F238E27FC236}">
                <a16:creationId xmlns:a16="http://schemas.microsoft.com/office/drawing/2014/main" id="{310A64DE-350A-99AF-AAED-D60342956439}"/>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dirty="0">
                <a:solidFill>
                  <a:schemeClr val="bg1"/>
                </a:solidFill>
                <a:latin typeface="+mn-lt"/>
                <a:ea typeface="Lato Light" panose="020F0502020204030203" pitchFamily="34" charset="0"/>
                <a:cs typeface="Lato Light" panose="020F0502020204030203" pitchFamily="34" charset="0"/>
              </a:rPr>
              <a:t>©Telesto Strategy LLC 2026</a:t>
            </a:r>
          </a:p>
        </p:txBody>
      </p:sp>
      <p:pic>
        <p:nvPicPr>
          <p:cNvPr id="7" name="Picture 6">
            <a:extLst>
              <a:ext uri="{FF2B5EF4-FFF2-40B4-BE49-F238E27FC236}">
                <a16:creationId xmlns:a16="http://schemas.microsoft.com/office/drawing/2014/main" id="{0857F535-1D45-0634-1CD4-142AF26D2BE5}"/>
              </a:ext>
            </a:extLst>
          </p:cNvPr>
          <p:cNvPicPr>
            <a:picLocks noChangeAspect="1"/>
          </p:cNvPicPr>
          <p:nvPr userDrawn="1"/>
        </p:nvPicPr>
        <p:blipFill>
          <a:blip r:embed="rId10" cstate="hqprint">
            <a:extLst>
              <a:ext uri="{28A0092B-C50C-407E-A947-70E740481C1C}">
                <a14:useLocalDpi xmlns:a14="http://schemas.microsoft.com/office/drawing/2010/main"/>
              </a:ext>
            </a:extLst>
          </a:blip>
          <a:stretch>
            <a:fillRect/>
          </a:stretch>
        </p:blipFill>
        <p:spPr>
          <a:xfrm>
            <a:off x="548145" y="6320941"/>
            <a:ext cx="1188720" cy="475488"/>
          </a:xfrm>
          <a:prstGeom prst="rect">
            <a:avLst/>
          </a:prstGeom>
        </p:spPr>
      </p:pic>
    </p:spTree>
    <p:extLst>
      <p:ext uri="{BB962C8B-B14F-4D97-AF65-F5344CB8AC3E}">
        <p14:creationId xmlns:p14="http://schemas.microsoft.com/office/powerpoint/2010/main" val="30269360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36" userDrawn="1">
          <p15:clr>
            <a:srgbClr val="FBAE40"/>
          </p15:clr>
        </p15:guide>
        <p15:guide id="4" orient="horz" pos="398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Break">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9041258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606" imgH="608" progId="TCLayout.ActiveDocument.1">
                  <p:embed/>
                </p:oleObj>
              </mc:Choice>
              <mc:Fallback>
                <p:oleObj name="thinkcell Slide" r:id="rId7"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16" name="2. Slide Title">
            <a:extLst>
              <a:ext uri="{FF2B5EF4-FFF2-40B4-BE49-F238E27FC236}">
                <a16:creationId xmlns:a16="http://schemas.microsoft.com/office/drawing/2014/main" id="{31175465-90B0-C6C5-C69E-8EF632BF77E7}"/>
              </a:ext>
            </a:extLst>
          </p:cNvPr>
          <p:cNvSpPr>
            <a:spLocks noGrp="1"/>
          </p:cNvSpPr>
          <p:nvPr>
            <p:ph type="title"/>
            <p:custDataLst>
              <p:tags r:id="rId2"/>
            </p:custDataLst>
          </p:nvPr>
        </p:nvSpPr>
        <p:spPr>
          <a:xfrm>
            <a:off x="543349" y="3428344"/>
            <a:ext cx="7918703" cy="731520"/>
          </a:xfrm>
        </p:spPr>
        <p:txBody>
          <a:bodyPr vert="horz"/>
          <a:lstStyle>
            <a:lvl1pPr>
              <a:defRPr sz="4800">
                <a:solidFill>
                  <a:schemeClr val="tx1">
                    <a:lumMod val="90000"/>
                    <a:lumOff val="10000"/>
                  </a:schemeClr>
                </a:solidFill>
              </a:defRPr>
            </a:lvl1pPr>
          </a:lstStyle>
          <a:p>
            <a:endParaRPr lang="en-US"/>
          </a:p>
        </p:txBody>
      </p:sp>
      <p:sp>
        <p:nvSpPr>
          <p:cNvPr id="17" name="2. Slide Title">
            <a:extLst>
              <a:ext uri="{FF2B5EF4-FFF2-40B4-BE49-F238E27FC236}">
                <a16:creationId xmlns:a16="http://schemas.microsoft.com/office/drawing/2014/main" id="{D1A48DE1-A930-33B3-D9CE-D6E5F05BA3CD}"/>
              </a:ext>
            </a:extLst>
          </p:cNvPr>
          <p:cNvSpPr txBox="1">
            <a:spLocks/>
          </p:cNvSpPr>
          <p:nvPr userDrawn="1">
            <p:custDataLst>
              <p:tags r:id="rId3"/>
            </p:custDataLst>
          </p:nvPr>
        </p:nvSpPr>
        <p:spPr>
          <a:xfrm>
            <a:off x="458011" y="2246617"/>
            <a:ext cx="7918703" cy="731520"/>
          </a:xfrm>
          <a:prstGeom prst="rect">
            <a:avLst/>
          </a:prstGeom>
        </p:spPr>
        <p:txBody>
          <a:bodyPr vert="horz" wrap="square" lIns="0" tIns="0" rIns="0" bIns="0" rtlCol="0" anchor="b" anchorCtr="0">
            <a:noAutofit/>
          </a:bodyPr>
          <a:lstStyle>
            <a:lvl1pPr algn="l" defTabSz="914400" rtl="0" eaLnBrk="1" latinLnBrk="0" hangingPunct="1">
              <a:lnSpc>
                <a:spcPct val="90000"/>
              </a:lnSpc>
              <a:spcBef>
                <a:spcPct val="0"/>
              </a:spcBef>
              <a:buNone/>
              <a:defRPr sz="4800" kern="1200">
                <a:solidFill>
                  <a:schemeClr val="bg1"/>
                </a:solidFill>
                <a:latin typeface="+mj-lt"/>
                <a:ea typeface="+mj-ea"/>
                <a:cs typeface="+mj-cs"/>
              </a:defRPr>
            </a:lvl1pPr>
          </a:lstStyle>
          <a:p>
            <a:endParaRPr lang="en-US">
              <a:solidFill>
                <a:schemeClr val="tx1">
                  <a:lumMod val="90000"/>
                  <a:lumOff val="10000"/>
                </a:schemeClr>
              </a:solidFill>
            </a:endParaRPr>
          </a:p>
        </p:txBody>
      </p:sp>
      <p:sp>
        <p:nvSpPr>
          <p:cNvPr id="7" name="3. Subtitle">
            <a:extLst>
              <a:ext uri="{FF2B5EF4-FFF2-40B4-BE49-F238E27FC236}">
                <a16:creationId xmlns:a16="http://schemas.microsoft.com/office/drawing/2014/main" id="{8B21B024-D01D-AA2A-D573-1887DC21A121}"/>
              </a:ext>
            </a:extLst>
          </p:cNvPr>
          <p:cNvSpPr>
            <a:spLocks noGrp="1"/>
          </p:cNvSpPr>
          <p:nvPr>
            <p:ph type="subTitle" idx="1" hasCustomPrompt="1"/>
            <p:custDataLst>
              <p:tags r:id="rId4"/>
            </p:custDataLst>
          </p:nvPr>
        </p:nvSpPr>
        <p:spPr>
          <a:xfrm>
            <a:off x="543349" y="1465792"/>
            <a:ext cx="1333698" cy="1501775"/>
          </a:xfrm>
        </p:spPr>
        <p:txBody>
          <a:bodyPr wrap="square" anchor="b">
            <a:noAutofit/>
          </a:bodyPr>
          <a:lstStyle>
            <a:lvl1pPr marL="0" indent="0" algn="l">
              <a:buNone/>
              <a:defRPr sz="11500" b="0">
                <a:solidFill>
                  <a:schemeClr val="tx1">
                    <a:lumMod val="90000"/>
                    <a:lumOff val="10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t>
            </a:r>
          </a:p>
        </p:txBody>
      </p:sp>
      <p:pic>
        <p:nvPicPr>
          <p:cNvPr id="3" name="Picture 2">
            <a:extLst>
              <a:ext uri="{FF2B5EF4-FFF2-40B4-BE49-F238E27FC236}">
                <a16:creationId xmlns:a16="http://schemas.microsoft.com/office/drawing/2014/main" id="{D854524C-3D54-522A-C305-6D0C6BCA2CE9}"/>
              </a:ext>
            </a:extLst>
          </p:cNvPr>
          <p:cNvPicPr>
            <a:picLocks noChangeAspect="1"/>
          </p:cNvPicPr>
          <p:nvPr userDrawn="1"/>
        </p:nvPicPr>
        <p:blipFill>
          <a:blip r:embed="rId9" cstate="hqprint">
            <a:extLst>
              <a:ext uri="{28A0092B-C50C-407E-A947-70E740481C1C}">
                <a14:useLocalDpi xmlns:a14="http://schemas.microsoft.com/office/drawing/2010/main"/>
              </a:ext>
            </a:extLst>
          </a:blip>
          <a:stretch>
            <a:fillRect/>
          </a:stretch>
        </p:blipFill>
        <p:spPr>
          <a:xfrm>
            <a:off x="543349" y="6322775"/>
            <a:ext cx="1188720" cy="475488"/>
          </a:xfrm>
          <a:prstGeom prst="rect">
            <a:avLst/>
          </a:prstGeom>
        </p:spPr>
      </p:pic>
      <p:sp>
        <p:nvSpPr>
          <p:cNvPr id="4" name="Slide Number">
            <a:extLst>
              <a:ext uri="{FF2B5EF4-FFF2-40B4-BE49-F238E27FC236}">
                <a16:creationId xmlns:a16="http://schemas.microsoft.com/office/drawing/2014/main" id="{1E0A4CBB-B7DE-A584-BAAF-3EA40EFC462A}"/>
              </a:ext>
            </a:extLst>
          </p:cNvPr>
          <p:cNvSpPr>
            <a:spLocks noChangeArrowheads="1"/>
          </p:cNvSpPr>
          <p:nvPr userDrawn="1">
            <p:custDataLst>
              <p:tags r:id="rId5"/>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9" name="TextBox 8">
            <a:extLst>
              <a:ext uri="{FF2B5EF4-FFF2-40B4-BE49-F238E27FC236}">
                <a16:creationId xmlns:a16="http://schemas.microsoft.com/office/drawing/2014/main" id="{8229F34D-92C2-67EE-F9A3-4B474730D208}"/>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tx1"/>
                </a:solidFill>
                <a:latin typeface="+mn-lt"/>
                <a:ea typeface="Lato Light" panose="020F0502020204030203" pitchFamily="34" charset="0"/>
                <a:cs typeface="Lato Light" panose="020F0502020204030203" pitchFamily="34" charset="0"/>
              </a:rPr>
              <a:t>©Telesto Strategy LLC 2026</a:t>
            </a:r>
          </a:p>
        </p:txBody>
      </p:sp>
    </p:spTree>
    <p:extLst>
      <p:ext uri="{BB962C8B-B14F-4D97-AF65-F5344CB8AC3E}">
        <p14:creationId xmlns:p14="http://schemas.microsoft.com/office/powerpoint/2010/main" val="1640731989"/>
      </p:ext>
    </p:extLst>
  </p:cSld>
  <p:clrMapOvr>
    <a:masterClrMapping/>
  </p:clrMapOvr>
  <p:extLst>
    <p:ext uri="{DCECCB84-F9BA-43D5-87BE-67443E8EF086}">
      <p15:sldGuideLst xmlns:p15="http://schemas.microsoft.com/office/powerpoint/2012/main">
        <p15:guide id="1" orient="horz" pos="3984" userDrawn="1">
          <p15:clr>
            <a:srgbClr val="FBAE40"/>
          </p15:clr>
        </p15:guide>
        <p15:guide id="2" pos="3840" userDrawn="1">
          <p15:clr>
            <a:srgbClr val="FBAE40"/>
          </p15:clr>
        </p15:guide>
        <p15:guide id="4" orient="horz" pos="216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hapter Brea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21CDDF-4DF1-7114-2E19-D8799119A9A2}"/>
              </a:ext>
            </a:extLst>
          </p:cNvPr>
          <p:cNvPicPr>
            <a:picLocks noChangeAspect="1"/>
          </p:cNvPicPr>
          <p:nvPr userDrawn="1"/>
        </p:nvPicPr>
        <p:blipFill rotWithShape="1">
          <a:blip r:embed="rId7">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968D9C71-AE6D-C9A2-82C4-9D5402CFBDEA}"/>
              </a:ext>
            </a:extLst>
          </p:cNvPr>
          <p:cNvSpPr/>
          <p:nvPr userDrawn="1"/>
        </p:nvSpPr>
        <p:spPr>
          <a:xfrm>
            <a:off x="0" y="-3574"/>
            <a:ext cx="12192000" cy="6861574"/>
          </a:xfrm>
          <a:prstGeom prst="rect">
            <a:avLst/>
          </a:prstGeom>
          <a:solidFill>
            <a:srgbClr val="FFFFFF">
              <a:alpha val="74902"/>
            </a:srgbClr>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9041258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16" name="2. Slide Title">
            <a:extLst>
              <a:ext uri="{FF2B5EF4-FFF2-40B4-BE49-F238E27FC236}">
                <a16:creationId xmlns:a16="http://schemas.microsoft.com/office/drawing/2014/main" id="{31175465-90B0-C6C5-C69E-8EF632BF77E7}"/>
              </a:ext>
            </a:extLst>
          </p:cNvPr>
          <p:cNvSpPr>
            <a:spLocks noGrp="1"/>
          </p:cNvSpPr>
          <p:nvPr>
            <p:ph type="title"/>
            <p:custDataLst>
              <p:tags r:id="rId2"/>
            </p:custDataLst>
          </p:nvPr>
        </p:nvSpPr>
        <p:spPr>
          <a:xfrm>
            <a:off x="543248" y="3428344"/>
            <a:ext cx="7918703" cy="731520"/>
          </a:xfrm>
        </p:spPr>
        <p:txBody>
          <a:bodyPr vert="horz"/>
          <a:lstStyle>
            <a:lvl1pPr>
              <a:defRPr sz="4800">
                <a:solidFill>
                  <a:schemeClr val="tx1">
                    <a:lumMod val="90000"/>
                    <a:lumOff val="10000"/>
                  </a:schemeClr>
                </a:solidFill>
              </a:defRPr>
            </a:lvl1pPr>
          </a:lstStyle>
          <a:p>
            <a:endParaRPr lang="en-US"/>
          </a:p>
        </p:txBody>
      </p:sp>
      <p:sp>
        <p:nvSpPr>
          <p:cNvPr id="17" name="2. Slide Title">
            <a:extLst>
              <a:ext uri="{FF2B5EF4-FFF2-40B4-BE49-F238E27FC236}">
                <a16:creationId xmlns:a16="http://schemas.microsoft.com/office/drawing/2014/main" id="{D1A48DE1-A930-33B3-D9CE-D6E5F05BA3CD}"/>
              </a:ext>
            </a:extLst>
          </p:cNvPr>
          <p:cNvSpPr txBox="1">
            <a:spLocks/>
          </p:cNvSpPr>
          <p:nvPr userDrawn="1">
            <p:custDataLst>
              <p:tags r:id="rId3"/>
            </p:custDataLst>
          </p:nvPr>
        </p:nvSpPr>
        <p:spPr>
          <a:xfrm>
            <a:off x="458011" y="2246617"/>
            <a:ext cx="7918703" cy="731520"/>
          </a:xfrm>
          <a:prstGeom prst="rect">
            <a:avLst/>
          </a:prstGeom>
        </p:spPr>
        <p:txBody>
          <a:bodyPr vert="horz" wrap="square" lIns="0" tIns="0" rIns="0" bIns="0" rtlCol="0" anchor="b" anchorCtr="0">
            <a:noAutofit/>
          </a:bodyPr>
          <a:lstStyle>
            <a:lvl1pPr algn="l" defTabSz="914400" rtl="0" eaLnBrk="1" latinLnBrk="0" hangingPunct="1">
              <a:lnSpc>
                <a:spcPct val="90000"/>
              </a:lnSpc>
              <a:spcBef>
                <a:spcPct val="0"/>
              </a:spcBef>
              <a:buNone/>
              <a:defRPr sz="4800" kern="1200">
                <a:solidFill>
                  <a:schemeClr val="bg1"/>
                </a:solidFill>
                <a:latin typeface="+mj-lt"/>
                <a:ea typeface="+mj-ea"/>
                <a:cs typeface="+mj-cs"/>
              </a:defRPr>
            </a:lvl1pPr>
          </a:lstStyle>
          <a:p>
            <a:endParaRPr lang="en-US">
              <a:solidFill>
                <a:schemeClr val="tx1">
                  <a:lumMod val="90000"/>
                  <a:lumOff val="10000"/>
                </a:schemeClr>
              </a:solidFill>
            </a:endParaRPr>
          </a:p>
        </p:txBody>
      </p:sp>
      <p:sp>
        <p:nvSpPr>
          <p:cNvPr id="7" name="3. Subtitle">
            <a:extLst>
              <a:ext uri="{FF2B5EF4-FFF2-40B4-BE49-F238E27FC236}">
                <a16:creationId xmlns:a16="http://schemas.microsoft.com/office/drawing/2014/main" id="{8B21B024-D01D-AA2A-D573-1887DC21A121}"/>
              </a:ext>
            </a:extLst>
          </p:cNvPr>
          <p:cNvSpPr>
            <a:spLocks noGrp="1"/>
          </p:cNvSpPr>
          <p:nvPr>
            <p:ph type="subTitle" idx="1" hasCustomPrompt="1"/>
            <p:custDataLst>
              <p:tags r:id="rId4"/>
            </p:custDataLst>
          </p:nvPr>
        </p:nvSpPr>
        <p:spPr>
          <a:xfrm>
            <a:off x="543248" y="1465792"/>
            <a:ext cx="1333698" cy="1501775"/>
          </a:xfrm>
        </p:spPr>
        <p:txBody>
          <a:bodyPr wrap="square" anchor="b">
            <a:noAutofit/>
          </a:bodyPr>
          <a:lstStyle>
            <a:lvl1pPr marL="0" indent="0" algn="l">
              <a:buNone/>
              <a:defRPr sz="11500" b="0">
                <a:solidFill>
                  <a:schemeClr val="tx1">
                    <a:lumMod val="90000"/>
                    <a:lumOff val="10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t>
            </a:r>
          </a:p>
        </p:txBody>
      </p:sp>
      <p:sp>
        <p:nvSpPr>
          <p:cNvPr id="9" name="Slide Number">
            <a:extLst>
              <a:ext uri="{FF2B5EF4-FFF2-40B4-BE49-F238E27FC236}">
                <a16:creationId xmlns:a16="http://schemas.microsoft.com/office/drawing/2014/main" id="{CF9BE4BB-B868-CD7C-065D-305AB24C057A}"/>
              </a:ext>
            </a:extLst>
          </p:cNvPr>
          <p:cNvSpPr>
            <a:spLocks noChangeArrowheads="1"/>
          </p:cNvSpPr>
          <p:nvPr userDrawn="1">
            <p:custDataLst>
              <p:tags r:id="rId5"/>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0" name="TextBox 9">
            <a:extLst>
              <a:ext uri="{FF2B5EF4-FFF2-40B4-BE49-F238E27FC236}">
                <a16:creationId xmlns:a16="http://schemas.microsoft.com/office/drawing/2014/main" id="{FB0C4C58-1BB0-3334-1DE9-B4E232014F77}"/>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tx1"/>
                </a:solidFill>
                <a:latin typeface="+mn-lt"/>
                <a:ea typeface="Lato Light" panose="020F0502020204030203" pitchFamily="34" charset="0"/>
                <a:cs typeface="Lato Light" panose="020F0502020204030203" pitchFamily="34" charset="0"/>
              </a:rPr>
              <a:t>©Telesto Strategy LLC 2026</a:t>
            </a:r>
          </a:p>
        </p:txBody>
      </p:sp>
      <p:pic>
        <p:nvPicPr>
          <p:cNvPr id="2" name="Picture 1">
            <a:extLst>
              <a:ext uri="{FF2B5EF4-FFF2-40B4-BE49-F238E27FC236}">
                <a16:creationId xmlns:a16="http://schemas.microsoft.com/office/drawing/2014/main" id="{C6F99614-6037-1DBA-06D9-D9E06B38D07C}"/>
              </a:ext>
            </a:extLst>
          </p:cNvPr>
          <p:cNvPicPr>
            <a:picLocks noChangeAspect="1"/>
          </p:cNvPicPr>
          <p:nvPr userDrawn="1"/>
        </p:nvPicPr>
        <p:blipFill>
          <a:blip r:embed="rId10" cstate="hqprint">
            <a:extLst>
              <a:ext uri="{28A0092B-C50C-407E-A947-70E740481C1C}">
                <a14:useLocalDpi xmlns:a14="http://schemas.microsoft.com/office/drawing/2010/main"/>
              </a:ext>
            </a:extLst>
          </a:blip>
          <a:stretch>
            <a:fillRect/>
          </a:stretch>
        </p:blipFill>
        <p:spPr>
          <a:xfrm>
            <a:off x="543248" y="6322775"/>
            <a:ext cx="1188720" cy="475488"/>
          </a:xfrm>
          <a:prstGeom prst="rect">
            <a:avLst/>
          </a:prstGeom>
        </p:spPr>
      </p:pic>
    </p:spTree>
    <p:extLst>
      <p:ext uri="{BB962C8B-B14F-4D97-AF65-F5344CB8AC3E}">
        <p14:creationId xmlns:p14="http://schemas.microsoft.com/office/powerpoint/2010/main" val="192245246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9162982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0" name="Slide Number">
            <a:extLst>
              <a:ext uri="{FF2B5EF4-FFF2-40B4-BE49-F238E27FC236}">
                <a16:creationId xmlns:a16="http://schemas.microsoft.com/office/drawing/2014/main" id="{B0C7DCE0-AB35-168B-F71C-39D0B5FF339E}"/>
              </a:ext>
            </a:extLst>
          </p:cNvPr>
          <p:cNvSpPr>
            <a:spLocks noChangeArrowheads="1"/>
          </p:cNvSpPr>
          <p:nvPr userDrawn="1">
            <p:custDataLst>
              <p:tags r:id="rId2"/>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3" name="2. Slide Title">
            <a:extLst>
              <a:ext uri="{FF2B5EF4-FFF2-40B4-BE49-F238E27FC236}">
                <a16:creationId xmlns:a16="http://schemas.microsoft.com/office/drawing/2014/main" id="{8557C46E-D820-D748-A948-C2D35571B833}"/>
              </a:ext>
            </a:extLst>
          </p:cNvPr>
          <p:cNvSpPr>
            <a:spLocks noGrp="1"/>
          </p:cNvSpPr>
          <p:nvPr>
            <p:ph type="title"/>
            <p:custDataLst>
              <p:tags r:id="rId3"/>
            </p:custDataLst>
          </p:nvPr>
        </p:nvSpPr>
        <p:spPr>
          <a:xfrm>
            <a:off x="554736" y="291264"/>
            <a:ext cx="11082528" cy="731520"/>
          </a:xfrm>
          <a:prstGeom prst="rect">
            <a:avLst/>
          </a:prstGeom>
        </p:spPr>
        <p:txBody>
          <a:bodyPr vert="horz" wrap="square" lIns="0" tIns="0" rIns="0" bIns="0" rtlCol="0" anchor="b" anchorCtr="0">
            <a:noAutofit/>
          </a:bodyPr>
          <a:lstStyle>
            <a:lvl1pPr>
              <a:defRPr sz="2600">
                <a:solidFill>
                  <a:schemeClr val="tx1"/>
                </a:solidFill>
              </a:defRPr>
            </a:lvl1pPr>
          </a:lstStyle>
          <a:p>
            <a:endParaRPr lang="en-US"/>
          </a:p>
        </p:txBody>
      </p:sp>
      <p:sp>
        <p:nvSpPr>
          <p:cNvPr id="4" name="3. Subtitle">
            <a:extLst>
              <a:ext uri="{FF2B5EF4-FFF2-40B4-BE49-F238E27FC236}">
                <a16:creationId xmlns:a16="http://schemas.microsoft.com/office/drawing/2014/main" id="{0376E815-6082-4113-B8E6-422BA7A9F5FD}"/>
              </a:ext>
            </a:extLst>
          </p:cNvPr>
          <p:cNvSpPr>
            <a:spLocks noGrp="1"/>
          </p:cNvSpPr>
          <p:nvPr>
            <p:ph type="subTitle" idx="1"/>
            <p:custDataLst>
              <p:tags r:id="rId4"/>
            </p:custDataLst>
          </p:nvPr>
        </p:nvSpPr>
        <p:spPr>
          <a:xfrm>
            <a:off x="554736" y="1075141"/>
            <a:ext cx="11082528" cy="276999"/>
          </a:xfr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sp>
        <p:nvSpPr>
          <p:cNvPr id="5" name="TextBox 4">
            <a:extLst>
              <a:ext uri="{FF2B5EF4-FFF2-40B4-BE49-F238E27FC236}">
                <a16:creationId xmlns:a16="http://schemas.microsoft.com/office/drawing/2014/main" id="{BA7E46C5-3207-971D-94FE-D0073C3B00A1}"/>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tx1"/>
                </a:solidFill>
                <a:latin typeface="+mn-lt"/>
                <a:ea typeface="Lato Light" panose="020F0502020204030203" pitchFamily="34" charset="0"/>
                <a:cs typeface="Lato Light" panose="020F0502020204030203" pitchFamily="34" charset="0"/>
              </a:rPr>
              <a:t>©Telesto Strategy LLC 2026</a:t>
            </a:r>
          </a:p>
        </p:txBody>
      </p:sp>
      <p:pic>
        <p:nvPicPr>
          <p:cNvPr id="2" name="Picture 1">
            <a:extLst>
              <a:ext uri="{FF2B5EF4-FFF2-40B4-BE49-F238E27FC236}">
                <a16:creationId xmlns:a16="http://schemas.microsoft.com/office/drawing/2014/main" id="{B903CBEB-270E-D2C4-9030-F9661F6A7EB2}"/>
              </a:ext>
            </a:extLst>
          </p:cNvPr>
          <p:cNvPicPr>
            <a:picLocks noChangeAspect="1"/>
          </p:cNvPicPr>
          <p:nvPr userDrawn="1"/>
        </p:nvPicPr>
        <p:blipFill>
          <a:blip r:embed="rId8" cstate="hqprint">
            <a:extLst>
              <a:ext uri="{28A0092B-C50C-407E-A947-70E740481C1C}">
                <a14:useLocalDpi xmlns:a14="http://schemas.microsoft.com/office/drawing/2010/main"/>
              </a:ext>
            </a:extLst>
          </a:blip>
          <a:stretch>
            <a:fillRect/>
          </a:stretch>
        </p:blipFill>
        <p:spPr>
          <a:xfrm>
            <a:off x="536627" y="6322775"/>
            <a:ext cx="1188720" cy="475488"/>
          </a:xfrm>
          <a:prstGeom prst="rect">
            <a:avLst/>
          </a:prstGeom>
        </p:spPr>
      </p:pic>
    </p:spTree>
    <p:extLst>
      <p:ext uri="{BB962C8B-B14F-4D97-AF65-F5344CB8AC3E}">
        <p14:creationId xmlns:p14="http://schemas.microsoft.com/office/powerpoint/2010/main" val="401269983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36"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Defaul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094776D-D5C5-D6C7-32EF-3CB00D8B9432}"/>
              </a:ext>
            </a:extLst>
          </p:cNvPr>
          <p:cNvPicPr>
            <a:picLocks noChangeAspect="1"/>
          </p:cNvPicPr>
          <p:nvPr userDrawn="1"/>
        </p:nvPicPr>
        <p:blipFill rotWithShape="1">
          <a:blip r:embed="rId6">
            <a:extLst>
              <a:ext uri="{28A0092B-C50C-407E-A947-70E740481C1C}">
                <a14:useLocalDpi xmlns:a14="http://schemas.microsoft.com/office/drawing/2010/main"/>
              </a:ext>
            </a:extLst>
          </a:blip>
          <a:srcRect/>
          <a:stretch>
            <a:fillRect/>
          </a:stretch>
        </p:blipFill>
        <p:spPr>
          <a:xfrm>
            <a:off x="0" y="-5255"/>
            <a:ext cx="12192000" cy="6858000"/>
          </a:xfrm>
          <a:prstGeom prst="rect">
            <a:avLst/>
          </a:prstGeom>
        </p:spPr>
      </p:pic>
      <p:sp>
        <p:nvSpPr>
          <p:cNvPr id="2" name="Rectangle 1">
            <a:extLst>
              <a:ext uri="{FF2B5EF4-FFF2-40B4-BE49-F238E27FC236}">
                <a16:creationId xmlns:a16="http://schemas.microsoft.com/office/drawing/2014/main" id="{5D6150D6-CB53-BE39-BB90-890843D88902}"/>
              </a:ext>
            </a:extLst>
          </p:cNvPr>
          <p:cNvSpPr/>
          <p:nvPr userDrawn="1"/>
        </p:nvSpPr>
        <p:spPr>
          <a:xfrm>
            <a:off x="0" y="5255"/>
            <a:ext cx="12192000" cy="6858000"/>
          </a:xfrm>
          <a:prstGeom prst="rect">
            <a:avLst/>
          </a:prstGeom>
          <a:solidFill>
            <a:srgbClr val="FFFFFF">
              <a:alpha val="81961"/>
            </a:srgbClr>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9162982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606" imgH="608" progId="TCLayout.ActiveDocument.1">
                  <p:embed/>
                </p:oleObj>
              </mc:Choice>
              <mc:Fallback>
                <p:oleObj name="thinkcell Slide" r:id="rId7"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10" name="Slide Number">
            <a:extLst>
              <a:ext uri="{FF2B5EF4-FFF2-40B4-BE49-F238E27FC236}">
                <a16:creationId xmlns:a16="http://schemas.microsoft.com/office/drawing/2014/main" id="{B0C7DCE0-AB35-168B-F71C-39D0B5FF339E}"/>
              </a:ext>
            </a:extLst>
          </p:cNvPr>
          <p:cNvSpPr>
            <a:spLocks noChangeArrowheads="1"/>
          </p:cNvSpPr>
          <p:nvPr userDrawn="1">
            <p:custDataLst>
              <p:tags r:id="rId2"/>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3" name="2. Slide Title">
            <a:extLst>
              <a:ext uri="{FF2B5EF4-FFF2-40B4-BE49-F238E27FC236}">
                <a16:creationId xmlns:a16="http://schemas.microsoft.com/office/drawing/2014/main" id="{8557C46E-D820-D748-A948-C2D35571B833}"/>
              </a:ext>
            </a:extLst>
          </p:cNvPr>
          <p:cNvSpPr>
            <a:spLocks noGrp="1"/>
          </p:cNvSpPr>
          <p:nvPr>
            <p:ph type="title"/>
            <p:custDataLst>
              <p:tags r:id="rId3"/>
            </p:custDataLst>
          </p:nvPr>
        </p:nvSpPr>
        <p:spPr>
          <a:xfrm>
            <a:off x="554736" y="291264"/>
            <a:ext cx="11082528" cy="731520"/>
          </a:xfrm>
          <a:prstGeom prst="rect">
            <a:avLst/>
          </a:prstGeom>
        </p:spPr>
        <p:txBody>
          <a:bodyPr vert="horz" wrap="square" lIns="0" tIns="0" rIns="0" bIns="0" rtlCol="0" anchor="b" anchorCtr="0">
            <a:noAutofit/>
          </a:bodyPr>
          <a:lstStyle>
            <a:lvl1pPr>
              <a:defRPr sz="2600">
                <a:solidFill>
                  <a:schemeClr val="tx1"/>
                </a:solidFill>
              </a:defRPr>
            </a:lvl1pPr>
          </a:lstStyle>
          <a:p>
            <a:endParaRPr lang="en-US"/>
          </a:p>
        </p:txBody>
      </p:sp>
      <p:sp>
        <p:nvSpPr>
          <p:cNvPr id="4" name="3. Subtitle">
            <a:extLst>
              <a:ext uri="{FF2B5EF4-FFF2-40B4-BE49-F238E27FC236}">
                <a16:creationId xmlns:a16="http://schemas.microsoft.com/office/drawing/2014/main" id="{0376E815-6082-4113-B8E6-422BA7A9F5FD}"/>
              </a:ext>
            </a:extLst>
          </p:cNvPr>
          <p:cNvSpPr>
            <a:spLocks noGrp="1"/>
          </p:cNvSpPr>
          <p:nvPr>
            <p:ph type="subTitle" idx="1"/>
            <p:custDataLst>
              <p:tags r:id="rId4"/>
            </p:custDataLst>
          </p:nvPr>
        </p:nvSpPr>
        <p:spPr>
          <a:xfrm>
            <a:off x="554736" y="1075141"/>
            <a:ext cx="11082528" cy="276999"/>
          </a:xfr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sp>
        <p:nvSpPr>
          <p:cNvPr id="5" name="TextBox 4">
            <a:extLst>
              <a:ext uri="{FF2B5EF4-FFF2-40B4-BE49-F238E27FC236}">
                <a16:creationId xmlns:a16="http://schemas.microsoft.com/office/drawing/2014/main" id="{BA7E46C5-3207-971D-94FE-D0073C3B00A1}"/>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tx1"/>
                </a:solidFill>
                <a:latin typeface="+mn-lt"/>
                <a:ea typeface="Lato Light" panose="020F0502020204030203" pitchFamily="34" charset="0"/>
                <a:cs typeface="Lato Light" panose="020F0502020204030203" pitchFamily="34" charset="0"/>
              </a:rPr>
              <a:t>©Telesto Strategy LLC 2026</a:t>
            </a:r>
          </a:p>
        </p:txBody>
      </p:sp>
      <p:pic>
        <p:nvPicPr>
          <p:cNvPr id="6" name="Picture 5">
            <a:extLst>
              <a:ext uri="{FF2B5EF4-FFF2-40B4-BE49-F238E27FC236}">
                <a16:creationId xmlns:a16="http://schemas.microsoft.com/office/drawing/2014/main" id="{2DA7B64C-A5A8-9011-F642-DADDEE156D55}"/>
              </a:ext>
            </a:extLst>
          </p:cNvPr>
          <p:cNvPicPr>
            <a:picLocks noChangeAspect="1"/>
          </p:cNvPicPr>
          <p:nvPr userDrawn="1"/>
        </p:nvPicPr>
        <p:blipFill>
          <a:blip r:embed="rId9" cstate="hqprint">
            <a:extLst>
              <a:ext uri="{28A0092B-C50C-407E-A947-70E740481C1C}">
                <a14:useLocalDpi xmlns:a14="http://schemas.microsoft.com/office/drawing/2010/main"/>
              </a:ext>
            </a:extLst>
          </a:blip>
          <a:stretch>
            <a:fillRect/>
          </a:stretch>
        </p:blipFill>
        <p:spPr>
          <a:xfrm>
            <a:off x="534558" y="6322775"/>
            <a:ext cx="1188720" cy="475488"/>
          </a:xfrm>
          <a:prstGeom prst="rect">
            <a:avLst/>
          </a:prstGeom>
        </p:spPr>
      </p:pic>
    </p:spTree>
    <p:extLst>
      <p:ext uri="{BB962C8B-B14F-4D97-AF65-F5344CB8AC3E}">
        <p14:creationId xmlns:p14="http://schemas.microsoft.com/office/powerpoint/2010/main" val="3360029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3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Defaul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31B4FFF-3112-509A-25AD-DC04D3ED9453}"/>
              </a:ext>
            </a:extLst>
          </p:cNvPr>
          <p:cNvPicPr>
            <a:picLocks noChangeAspect="1"/>
          </p:cNvPicPr>
          <p:nvPr userDrawn="1"/>
        </p:nvPicPr>
        <p:blipFill rotWithShape="1">
          <a:blip r:embed="rId6">
            <a:extLst>
              <a:ext uri="{28A0092B-C50C-407E-A947-70E740481C1C}">
                <a14:useLocalDpi xmlns:a14="http://schemas.microsoft.com/office/drawing/2010/main"/>
              </a:ext>
            </a:extLst>
          </a:blip>
          <a:srcRect/>
          <a:stretch>
            <a:fillRect/>
          </a:stretch>
        </p:blipFill>
        <p:spPr>
          <a:xfrm>
            <a:off x="0" y="-3574"/>
            <a:ext cx="12192000" cy="6861574"/>
          </a:xfrm>
          <a:prstGeom prst="rect">
            <a:avLst/>
          </a:prstGeom>
        </p:spPr>
      </p:pic>
      <p:sp>
        <p:nvSpPr>
          <p:cNvPr id="2" name="Rectangle 1">
            <a:extLst>
              <a:ext uri="{FF2B5EF4-FFF2-40B4-BE49-F238E27FC236}">
                <a16:creationId xmlns:a16="http://schemas.microsoft.com/office/drawing/2014/main" id="{5D6150D6-CB53-BE39-BB90-890843D88902}"/>
              </a:ext>
            </a:extLst>
          </p:cNvPr>
          <p:cNvSpPr/>
          <p:nvPr userDrawn="1"/>
        </p:nvSpPr>
        <p:spPr>
          <a:xfrm>
            <a:off x="0" y="-3575"/>
            <a:ext cx="12192000" cy="6861573"/>
          </a:xfrm>
          <a:prstGeom prst="rect">
            <a:avLst/>
          </a:prstGeom>
          <a:solidFill>
            <a:srgbClr val="FFFFFF">
              <a:alpha val="87059"/>
            </a:srgbClr>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9162982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606" imgH="608" progId="TCLayout.ActiveDocument.1">
                  <p:embed/>
                </p:oleObj>
              </mc:Choice>
              <mc:Fallback>
                <p:oleObj name="thinkcell Slide" r:id="rId7"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10" name="Slide Number">
            <a:extLst>
              <a:ext uri="{FF2B5EF4-FFF2-40B4-BE49-F238E27FC236}">
                <a16:creationId xmlns:a16="http://schemas.microsoft.com/office/drawing/2014/main" id="{B0C7DCE0-AB35-168B-F71C-39D0B5FF339E}"/>
              </a:ext>
            </a:extLst>
          </p:cNvPr>
          <p:cNvSpPr>
            <a:spLocks noChangeArrowheads="1"/>
          </p:cNvSpPr>
          <p:nvPr userDrawn="1">
            <p:custDataLst>
              <p:tags r:id="rId2"/>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3" name="2. Slide Title">
            <a:extLst>
              <a:ext uri="{FF2B5EF4-FFF2-40B4-BE49-F238E27FC236}">
                <a16:creationId xmlns:a16="http://schemas.microsoft.com/office/drawing/2014/main" id="{8557C46E-D820-D748-A948-C2D35571B833}"/>
              </a:ext>
            </a:extLst>
          </p:cNvPr>
          <p:cNvSpPr>
            <a:spLocks noGrp="1"/>
          </p:cNvSpPr>
          <p:nvPr>
            <p:ph type="title"/>
            <p:custDataLst>
              <p:tags r:id="rId3"/>
            </p:custDataLst>
          </p:nvPr>
        </p:nvSpPr>
        <p:spPr>
          <a:xfrm>
            <a:off x="554736" y="291264"/>
            <a:ext cx="11082528" cy="731520"/>
          </a:xfrm>
          <a:prstGeom prst="rect">
            <a:avLst/>
          </a:prstGeom>
        </p:spPr>
        <p:txBody>
          <a:bodyPr vert="horz" wrap="square" lIns="0" tIns="0" rIns="0" bIns="0" rtlCol="0" anchor="b" anchorCtr="0">
            <a:noAutofit/>
          </a:bodyPr>
          <a:lstStyle>
            <a:lvl1pPr>
              <a:defRPr sz="2600">
                <a:solidFill>
                  <a:schemeClr val="tx1"/>
                </a:solidFill>
              </a:defRPr>
            </a:lvl1pPr>
          </a:lstStyle>
          <a:p>
            <a:endParaRPr lang="en-US"/>
          </a:p>
        </p:txBody>
      </p:sp>
      <p:sp>
        <p:nvSpPr>
          <p:cNvPr id="4" name="3. Subtitle">
            <a:extLst>
              <a:ext uri="{FF2B5EF4-FFF2-40B4-BE49-F238E27FC236}">
                <a16:creationId xmlns:a16="http://schemas.microsoft.com/office/drawing/2014/main" id="{0376E815-6082-4113-B8E6-422BA7A9F5FD}"/>
              </a:ext>
            </a:extLst>
          </p:cNvPr>
          <p:cNvSpPr>
            <a:spLocks noGrp="1"/>
          </p:cNvSpPr>
          <p:nvPr>
            <p:ph type="subTitle" idx="1"/>
            <p:custDataLst>
              <p:tags r:id="rId4"/>
            </p:custDataLst>
          </p:nvPr>
        </p:nvSpPr>
        <p:spPr>
          <a:xfrm>
            <a:off x="554736" y="1075141"/>
            <a:ext cx="11082528" cy="276999"/>
          </a:xfr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sp>
        <p:nvSpPr>
          <p:cNvPr id="5" name="TextBox 4">
            <a:extLst>
              <a:ext uri="{FF2B5EF4-FFF2-40B4-BE49-F238E27FC236}">
                <a16:creationId xmlns:a16="http://schemas.microsoft.com/office/drawing/2014/main" id="{BA7E46C5-3207-971D-94FE-D0073C3B00A1}"/>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tx1"/>
                </a:solidFill>
                <a:latin typeface="+mn-lt"/>
                <a:ea typeface="Lato Light" panose="020F0502020204030203" pitchFamily="34" charset="0"/>
                <a:cs typeface="Lato Light" panose="020F0502020204030203" pitchFamily="34" charset="0"/>
              </a:rPr>
              <a:t>©Telesto Strategy LLC 2026</a:t>
            </a:r>
          </a:p>
        </p:txBody>
      </p:sp>
      <p:pic>
        <p:nvPicPr>
          <p:cNvPr id="6" name="Picture 5">
            <a:extLst>
              <a:ext uri="{FF2B5EF4-FFF2-40B4-BE49-F238E27FC236}">
                <a16:creationId xmlns:a16="http://schemas.microsoft.com/office/drawing/2014/main" id="{FC95F5F8-E425-3904-305F-CF996C736088}"/>
              </a:ext>
            </a:extLst>
          </p:cNvPr>
          <p:cNvPicPr>
            <a:picLocks noChangeAspect="1"/>
          </p:cNvPicPr>
          <p:nvPr userDrawn="1"/>
        </p:nvPicPr>
        <p:blipFill>
          <a:blip r:embed="rId9" cstate="hqprint">
            <a:extLst>
              <a:ext uri="{28A0092B-C50C-407E-A947-70E740481C1C}">
                <a14:useLocalDpi xmlns:a14="http://schemas.microsoft.com/office/drawing/2010/main"/>
              </a:ext>
            </a:extLst>
          </a:blip>
          <a:stretch>
            <a:fillRect/>
          </a:stretch>
        </p:blipFill>
        <p:spPr>
          <a:xfrm>
            <a:off x="536627" y="6322775"/>
            <a:ext cx="1188720" cy="475488"/>
          </a:xfrm>
          <a:prstGeom prst="rect">
            <a:avLst/>
          </a:prstGeom>
        </p:spPr>
      </p:pic>
    </p:spTree>
    <p:extLst>
      <p:ext uri="{BB962C8B-B14F-4D97-AF65-F5344CB8AC3E}">
        <p14:creationId xmlns:p14="http://schemas.microsoft.com/office/powerpoint/2010/main" val="8198593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4">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6473090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99D53E8C-6E9D-8264-2874-D89D74CD9E15}"/>
              </a:ext>
            </a:extLst>
          </p:cNvPr>
          <p:cNvSpPr/>
          <p:nvPr userDrawn="1"/>
        </p:nvSpPr>
        <p:spPr>
          <a:xfrm>
            <a:off x="0" y="0"/>
            <a:ext cx="3410584" cy="6858000"/>
          </a:xfrm>
          <a:prstGeom prst="rect">
            <a:avLst/>
          </a:prstGeom>
          <a:solidFill>
            <a:schemeClr val="tx1"/>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10" name="Slide Number">
            <a:extLst>
              <a:ext uri="{FF2B5EF4-FFF2-40B4-BE49-F238E27FC236}">
                <a16:creationId xmlns:a16="http://schemas.microsoft.com/office/drawing/2014/main" id="{B0C7DCE0-AB35-168B-F71C-39D0B5FF339E}"/>
              </a:ext>
            </a:extLst>
          </p:cNvPr>
          <p:cNvSpPr>
            <a:spLocks noChangeArrowheads="1"/>
          </p:cNvSpPr>
          <p:nvPr userDrawn="1">
            <p:custDataLst>
              <p:tags r:id="rId2"/>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2" name="2. Slide Title">
            <a:extLst>
              <a:ext uri="{FF2B5EF4-FFF2-40B4-BE49-F238E27FC236}">
                <a16:creationId xmlns:a16="http://schemas.microsoft.com/office/drawing/2014/main" id="{F9639F65-6267-3E12-A764-EFF3F0D8D7A9}"/>
              </a:ext>
            </a:extLst>
          </p:cNvPr>
          <p:cNvSpPr>
            <a:spLocks noGrp="1"/>
          </p:cNvSpPr>
          <p:nvPr>
            <p:ph type="title"/>
            <p:custDataLst>
              <p:tags r:id="rId3"/>
            </p:custDataLst>
          </p:nvPr>
        </p:nvSpPr>
        <p:spPr>
          <a:xfrm>
            <a:off x="554736" y="2744369"/>
            <a:ext cx="2514600" cy="769441"/>
          </a:xfrm>
        </p:spPr>
        <p:txBody>
          <a:bodyPr vert="horz" anchor="b">
            <a:noAutofit/>
          </a:bodyPr>
          <a:lstStyle>
            <a:lvl1pPr>
              <a:defRPr sz="2600">
                <a:solidFill>
                  <a:schemeClr val="bg1"/>
                </a:solidFill>
              </a:defRPr>
            </a:lvl1pPr>
          </a:lstStyle>
          <a:p>
            <a:endParaRPr lang="en-US"/>
          </a:p>
        </p:txBody>
      </p:sp>
      <p:sp>
        <p:nvSpPr>
          <p:cNvPr id="23" name="3. Subtitle">
            <a:extLst>
              <a:ext uri="{FF2B5EF4-FFF2-40B4-BE49-F238E27FC236}">
                <a16:creationId xmlns:a16="http://schemas.microsoft.com/office/drawing/2014/main" id="{F5F6EAFF-30EB-7E79-542F-A44ABBD79CFC}"/>
              </a:ext>
            </a:extLst>
          </p:cNvPr>
          <p:cNvSpPr>
            <a:spLocks noGrp="1"/>
          </p:cNvSpPr>
          <p:nvPr>
            <p:ph type="subTitle" idx="1"/>
            <p:custDataLst>
              <p:tags r:id="rId4"/>
            </p:custDataLst>
          </p:nvPr>
        </p:nvSpPr>
        <p:spPr>
          <a:xfrm>
            <a:off x="554736" y="3659644"/>
            <a:ext cx="2514600" cy="249299"/>
          </a:xfrm>
        </p:spPr>
        <p:txBody>
          <a:bodyPr wrap="square">
            <a:spAutoFit/>
          </a:bodyPr>
          <a:lstStyle>
            <a:lvl1pPr marL="0" indent="0" algn="l">
              <a:buNone/>
              <a:defRPr sz="1800" b="0">
                <a:solidFill>
                  <a:schemeClr val="bg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endParaRPr lang="en-US"/>
          </a:p>
        </p:txBody>
      </p:sp>
      <p:sp>
        <p:nvSpPr>
          <p:cNvPr id="5" name="TextBox 4">
            <a:extLst>
              <a:ext uri="{FF2B5EF4-FFF2-40B4-BE49-F238E27FC236}">
                <a16:creationId xmlns:a16="http://schemas.microsoft.com/office/drawing/2014/main" id="{E1F8FC89-71A1-B315-1559-52EDB6A38853}"/>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tx1"/>
                </a:solidFill>
                <a:latin typeface="+mn-lt"/>
                <a:ea typeface="Lato Light" panose="020F0502020204030203" pitchFamily="34" charset="0"/>
                <a:cs typeface="Lato Light" panose="020F0502020204030203" pitchFamily="34" charset="0"/>
              </a:rPr>
              <a:t>©Telesto Strategy LLC 2026</a:t>
            </a:r>
          </a:p>
        </p:txBody>
      </p:sp>
      <p:pic>
        <p:nvPicPr>
          <p:cNvPr id="3" name="Picture 2">
            <a:extLst>
              <a:ext uri="{FF2B5EF4-FFF2-40B4-BE49-F238E27FC236}">
                <a16:creationId xmlns:a16="http://schemas.microsoft.com/office/drawing/2014/main" id="{36EB973C-76F2-39D3-8702-44384549ACFD}"/>
              </a:ext>
            </a:extLst>
          </p:cNvPr>
          <p:cNvPicPr>
            <a:picLocks noChangeAspect="1"/>
          </p:cNvPicPr>
          <p:nvPr userDrawn="1"/>
        </p:nvPicPr>
        <p:blipFill>
          <a:blip r:embed="rId8" cstate="hqprint">
            <a:extLst>
              <a:ext uri="{28A0092B-C50C-407E-A947-70E740481C1C}">
                <a14:useLocalDpi xmlns:a14="http://schemas.microsoft.com/office/drawing/2010/main"/>
              </a:ext>
            </a:extLst>
          </a:blip>
          <a:stretch>
            <a:fillRect/>
          </a:stretch>
        </p:blipFill>
        <p:spPr>
          <a:xfrm>
            <a:off x="548145" y="6320941"/>
            <a:ext cx="1188720" cy="475488"/>
          </a:xfrm>
          <a:prstGeom prst="rect">
            <a:avLst/>
          </a:prstGeom>
        </p:spPr>
      </p:pic>
    </p:spTree>
    <p:extLst>
      <p:ext uri="{BB962C8B-B14F-4D97-AF65-F5344CB8AC3E}">
        <p14:creationId xmlns:p14="http://schemas.microsoft.com/office/powerpoint/2010/main" val="372517443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1/4">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C07BBF4-D3FE-7E10-DEFC-0CF2DC977DC5}"/>
              </a:ext>
            </a:extLst>
          </p:cNvPr>
          <p:cNvPicPr>
            <a:picLocks noChangeAspect="1"/>
          </p:cNvPicPr>
          <p:nvPr userDrawn="1"/>
        </p:nvPicPr>
        <p:blipFill>
          <a:blip r:embed="rId6">
            <a:extLst>
              <a:ext uri="{28A0092B-C50C-407E-A947-70E740481C1C}">
                <a14:useLocalDpi xmlns:a14="http://schemas.microsoft.com/office/drawing/2010/main"/>
              </a:ext>
            </a:extLst>
          </a:blip>
          <a:srcRect/>
          <a:stretch>
            <a:fillRect/>
          </a:stretch>
        </p:blipFill>
        <p:spPr>
          <a:xfrm>
            <a:off x="0" y="0"/>
            <a:ext cx="3410584" cy="6858000"/>
          </a:xfrm>
          <a:prstGeom prst="rect">
            <a:avLst/>
          </a:prstGeom>
        </p:spPr>
      </p:pic>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6473090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606" imgH="608" progId="TCLayout.ActiveDocument.1">
                  <p:embed/>
                </p:oleObj>
              </mc:Choice>
              <mc:Fallback>
                <p:oleObj name="thinkcell Slide" r:id="rId7"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99D53E8C-6E9D-8264-2874-D89D74CD9E15}"/>
              </a:ext>
            </a:extLst>
          </p:cNvPr>
          <p:cNvSpPr/>
          <p:nvPr userDrawn="1"/>
        </p:nvSpPr>
        <p:spPr>
          <a:xfrm>
            <a:off x="0" y="0"/>
            <a:ext cx="3410584" cy="6858000"/>
          </a:xfrm>
          <a:prstGeom prst="rect">
            <a:avLst/>
          </a:prstGeom>
          <a:solidFill>
            <a:srgbClr val="282828">
              <a:alpha val="70000"/>
            </a:srgbClr>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10" name="Slide Number">
            <a:extLst>
              <a:ext uri="{FF2B5EF4-FFF2-40B4-BE49-F238E27FC236}">
                <a16:creationId xmlns:a16="http://schemas.microsoft.com/office/drawing/2014/main" id="{B0C7DCE0-AB35-168B-F71C-39D0B5FF339E}"/>
              </a:ext>
            </a:extLst>
          </p:cNvPr>
          <p:cNvSpPr>
            <a:spLocks noChangeArrowheads="1"/>
          </p:cNvSpPr>
          <p:nvPr userDrawn="1">
            <p:custDataLst>
              <p:tags r:id="rId2"/>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2" name="2. Slide Title">
            <a:extLst>
              <a:ext uri="{FF2B5EF4-FFF2-40B4-BE49-F238E27FC236}">
                <a16:creationId xmlns:a16="http://schemas.microsoft.com/office/drawing/2014/main" id="{F9639F65-6267-3E12-A764-EFF3F0D8D7A9}"/>
              </a:ext>
            </a:extLst>
          </p:cNvPr>
          <p:cNvSpPr>
            <a:spLocks noGrp="1"/>
          </p:cNvSpPr>
          <p:nvPr>
            <p:ph type="title"/>
            <p:custDataLst>
              <p:tags r:id="rId3"/>
            </p:custDataLst>
          </p:nvPr>
        </p:nvSpPr>
        <p:spPr>
          <a:xfrm>
            <a:off x="554736" y="2744369"/>
            <a:ext cx="2514600" cy="769441"/>
          </a:xfrm>
        </p:spPr>
        <p:txBody>
          <a:bodyPr vert="horz" anchor="b">
            <a:noAutofit/>
          </a:bodyPr>
          <a:lstStyle>
            <a:lvl1pPr>
              <a:defRPr sz="2600">
                <a:solidFill>
                  <a:schemeClr val="bg1"/>
                </a:solidFill>
              </a:defRPr>
            </a:lvl1pPr>
          </a:lstStyle>
          <a:p>
            <a:endParaRPr lang="en-US"/>
          </a:p>
        </p:txBody>
      </p:sp>
      <p:sp>
        <p:nvSpPr>
          <p:cNvPr id="23" name="3. Subtitle">
            <a:extLst>
              <a:ext uri="{FF2B5EF4-FFF2-40B4-BE49-F238E27FC236}">
                <a16:creationId xmlns:a16="http://schemas.microsoft.com/office/drawing/2014/main" id="{F5F6EAFF-30EB-7E79-542F-A44ABBD79CFC}"/>
              </a:ext>
            </a:extLst>
          </p:cNvPr>
          <p:cNvSpPr>
            <a:spLocks noGrp="1"/>
          </p:cNvSpPr>
          <p:nvPr>
            <p:ph type="subTitle" idx="1"/>
            <p:custDataLst>
              <p:tags r:id="rId4"/>
            </p:custDataLst>
          </p:nvPr>
        </p:nvSpPr>
        <p:spPr>
          <a:xfrm>
            <a:off x="554736" y="3659644"/>
            <a:ext cx="2514600" cy="249299"/>
          </a:xfrm>
        </p:spPr>
        <p:txBody>
          <a:bodyPr wrap="square">
            <a:spAutoFit/>
          </a:bodyPr>
          <a:lstStyle>
            <a:lvl1pPr marL="0" indent="0" algn="l">
              <a:buNone/>
              <a:defRPr sz="1800" b="0">
                <a:solidFill>
                  <a:schemeClr val="bg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endParaRPr lang="en-US"/>
          </a:p>
        </p:txBody>
      </p:sp>
      <p:sp>
        <p:nvSpPr>
          <p:cNvPr id="5" name="TextBox 4">
            <a:extLst>
              <a:ext uri="{FF2B5EF4-FFF2-40B4-BE49-F238E27FC236}">
                <a16:creationId xmlns:a16="http://schemas.microsoft.com/office/drawing/2014/main" id="{E1F8FC89-71A1-B315-1559-52EDB6A38853}"/>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tx1"/>
                </a:solidFill>
                <a:latin typeface="+mn-lt"/>
                <a:ea typeface="Lato Light" panose="020F0502020204030203" pitchFamily="34" charset="0"/>
                <a:cs typeface="Lato Light" panose="020F0502020204030203" pitchFamily="34" charset="0"/>
              </a:rPr>
              <a:t>©Telesto Strategy LLC 2026</a:t>
            </a:r>
          </a:p>
        </p:txBody>
      </p:sp>
      <p:pic>
        <p:nvPicPr>
          <p:cNvPr id="3" name="Picture 2">
            <a:extLst>
              <a:ext uri="{FF2B5EF4-FFF2-40B4-BE49-F238E27FC236}">
                <a16:creationId xmlns:a16="http://schemas.microsoft.com/office/drawing/2014/main" id="{8DEA0821-CE25-99A8-3217-F20F160C27C1}"/>
              </a:ext>
            </a:extLst>
          </p:cNvPr>
          <p:cNvPicPr>
            <a:picLocks noChangeAspect="1"/>
          </p:cNvPicPr>
          <p:nvPr userDrawn="1"/>
        </p:nvPicPr>
        <p:blipFill>
          <a:blip r:embed="rId9" cstate="hqprint">
            <a:extLst>
              <a:ext uri="{28A0092B-C50C-407E-A947-70E740481C1C}">
                <a14:useLocalDpi xmlns:a14="http://schemas.microsoft.com/office/drawing/2010/main"/>
              </a:ext>
            </a:extLst>
          </a:blip>
          <a:stretch>
            <a:fillRect/>
          </a:stretch>
        </p:blipFill>
        <p:spPr>
          <a:xfrm>
            <a:off x="548145" y="6320941"/>
            <a:ext cx="1188720" cy="475488"/>
          </a:xfrm>
          <a:prstGeom prst="rect">
            <a:avLst/>
          </a:prstGeom>
        </p:spPr>
      </p:pic>
    </p:spTree>
    <p:extLst>
      <p:ext uri="{BB962C8B-B14F-4D97-AF65-F5344CB8AC3E}">
        <p14:creationId xmlns:p14="http://schemas.microsoft.com/office/powerpoint/2010/main" val="26952587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1/4">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B56F025-2A9A-0363-5927-666BC5FBAC0D}"/>
              </a:ext>
            </a:extLst>
          </p:cNvPr>
          <p:cNvPicPr>
            <a:picLocks noChangeAspect="1"/>
          </p:cNvPicPr>
          <p:nvPr userDrawn="1"/>
        </p:nvPicPr>
        <p:blipFill>
          <a:blip r:embed="rId6">
            <a:extLst>
              <a:ext uri="{28A0092B-C50C-407E-A947-70E740481C1C}">
                <a14:useLocalDpi xmlns:a14="http://schemas.microsoft.com/office/drawing/2010/main"/>
              </a:ext>
            </a:extLst>
          </a:blip>
          <a:srcRect/>
          <a:stretch>
            <a:fillRect/>
          </a:stretch>
        </p:blipFill>
        <p:spPr>
          <a:xfrm>
            <a:off x="1" y="0"/>
            <a:ext cx="3376644" cy="6858000"/>
          </a:xfrm>
          <a:prstGeom prst="rect">
            <a:avLst/>
          </a:prstGeom>
        </p:spPr>
      </p:pic>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6473090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606" imgH="608" progId="TCLayout.ActiveDocument.1">
                  <p:embed/>
                </p:oleObj>
              </mc:Choice>
              <mc:Fallback>
                <p:oleObj name="thinkcell Slide" r:id="rId7"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99D53E8C-6E9D-8264-2874-D89D74CD9E15}"/>
              </a:ext>
            </a:extLst>
          </p:cNvPr>
          <p:cNvSpPr/>
          <p:nvPr userDrawn="1"/>
        </p:nvSpPr>
        <p:spPr>
          <a:xfrm>
            <a:off x="1" y="0"/>
            <a:ext cx="3376644" cy="6858000"/>
          </a:xfrm>
          <a:prstGeom prst="rect">
            <a:avLst/>
          </a:prstGeom>
          <a:solidFill>
            <a:schemeClr val="bg1">
              <a:lumMod val="95000"/>
              <a:alpha val="69804"/>
            </a:schemeClr>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10" name="Slide Number">
            <a:extLst>
              <a:ext uri="{FF2B5EF4-FFF2-40B4-BE49-F238E27FC236}">
                <a16:creationId xmlns:a16="http://schemas.microsoft.com/office/drawing/2014/main" id="{B0C7DCE0-AB35-168B-F71C-39D0B5FF339E}"/>
              </a:ext>
            </a:extLst>
          </p:cNvPr>
          <p:cNvSpPr>
            <a:spLocks noChangeArrowheads="1"/>
          </p:cNvSpPr>
          <p:nvPr userDrawn="1">
            <p:custDataLst>
              <p:tags r:id="rId2"/>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2" name="2. Slide Title">
            <a:extLst>
              <a:ext uri="{FF2B5EF4-FFF2-40B4-BE49-F238E27FC236}">
                <a16:creationId xmlns:a16="http://schemas.microsoft.com/office/drawing/2014/main" id="{F9639F65-6267-3E12-A764-EFF3F0D8D7A9}"/>
              </a:ext>
            </a:extLst>
          </p:cNvPr>
          <p:cNvSpPr>
            <a:spLocks noGrp="1"/>
          </p:cNvSpPr>
          <p:nvPr>
            <p:ph type="title"/>
            <p:custDataLst>
              <p:tags r:id="rId3"/>
            </p:custDataLst>
          </p:nvPr>
        </p:nvSpPr>
        <p:spPr>
          <a:xfrm>
            <a:off x="554736" y="2744369"/>
            <a:ext cx="2514600" cy="769441"/>
          </a:xfrm>
        </p:spPr>
        <p:txBody>
          <a:bodyPr vert="horz" anchor="b">
            <a:noAutofit/>
          </a:bodyPr>
          <a:lstStyle>
            <a:lvl1pPr>
              <a:defRPr sz="2600">
                <a:solidFill>
                  <a:schemeClr val="tx1"/>
                </a:solidFill>
              </a:defRPr>
            </a:lvl1pPr>
          </a:lstStyle>
          <a:p>
            <a:endParaRPr lang="en-US"/>
          </a:p>
        </p:txBody>
      </p:sp>
      <p:sp>
        <p:nvSpPr>
          <p:cNvPr id="23" name="3. Subtitle">
            <a:extLst>
              <a:ext uri="{FF2B5EF4-FFF2-40B4-BE49-F238E27FC236}">
                <a16:creationId xmlns:a16="http://schemas.microsoft.com/office/drawing/2014/main" id="{F5F6EAFF-30EB-7E79-542F-A44ABBD79CFC}"/>
              </a:ext>
            </a:extLst>
          </p:cNvPr>
          <p:cNvSpPr>
            <a:spLocks noGrp="1"/>
          </p:cNvSpPr>
          <p:nvPr>
            <p:ph type="subTitle" idx="1"/>
            <p:custDataLst>
              <p:tags r:id="rId4"/>
            </p:custDataLst>
          </p:nvPr>
        </p:nvSpPr>
        <p:spPr>
          <a:xfrm>
            <a:off x="554736" y="3659644"/>
            <a:ext cx="2514600" cy="249299"/>
          </a:xfrm>
        </p:spPr>
        <p:txBody>
          <a:bodyPr wrap="square">
            <a:spAutoFit/>
          </a:bodyPr>
          <a:lstStyle>
            <a:lvl1pPr marL="0" indent="0" algn="l">
              <a:buNone/>
              <a:defRPr sz="18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endParaRPr lang="en-US"/>
          </a:p>
        </p:txBody>
      </p:sp>
      <p:sp>
        <p:nvSpPr>
          <p:cNvPr id="5" name="TextBox 4">
            <a:extLst>
              <a:ext uri="{FF2B5EF4-FFF2-40B4-BE49-F238E27FC236}">
                <a16:creationId xmlns:a16="http://schemas.microsoft.com/office/drawing/2014/main" id="{E1F8FC89-71A1-B315-1559-52EDB6A38853}"/>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tx1"/>
                </a:solidFill>
                <a:latin typeface="+mn-lt"/>
                <a:ea typeface="Lato Light" panose="020F0502020204030203" pitchFamily="34" charset="0"/>
                <a:cs typeface="Lato Light" panose="020F0502020204030203" pitchFamily="34" charset="0"/>
              </a:rPr>
              <a:t>©Telesto Strategy LLC 2026</a:t>
            </a:r>
          </a:p>
        </p:txBody>
      </p:sp>
      <p:pic>
        <p:nvPicPr>
          <p:cNvPr id="12" name="Picture 11">
            <a:extLst>
              <a:ext uri="{FF2B5EF4-FFF2-40B4-BE49-F238E27FC236}">
                <a16:creationId xmlns:a16="http://schemas.microsoft.com/office/drawing/2014/main" id="{BC63D343-BDCA-624C-141D-78E04B1CF77F}"/>
              </a:ext>
            </a:extLst>
          </p:cNvPr>
          <p:cNvPicPr>
            <a:picLocks noChangeAspect="1"/>
          </p:cNvPicPr>
          <p:nvPr userDrawn="1"/>
        </p:nvPicPr>
        <p:blipFill>
          <a:blip r:embed="rId9" cstate="hqprint">
            <a:extLst>
              <a:ext uri="{28A0092B-C50C-407E-A947-70E740481C1C}">
                <a14:useLocalDpi xmlns:a14="http://schemas.microsoft.com/office/drawing/2010/main"/>
              </a:ext>
            </a:extLst>
          </a:blip>
          <a:stretch>
            <a:fillRect/>
          </a:stretch>
        </p:blipFill>
        <p:spPr>
          <a:xfrm>
            <a:off x="543350" y="6322775"/>
            <a:ext cx="1188720" cy="475488"/>
          </a:xfrm>
          <a:prstGeom prst="rect">
            <a:avLst/>
          </a:prstGeom>
        </p:spPr>
      </p:pic>
    </p:spTree>
    <p:extLst>
      <p:ext uri="{BB962C8B-B14F-4D97-AF65-F5344CB8AC3E}">
        <p14:creationId xmlns:p14="http://schemas.microsoft.com/office/powerpoint/2010/main" val="26935536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3912"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 (Corner Image Ready)">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2537983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68345DD1-7E21-F515-85CF-B359B12C5A88}"/>
              </a:ext>
            </a:extLst>
          </p:cNvPr>
          <p:cNvSpPr/>
          <p:nvPr userDrawn="1"/>
        </p:nvSpPr>
        <p:spPr>
          <a:xfrm>
            <a:off x="431800" y="6295219"/>
            <a:ext cx="2514600" cy="5505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99D53E8C-6E9D-8264-2874-D89D74CD9E15}"/>
              </a:ext>
            </a:extLst>
          </p:cNvPr>
          <p:cNvSpPr/>
          <p:nvPr userDrawn="1"/>
        </p:nvSpPr>
        <p:spPr>
          <a:xfrm>
            <a:off x="0" y="-1"/>
            <a:ext cx="3410584" cy="6857999"/>
          </a:xfrm>
          <a:prstGeom prst="rect">
            <a:avLst/>
          </a:prstGeom>
          <a:solidFill>
            <a:srgbClr val="282828"/>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22" name="2. Slide Title">
            <a:extLst>
              <a:ext uri="{FF2B5EF4-FFF2-40B4-BE49-F238E27FC236}">
                <a16:creationId xmlns:a16="http://schemas.microsoft.com/office/drawing/2014/main" id="{F9639F65-6267-3E12-A764-EFF3F0D8D7A9}"/>
              </a:ext>
            </a:extLst>
          </p:cNvPr>
          <p:cNvSpPr>
            <a:spLocks noGrp="1"/>
          </p:cNvSpPr>
          <p:nvPr>
            <p:ph type="title"/>
            <p:custDataLst>
              <p:tags r:id="rId2"/>
            </p:custDataLst>
          </p:nvPr>
        </p:nvSpPr>
        <p:spPr>
          <a:xfrm>
            <a:off x="554736" y="2744369"/>
            <a:ext cx="2514600" cy="769441"/>
          </a:xfrm>
        </p:spPr>
        <p:txBody>
          <a:bodyPr vert="horz" anchor="b">
            <a:noAutofit/>
          </a:bodyPr>
          <a:lstStyle>
            <a:lvl1pPr>
              <a:defRPr sz="2600">
                <a:solidFill>
                  <a:schemeClr val="bg1"/>
                </a:solidFill>
              </a:defRPr>
            </a:lvl1pPr>
          </a:lstStyle>
          <a:p>
            <a:endParaRPr lang="en-US"/>
          </a:p>
        </p:txBody>
      </p:sp>
      <p:sp>
        <p:nvSpPr>
          <p:cNvPr id="23" name="3. Subtitle">
            <a:extLst>
              <a:ext uri="{FF2B5EF4-FFF2-40B4-BE49-F238E27FC236}">
                <a16:creationId xmlns:a16="http://schemas.microsoft.com/office/drawing/2014/main" id="{F5F6EAFF-30EB-7E79-542F-A44ABBD79CFC}"/>
              </a:ext>
            </a:extLst>
          </p:cNvPr>
          <p:cNvSpPr>
            <a:spLocks noGrp="1"/>
          </p:cNvSpPr>
          <p:nvPr>
            <p:ph type="subTitle" idx="1"/>
            <p:custDataLst>
              <p:tags r:id="rId3"/>
            </p:custDataLst>
          </p:nvPr>
        </p:nvSpPr>
        <p:spPr>
          <a:xfrm>
            <a:off x="554736" y="3659644"/>
            <a:ext cx="2514600" cy="249299"/>
          </a:xfrm>
        </p:spPr>
        <p:txBody>
          <a:bodyPr wrap="square">
            <a:spAutoFit/>
          </a:bodyPr>
          <a:lstStyle>
            <a:lvl1pPr marL="0" indent="0" algn="l">
              <a:buNone/>
              <a:defRPr sz="1800" b="0">
                <a:solidFill>
                  <a:schemeClr val="bg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endParaRPr lang="en-US"/>
          </a:p>
        </p:txBody>
      </p:sp>
      <p:sp>
        <p:nvSpPr>
          <p:cNvPr id="6" name="Slide Number">
            <a:extLst>
              <a:ext uri="{FF2B5EF4-FFF2-40B4-BE49-F238E27FC236}">
                <a16:creationId xmlns:a16="http://schemas.microsoft.com/office/drawing/2014/main" id="{F70F1CDC-CF2D-1EDE-374F-863F46341EBE}"/>
              </a:ext>
            </a:extLst>
          </p:cNvPr>
          <p:cNvSpPr>
            <a:spLocks noChangeArrowheads="1"/>
          </p:cNvSpPr>
          <p:nvPr userDrawn="1">
            <p:custDataLst>
              <p:tags r:id="rId4"/>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9" name="TextBox 8">
            <a:extLst>
              <a:ext uri="{FF2B5EF4-FFF2-40B4-BE49-F238E27FC236}">
                <a16:creationId xmlns:a16="http://schemas.microsoft.com/office/drawing/2014/main" id="{BFF68446-C9D2-EA0E-E7C0-93D310A88C0C}"/>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tx1"/>
                </a:solidFill>
                <a:latin typeface="+mn-lt"/>
                <a:ea typeface="Lato Light" panose="020F0502020204030203" pitchFamily="34" charset="0"/>
                <a:cs typeface="Lato Light" panose="020F0502020204030203" pitchFamily="34" charset="0"/>
              </a:rPr>
              <a:t>©Telesto Strategy LLC 2026</a:t>
            </a:r>
          </a:p>
        </p:txBody>
      </p:sp>
      <p:pic>
        <p:nvPicPr>
          <p:cNvPr id="3" name="Picture 2">
            <a:extLst>
              <a:ext uri="{FF2B5EF4-FFF2-40B4-BE49-F238E27FC236}">
                <a16:creationId xmlns:a16="http://schemas.microsoft.com/office/drawing/2014/main" id="{6378B2E0-588E-63AE-17A4-EFEC73247F36}"/>
              </a:ext>
            </a:extLst>
          </p:cNvPr>
          <p:cNvPicPr>
            <a:picLocks noChangeAspect="1"/>
          </p:cNvPicPr>
          <p:nvPr userDrawn="1"/>
        </p:nvPicPr>
        <p:blipFill>
          <a:blip r:embed="rId8" cstate="hqprint">
            <a:extLst>
              <a:ext uri="{28A0092B-C50C-407E-A947-70E740481C1C}">
                <a14:useLocalDpi xmlns:a14="http://schemas.microsoft.com/office/drawing/2010/main"/>
              </a:ext>
            </a:extLst>
          </a:blip>
          <a:stretch>
            <a:fillRect/>
          </a:stretch>
        </p:blipFill>
        <p:spPr>
          <a:xfrm>
            <a:off x="548145" y="6320941"/>
            <a:ext cx="1188720" cy="475488"/>
          </a:xfrm>
          <a:prstGeom prst="rect">
            <a:avLst/>
          </a:prstGeom>
        </p:spPr>
      </p:pic>
    </p:spTree>
    <p:extLst>
      <p:ext uri="{BB962C8B-B14F-4D97-AF65-F5344CB8AC3E}">
        <p14:creationId xmlns:p14="http://schemas.microsoft.com/office/powerpoint/2010/main" val="27081167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1/3">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2110B21-817C-FECE-4FD3-5E1815B95710}"/>
              </a:ext>
            </a:extLst>
          </p:cNvPr>
          <p:cNvPicPr>
            <a:picLocks noChangeAspect="1"/>
          </p:cNvPicPr>
          <p:nvPr userDrawn="1"/>
        </p:nvPicPr>
        <p:blipFill>
          <a:blip r:embed="rId6">
            <a:extLst>
              <a:ext uri="{28A0092B-C50C-407E-A947-70E740481C1C}">
                <a14:useLocalDpi xmlns:a14="http://schemas.microsoft.com/office/drawing/2010/main"/>
              </a:ext>
            </a:extLst>
          </a:blip>
          <a:srcRect/>
          <a:stretch>
            <a:fillRect/>
          </a:stretch>
        </p:blipFill>
        <p:spPr>
          <a:xfrm>
            <a:off x="0" y="0"/>
            <a:ext cx="4361686" cy="6858000"/>
          </a:xfrm>
          <a:prstGeom prst="rect">
            <a:avLst/>
          </a:prstGeom>
        </p:spPr>
      </p:pic>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4923789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606" imgH="608" progId="TCLayout.ActiveDocument.1">
                  <p:embed/>
                </p:oleObj>
              </mc:Choice>
              <mc:Fallback>
                <p:oleObj name="thinkcell Slide" r:id="rId7"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99D53E8C-6E9D-8264-2874-D89D74CD9E15}"/>
              </a:ext>
            </a:extLst>
          </p:cNvPr>
          <p:cNvSpPr/>
          <p:nvPr userDrawn="1"/>
        </p:nvSpPr>
        <p:spPr>
          <a:xfrm>
            <a:off x="0" y="0"/>
            <a:ext cx="4370832" cy="6858000"/>
          </a:xfrm>
          <a:prstGeom prst="rect">
            <a:avLst/>
          </a:prstGeom>
          <a:solidFill>
            <a:srgbClr val="282828">
              <a:alpha val="69804"/>
            </a:srgbClr>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dirty="0">
              <a:ln>
                <a:noFill/>
              </a:ln>
              <a:solidFill>
                <a:prstClr val="white"/>
              </a:solidFill>
              <a:effectLst/>
              <a:uLnTx/>
              <a:uFillTx/>
              <a:latin typeface="Lato"/>
            </a:endParaRPr>
          </a:p>
        </p:txBody>
      </p:sp>
      <p:sp>
        <p:nvSpPr>
          <p:cNvPr id="10" name="Slide Number">
            <a:extLst>
              <a:ext uri="{FF2B5EF4-FFF2-40B4-BE49-F238E27FC236}">
                <a16:creationId xmlns:a16="http://schemas.microsoft.com/office/drawing/2014/main" id="{B0C7DCE0-AB35-168B-F71C-39D0B5FF339E}"/>
              </a:ext>
            </a:extLst>
          </p:cNvPr>
          <p:cNvSpPr>
            <a:spLocks noChangeArrowheads="1"/>
          </p:cNvSpPr>
          <p:nvPr userDrawn="1">
            <p:custDataLst>
              <p:tags r:id="rId2"/>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1" name="2. Slide Title">
            <a:extLst>
              <a:ext uri="{FF2B5EF4-FFF2-40B4-BE49-F238E27FC236}">
                <a16:creationId xmlns:a16="http://schemas.microsoft.com/office/drawing/2014/main" id="{5AE19F66-3558-ADEB-801B-418364F87279}"/>
              </a:ext>
            </a:extLst>
          </p:cNvPr>
          <p:cNvSpPr>
            <a:spLocks noGrp="1"/>
          </p:cNvSpPr>
          <p:nvPr>
            <p:ph type="title"/>
            <p:custDataLst>
              <p:tags r:id="rId3"/>
            </p:custDataLst>
          </p:nvPr>
        </p:nvSpPr>
        <p:spPr>
          <a:xfrm>
            <a:off x="548145" y="2744369"/>
            <a:ext cx="3407664" cy="769441"/>
          </a:xfrm>
        </p:spPr>
        <p:txBody>
          <a:bodyPr vert="horz" anchor="b">
            <a:noAutofit/>
          </a:bodyPr>
          <a:lstStyle>
            <a:lvl1pPr>
              <a:defRPr sz="2600">
                <a:solidFill>
                  <a:schemeClr val="bg1"/>
                </a:solidFill>
              </a:defRPr>
            </a:lvl1pPr>
          </a:lstStyle>
          <a:p>
            <a:endParaRPr lang="en-US" dirty="0"/>
          </a:p>
        </p:txBody>
      </p:sp>
      <p:sp>
        <p:nvSpPr>
          <p:cNvPr id="12" name="3. Subtitle">
            <a:extLst>
              <a:ext uri="{FF2B5EF4-FFF2-40B4-BE49-F238E27FC236}">
                <a16:creationId xmlns:a16="http://schemas.microsoft.com/office/drawing/2014/main" id="{EB941A43-EB03-AEFA-DFC9-EFA13A2F61ED}"/>
              </a:ext>
            </a:extLst>
          </p:cNvPr>
          <p:cNvSpPr>
            <a:spLocks noGrp="1"/>
          </p:cNvSpPr>
          <p:nvPr>
            <p:ph type="subTitle" idx="1"/>
            <p:custDataLst>
              <p:tags r:id="rId4"/>
            </p:custDataLst>
          </p:nvPr>
        </p:nvSpPr>
        <p:spPr>
          <a:xfrm>
            <a:off x="548145" y="3659644"/>
            <a:ext cx="3407664" cy="249299"/>
          </a:xfrm>
        </p:spPr>
        <p:txBody>
          <a:bodyPr wrap="square">
            <a:spAutoFit/>
          </a:bodyPr>
          <a:lstStyle>
            <a:lvl1pPr marL="0" indent="0" algn="l">
              <a:buNone/>
              <a:defRPr sz="1800" b="0">
                <a:solidFill>
                  <a:schemeClr val="bg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endParaRPr lang="en-US"/>
          </a:p>
        </p:txBody>
      </p:sp>
      <p:sp>
        <p:nvSpPr>
          <p:cNvPr id="7" name="TextBox 6">
            <a:extLst>
              <a:ext uri="{FF2B5EF4-FFF2-40B4-BE49-F238E27FC236}">
                <a16:creationId xmlns:a16="http://schemas.microsoft.com/office/drawing/2014/main" id="{8CC54DFF-3522-6AC3-C3D3-4742561F6D5B}"/>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tx1"/>
                </a:solidFill>
                <a:latin typeface="+mn-lt"/>
                <a:ea typeface="Lato Light" panose="020F0502020204030203" pitchFamily="34" charset="0"/>
                <a:cs typeface="Lato Light" panose="020F0502020204030203" pitchFamily="34" charset="0"/>
              </a:rPr>
              <a:t>©Telesto Strategy LLC 2026</a:t>
            </a:r>
          </a:p>
        </p:txBody>
      </p:sp>
      <p:pic>
        <p:nvPicPr>
          <p:cNvPr id="3" name="Picture 2">
            <a:extLst>
              <a:ext uri="{FF2B5EF4-FFF2-40B4-BE49-F238E27FC236}">
                <a16:creationId xmlns:a16="http://schemas.microsoft.com/office/drawing/2014/main" id="{B491A5DC-1071-13C1-B6F3-E7D340882DB3}"/>
              </a:ext>
            </a:extLst>
          </p:cNvPr>
          <p:cNvPicPr>
            <a:picLocks noChangeAspect="1"/>
          </p:cNvPicPr>
          <p:nvPr userDrawn="1"/>
        </p:nvPicPr>
        <p:blipFill>
          <a:blip r:embed="rId9" cstate="hqprint">
            <a:extLst>
              <a:ext uri="{28A0092B-C50C-407E-A947-70E740481C1C}">
                <a14:useLocalDpi xmlns:a14="http://schemas.microsoft.com/office/drawing/2010/main"/>
              </a:ext>
            </a:extLst>
          </a:blip>
          <a:stretch>
            <a:fillRect/>
          </a:stretch>
        </p:blipFill>
        <p:spPr>
          <a:xfrm>
            <a:off x="548145" y="6320941"/>
            <a:ext cx="1188720" cy="475488"/>
          </a:xfrm>
          <a:prstGeom prst="rect">
            <a:avLst/>
          </a:prstGeom>
        </p:spPr>
      </p:pic>
    </p:spTree>
    <p:extLst>
      <p:ext uri="{BB962C8B-B14F-4D97-AF65-F5344CB8AC3E}">
        <p14:creationId xmlns:p14="http://schemas.microsoft.com/office/powerpoint/2010/main" val="229829968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3 (Corner Image Ready)">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4461167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68345DD1-7E21-F515-85CF-B359B12C5A88}"/>
              </a:ext>
            </a:extLst>
          </p:cNvPr>
          <p:cNvSpPr/>
          <p:nvPr userDrawn="1"/>
        </p:nvSpPr>
        <p:spPr>
          <a:xfrm>
            <a:off x="431800" y="6295219"/>
            <a:ext cx="2514600" cy="5505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99D53E8C-6E9D-8264-2874-D89D74CD9E15}"/>
              </a:ext>
            </a:extLst>
          </p:cNvPr>
          <p:cNvSpPr/>
          <p:nvPr userDrawn="1"/>
        </p:nvSpPr>
        <p:spPr>
          <a:xfrm>
            <a:off x="0" y="0"/>
            <a:ext cx="4361688" cy="6858000"/>
          </a:xfrm>
          <a:prstGeom prst="rect">
            <a:avLst/>
          </a:prstGeom>
          <a:solidFill>
            <a:srgbClr val="282828"/>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11" name="2. Slide Title">
            <a:extLst>
              <a:ext uri="{FF2B5EF4-FFF2-40B4-BE49-F238E27FC236}">
                <a16:creationId xmlns:a16="http://schemas.microsoft.com/office/drawing/2014/main" id="{5AE19F66-3558-ADEB-801B-418364F87279}"/>
              </a:ext>
            </a:extLst>
          </p:cNvPr>
          <p:cNvSpPr>
            <a:spLocks noGrp="1"/>
          </p:cNvSpPr>
          <p:nvPr>
            <p:ph type="title"/>
            <p:custDataLst>
              <p:tags r:id="rId2"/>
            </p:custDataLst>
          </p:nvPr>
        </p:nvSpPr>
        <p:spPr>
          <a:xfrm>
            <a:off x="548145" y="2744369"/>
            <a:ext cx="3407664" cy="769441"/>
          </a:xfrm>
        </p:spPr>
        <p:txBody>
          <a:bodyPr vert="horz" anchor="b">
            <a:noAutofit/>
          </a:bodyPr>
          <a:lstStyle>
            <a:lvl1pPr>
              <a:defRPr sz="2600">
                <a:solidFill>
                  <a:schemeClr val="bg1"/>
                </a:solidFill>
              </a:defRPr>
            </a:lvl1pPr>
          </a:lstStyle>
          <a:p>
            <a:endParaRPr lang="en-US"/>
          </a:p>
        </p:txBody>
      </p:sp>
      <p:sp>
        <p:nvSpPr>
          <p:cNvPr id="12" name="3. Subtitle">
            <a:extLst>
              <a:ext uri="{FF2B5EF4-FFF2-40B4-BE49-F238E27FC236}">
                <a16:creationId xmlns:a16="http://schemas.microsoft.com/office/drawing/2014/main" id="{EB941A43-EB03-AEFA-DFC9-EFA13A2F61ED}"/>
              </a:ext>
            </a:extLst>
          </p:cNvPr>
          <p:cNvSpPr>
            <a:spLocks noGrp="1"/>
          </p:cNvSpPr>
          <p:nvPr>
            <p:ph type="subTitle" idx="1"/>
            <p:custDataLst>
              <p:tags r:id="rId3"/>
            </p:custDataLst>
          </p:nvPr>
        </p:nvSpPr>
        <p:spPr>
          <a:xfrm>
            <a:off x="548145" y="3659644"/>
            <a:ext cx="3407664" cy="249299"/>
          </a:xfrm>
        </p:spPr>
        <p:txBody>
          <a:bodyPr wrap="square">
            <a:spAutoFit/>
          </a:bodyPr>
          <a:lstStyle>
            <a:lvl1pPr marL="0" indent="0" algn="l">
              <a:buNone/>
              <a:defRPr sz="1800" b="0">
                <a:solidFill>
                  <a:schemeClr val="bg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endParaRPr lang="en-US"/>
          </a:p>
        </p:txBody>
      </p:sp>
      <p:sp>
        <p:nvSpPr>
          <p:cNvPr id="6" name="Slide Number">
            <a:extLst>
              <a:ext uri="{FF2B5EF4-FFF2-40B4-BE49-F238E27FC236}">
                <a16:creationId xmlns:a16="http://schemas.microsoft.com/office/drawing/2014/main" id="{B49D0C2B-3846-B8EF-0B14-D381D41DD879}"/>
              </a:ext>
            </a:extLst>
          </p:cNvPr>
          <p:cNvSpPr>
            <a:spLocks noChangeArrowheads="1"/>
          </p:cNvSpPr>
          <p:nvPr userDrawn="1">
            <p:custDataLst>
              <p:tags r:id="rId4"/>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9" name="TextBox 8">
            <a:extLst>
              <a:ext uri="{FF2B5EF4-FFF2-40B4-BE49-F238E27FC236}">
                <a16:creationId xmlns:a16="http://schemas.microsoft.com/office/drawing/2014/main" id="{AAEA889B-1138-5CDA-C8C3-4353D5B024FD}"/>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tx1"/>
                </a:solidFill>
                <a:latin typeface="+mn-lt"/>
                <a:ea typeface="Lato Light" panose="020F0502020204030203" pitchFamily="34" charset="0"/>
                <a:cs typeface="Lato Light" panose="020F0502020204030203" pitchFamily="34" charset="0"/>
              </a:rPr>
              <a:t>©Telesto Strategy LLC 2026</a:t>
            </a:r>
          </a:p>
        </p:txBody>
      </p:sp>
      <p:pic>
        <p:nvPicPr>
          <p:cNvPr id="13" name="Picture 12">
            <a:extLst>
              <a:ext uri="{FF2B5EF4-FFF2-40B4-BE49-F238E27FC236}">
                <a16:creationId xmlns:a16="http://schemas.microsoft.com/office/drawing/2014/main" id="{9D1BF6AA-9285-AC65-18B2-BFEA377229C1}"/>
              </a:ext>
            </a:extLst>
          </p:cNvPr>
          <p:cNvPicPr>
            <a:picLocks noChangeAspect="1"/>
          </p:cNvPicPr>
          <p:nvPr userDrawn="1"/>
        </p:nvPicPr>
        <p:blipFill>
          <a:blip r:embed="rId8" cstate="hqprint">
            <a:extLst>
              <a:ext uri="{28A0092B-C50C-407E-A947-70E740481C1C}">
                <a14:useLocalDpi xmlns:a14="http://schemas.microsoft.com/office/drawing/2010/main"/>
              </a:ext>
            </a:extLst>
          </a:blip>
          <a:stretch>
            <a:fillRect/>
          </a:stretch>
        </p:blipFill>
        <p:spPr>
          <a:xfrm>
            <a:off x="548145" y="6320941"/>
            <a:ext cx="1188720" cy="475488"/>
          </a:xfrm>
          <a:prstGeom prst="rect">
            <a:avLst/>
          </a:prstGeom>
        </p:spPr>
      </p:pic>
    </p:spTree>
    <p:extLst>
      <p:ext uri="{BB962C8B-B14F-4D97-AF65-F5344CB8AC3E}">
        <p14:creationId xmlns:p14="http://schemas.microsoft.com/office/powerpoint/2010/main" val="34357942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1/3 (Corner Image Ready)">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4461167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68345DD1-7E21-F515-85CF-B359B12C5A88}"/>
              </a:ext>
            </a:extLst>
          </p:cNvPr>
          <p:cNvSpPr/>
          <p:nvPr userDrawn="1"/>
        </p:nvSpPr>
        <p:spPr>
          <a:xfrm>
            <a:off x="431800" y="6295219"/>
            <a:ext cx="2514600" cy="5505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99D53E8C-6E9D-8264-2874-D89D74CD9E15}"/>
              </a:ext>
            </a:extLst>
          </p:cNvPr>
          <p:cNvSpPr/>
          <p:nvPr userDrawn="1"/>
        </p:nvSpPr>
        <p:spPr>
          <a:xfrm>
            <a:off x="0" y="0"/>
            <a:ext cx="4361688" cy="6858000"/>
          </a:xfrm>
          <a:prstGeom prst="rect">
            <a:avLst/>
          </a:prstGeom>
          <a:solidFill>
            <a:schemeClr val="bg2"/>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11" name="2. Slide Title">
            <a:extLst>
              <a:ext uri="{FF2B5EF4-FFF2-40B4-BE49-F238E27FC236}">
                <a16:creationId xmlns:a16="http://schemas.microsoft.com/office/drawing/2014/main" id="{5AE19F66-3558-ADEB-801B-418364F87279}"/>
              </a:ext>
            </a:extLst>
          </p:cNvPr>
          <p:cNvSpPr>
            <a:spLocks noGrp="1"/>
          </p:cNvSpPr>
          <p:nvPr>
            <p:ph type="title"/>
            <p:custDataLst>
              <p:tags r:id="rId2"/>
            </p:custDataLst>
          </p:nvPr>
        </p:nvSpPr>
        <p:spPr>
          <a:xfrm>
            <a:off x="554736" y="2744369"/>
            <a:ext cx="3407664" cy="769441"/>
          </a:xfrm>
        </p:spPr>
        <p:txBody>
          <a:bodyPr vert="horz" anchor="b">
            <a:noAutofit/>
          </a:bodyPr>
          <a:lstStyle>
            <a:lvl1pPr>
              <a:defRPr sz="2600">
                <a:solidFill>
                  <a:schemeClr val="bg1"/>
                </a:solidFill>
              </a:defRPr>
            </a:lvl1pPr>
          </a:lstStyle>
          <a:p>
            <a:endParaRPr lang="en-US"/>
          </a:p>
        </p:txBody>
      </p:sp>
      <p:sp>
        <p:nvSpPr>
          <p:cNvPr id="12" name="3. Subtitle">
            <a:extLst>
              <a:ext uri="{FF2B5EF4-FFF2-40B4-BE49-F238E27FC236}">
                <a16:creationId xmlns:a16="http://schemas.microsoft.com/office/drawing/2014/main" id="{EB941A43-EB03-AEFA-DFC9-EFA13A2F61ED}"/>
              </a:ext>
            </a:extLst>
          </p:cNvPr>
          <p:cNvSpPr>
            <a:spLocks noGrp="1"/>
          </p:cNvSpPr>
          <p:nvPr>
            <p:ph type="subTitle" idx="1"/>
            <p:custDataLst>
              <p:tags r:id="rId3"/>
            </p:custDataLst>
          </p:nvPr>
        </p:nvSpPr>
        <p:spPr>
          <a:xfrm>
            <a:off x="554736" y="3659644"/>
            <a:ext cx="3407664" cy="249299"/>
          </a:xfrm>
        </p:spPr>
        <p:txBody>
          <a:bodyPr wrap="square">
            <a:spAutoFit/>
          </a:bodyPr>
          <a:lstStyle>
            <a:lvl1pPr marL="0" indent="0" algn="l">
              <a:buNone/>
              <a:defRPr sz="1800" b="0">
                <a:solidFill>
                  <a:schemeClr val="bg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endParaRPr lang="en-US"/>
          </a:p>
        </p:txBody>
      </p:sp>
      <p:sp>
        <p:nvSpPr>
          <p:cNvPr id="6" name="Slide Number">
            <a:extLst>
              <a:ext uri="{FF2B5EF4-FFF2-40B4-BE49-F238E27FC236}">
                <a16:creationId xmlns:a16="http://schemas.microsoft.com/office/drawing/2014/main" id="{B49D0C2B-3846-B8EF-0B14-D381D41DD879}"/>
              </a:ext>
            </a:extLst>
          </p:cNvPr>
          <p:cNvSpPr>
            <a:spLocks noChangeArrowheads="1"/>
          </p:cNvSpPr>
          <p:nvPr userDrawn="1">
            <p:custDataLst>
              <p:tags r:id="rId4"/>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9" name="TextBox 8">
            <a:extLst>
              <a:ext uri="{FF2B5EF4-FFF2-40B4-BE49-F238E27FC236}">
                <a16:creationId xmlns:a16="http://schemas.microsoft.com/office/drawing/2014/main" id="{AAEA889B-1138-5CDA-C8C3-4353D5B024FD}"/>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tx1"/>
                </a:solidFill>
                <a:latin typeface="+mn-lt"/>
                <a:ea typeface="Lato Light" panose="020F0502020204030203" pitchFamily="34" charset="0"/>
                <a:cs typeface="Lato Light" panose="020F0502020204030203" pitchFamily="34" charset="0"/>
              </a:rPr>
              <a:t>©Telesto Strategy LLC 2026</a:t>
            </a:r>
          </a:p>
        </p:txBody>
      </p:sp>
      <p:pic>
        <p:nvPicPr>
          <p:cNvPr id="3" name="Picture 2">
            <a:extLst>
              <a:ext uri="{FF2B5EF4-FFF2-40B4-BE49-F238E27FC236}">
                <a16:creationId xmlns:a16="http://schemas.microsoft.com/office/drawing/2014/main" id="{E028B81F-AD2C-B383-74CB-465DCC5CB6F6}"/>
              </a:ext>
            </a:extLst>
          </p:cNvPr>
          <p:cNvPicPr>
            <a:picLocks noChangeAspect="1"/>
          </p:cNvPicPr>
          <p:nvPr userDrawn="1"/>
        </p:nvPicPr>
        <p:blipFill>
          <a:blip r:embed="rId8" cstate="hqprint">
            <a:extLst>
              <a:ext uri="{28A0092B-C50C-407E-A947-70E740481C1C}">
                <a14:useLocalDpi xmlns:a14="http://schemas.microsoft.com/office/drawing/2010/main"/>
              </a:ext>
            </a:extLst>
          </a:blip>
          <a:stretch>
            <a:fillRect/>
          </a:stretch>
        </p:blipFill>
        <p:spPr>
          <a:xfrm>
            <a:off x="548145" y="6320941"/>
            <a:ext cx="1188720" cy="475488"/>
          </a:xfrm>
          <a:prstGeom prst="rect">
            <a:avLst/>
          </a:prstGeom>
        </p:spPr>
      </p:pic>
    </p:spTree>
    <p:extLst>
      <p:ext uri="{BB962C8B-B14F-4D97-AF65-F5344CB8AC3E}">
        <p14:creationId xmlns:p14="http://schemas.microsoft.com/office/powerpoint/2010/main" val="16108166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3897874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606" imgH="608" progId="TCLayout.ActiveDocument.1">
                  <p:embed/>
                </p:oleObj>
              </mc:Choice>
              <mc:Fallback>
                <p:oleObj name="thinkcell Slide" r:id="rId7"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68345DD1-7E21-F515-85CF-B359B12C5A88}"/>
              </a:ext>
            </a:extLst>
          </p:cNvPr>
          <p:cNvSpPr/>
          <p:nvPr userDrawn="1"/>
        </p:nvSpPr>
        <p:spPr>
          <a:xfrm>
            <a:off x="431800" y="6295219"/>
            <a:ext cx="2514600" cy="5505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99D53E8C-6E9D-8264-2874-D89D74CD9E15}"/>
              </a:ext>
            </a:extLst>
          </p:cNvPr>
          <p:cNvSpPr/>
          <p:nvPr userDrawn="1"/>
        </p:nvSpPr>
        <p:spPr>
          <a:xfrm>
            <a:off x="0" y="0"/>
            <a:ext cx="6099048" cy="6858000"/>
          </a:xfrm>
          <a:prstGeom prst="rect">
            <a:avLst/>
          </a:prstGeom>
          <a:solidFill>
            <a:srgbClr val="282828"/>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10" name="Slide Number">
            <a:extLst>
              <a:ext uri="{FF2B5EF4-FFF2-40B4-BE49-F238E27FC236}">
                <a16:creationId xmlns:a16="http://schemas.microsoft.com/office/drawing/2014/main" id="{B0C7DCE0-AB35-168B-F71C-39D0B5FF339E}"/>
              </a:ext>
            </a:extLst>
          </p:cNvPr>
          <p:cNvSpPr>
            <a:spLocks noChangeArrowheads="1"/>
          </p:cNvSpPr>
          <p:nvPr userDrawn="1">
            <p:custDataLst>
              <p:tags r:id="rId2"/>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cxnSp>
        <p:nvCxnSpPr>
          <p:cNvPr id="7" name="TopLineLeft">
            <a:extLst>
              <a:ext uri="{FF2B5EF4-FFF2-40B4-BE49-F238E27FC236}">
                <a16:creationId xmlns:a16="http://schemas.microsoft.com/office/drawing/2014/main" id="{4EDFE56F-E507-08B4-8517-275C7793A981}"/>
              </a:ext>
            </a:extLst>
          </p:cNvPr>
          <p:cNvCxnSpPr>
            <a:cxnSpLocks/>
          </p:cNvCxnSpPr>
          <p:nvPr userDrawn="1">
            <p:custDataLst>
              <p:tags r:id="rId3"/>
            </p:custDataLst>
          </p:nvPr>
        </p:nvCxnSpPr>
        <p:spPr>
          <a:xfrm>
            <a:off x="554736" y="104855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5" name="2. Slide Title">
            <a:extLst>
              <a:ext uri="{FF2B5EF4-FFF2-40B4-BE49-F238E27FC236}">
                <a16:creationId xmlns:a16="http://schemas.microsoft.com/office/drawing/2014/main" id="{B33732C0-F322-B2B4-F4A4-A41E3551319D}"/>
              </a:ext>
            </a:extLst>
          </p:cNvPr>
          <p:cNvSpPr>
            <a:spLocks noGrp="1"/>
          </p:cNvSpPr>
          <p:nvPr>
            <p:ph type="title"/>
            <p:custDataLst>
              <p:tags r:id="rId4"/>
            </p:custDataLst>
          </p:nvPr>
        </p:nvSpPr>
        <p:spPr>
          <a:xfrm>
            <a:off x="554736" y="291264"/>
            <a:ext cx="5065776" cy="731520"/>
          </a:xfrm>
          <a:prstGeom prst="rect">
            <a:avLst/>
          </a:prstGeom>
        </p:spPr>
        <p:txBody>
          <a:bodyPr vert="horz" wrap="square" lIns="0" tIns="0" rIns="0" bIns="0" rtlCol="0" anchor="b" anchorCtr="0">
            <a:noAutofit/>
          </a:bodyPr>
          <a:lstStyle>
            <a:lvl1pPr>
              <a:defRPr sz="2600">
                <a:solidFill>
                  <a:schemeClr val="bg1"/>
                </a:solidFill>
              </a:defRPr>
            </a:lvl1pPr>
          </a:lstStyle>
          <a:p>
            <a:endParaRPr lang="en-US"/>
          </a:p>
        </p:txBody>
      </p:sp>
      <p:sp>
        <p:nvSpPr>
          <p:cNvPr id="16" name="3. Subtitle">
            <a:extLst>
              <a:ext uri="{FF2B5EF4-FFF2-40B4-BE49-F238E27FC236}">
                <a16:creationId xmlns:a16="http://schemas.microsoft.com/office/drawing/2014/main" id="{17A8874F-8812-3F09-8A2F-95E39D1B24A1}"/>
              </a:ext>
            </a:extLst>
          </p:cNvPr>
          <p:cNvSpPr>
            <a:spLocks noGrp="1"/>
          </p:cNvSpPr>
          <p:nvPr>
            <p:ph type="subTitle" idx="1"/>
            <p:custDataLst>
              <p:tags r:id="rId5"/>
            </p:custDataLst>
          </p:nvPr>
        </p:nvSpPr>
        <p:spPr>
          <a:xfrm>
            <a:off x="554736" y="1075141"/>
            <a:ext cx="5065776" cy="276999"/>
          </a:xfrm>
        </p:spPr>
        <p:txBody>
          <a:bodyPr wrap="square">
            <a:noAutofit/>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sp>
        <p:nvSpPr>
          <p:cNvPr id="6" name="TextBox 5">
            <a:extLst>
              <a:ext uri="{FF2B5EF4-FFF2-40B4-BE49-F238E27FC236}">
                <a16:creationId xmlns:a16="http://schemas.microsoft.com/office/drawing/2014/main" id="{0B786862-111C-1E19-A594-38759CFEB40E}"/>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tx1"/>
                </a:solidFill>
                <a:latin typeface="+mn-lt"/>
                <a:ea typeface="Lato Light" panose="020F0502020204030203" pitchFamily="34" charset="0"/>
                <a:cs typeface="Lato Light" panose="020F0502020204030203" pitchFamily="34" charset="0"/>
              </a:rPr>
              <a:t>©Telesto Strategy LLC 2026</a:t>
            </a:r>
          </a:p>
        </p:txBody>
      </p:sp>
      <p:pic>
        <p:nvPicPr>
          <p:cNvPr id="3" name="Picture 2">
            <a:extLst>
              <a:ext uri="{FF2B5EF4-FFF2-40B4-BE49-F238E27FC236}">
                <a16:creationId xmlns:a16="http://schemas.microsoft.com/office/drawing/2014/main" id="{BC93B85E-A324-FE9D-FFE2-8F3B6E62E95A}"/>
              </a:ext>
            </a:extLst>
          </p:cNvPr>
          <p:cNvPicPr>
            <a:picLocks noChangeAspect="1"/>
          </p:cNvPicPr>
          <p:nvPr userDrawn="1"/>
        </p:nvPicPr>
        <p:blipFill>
          <a:blip r:embed="rId9" cstate="hqprint">
            <a:extLst>
              <a:ext uri="{28A0092B-C50C-407E-A947-70E740481C1C}">
                <a14:useLocalDpi xmlns:a14="http://schemas.microsoft.com/office/drawing/2010/main"/>
              </a:ext>
            </a:extLst>
          </a:blip>
          <a:stretch>
            <a:fillRect/>
          </a:stretch>
        </p:blipFill>
        <p:spPr>
          <a:xfrm>
            <a:off x="548145" y="6320941"/>
            <a:ext cx="1188720" cy="475488"/>
          </a:xfrm>
          <a:prstGeom prst="rect">
            <a:avLst/>
          </a:prstGeom>
        </p:spPr>
      </p:pic>
    </p:spTree>
    <p:extLst>
      <p:ext uri="{BB962C8B-B14F-4D97-AF65-F5344CB8AC3E}">
        <p14:creationId xmlns:p14="http://schemas.microsoft.com/office/powerpoint/2010/main" val="58750664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1/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3897874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606" imgH="608" progId="TCLayout.ActiveDocument.1">
                  <p:embed/>
                </p:oleObj>
              </mc:Choice>
              <mc:Fallback>
                <p:oleObj name="thinkcell Slide" r:id="rId9"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99D53E8C-6E9D-8264-2874-D89D74CD9E15}"/>
              </a:ext>
            </a:extLst>
          </p:cNvPr>
          <p:cNvSpPr/>
          <p:nvPr userDrawn="1"/>
        </p:nvSpPr>
        <p:spPr>
          <a:xfrm>
            <a:off x="0" y="0"/>
            <a:ext cx="6099048" cy="6858000"/>
          </a:xfrm>
          <a:prstGeom prst="rect">
            <a:avLst/>
          </a:prstGeom>
          <a:solidFill>
            <a:srgbClr val="282828"/>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cxnSp>
        <p:nvCxnSpPr>
          <p:cNvPr id="17" name="TopLineRight">
            <a:extLst>
              <a:ext uri="{FF2B5EF4-FFF2-40B4-BE49-F238E27FC236}">
                <a16:creationId xmlns:a16="http://schemas.microsoft.com/office/drawing/2014/main" id="{7CCC7D8D-D9D7-5515-DAAE-9407D99404B9}"/>
              </a:ext>
            </a:extLst>
          </p:cNvPr>
          <p:cNvCxnSpPr>
            <a:cxnSpLocks/>
          </p:cNvCxnSpPr>
          <p:nvPr userDrawn="1">
            <p:custDataLst>
              <p:tags r:id="rId2"/>
            </p:custDataLst>
          </p:nvPr>
        </p:nvCxnSpPr>
        <p:spPr>
          <a:xfrm>
            <a:off x="6573171" y="623015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 name="TopLineRight">
            <a:extLst>
              <a:ext uri="{FF2B5EF4-FFF2-40B4-BE49-F238E27FC236}">
                <a16:creationId xmlns:a16="http://schemas.microsoft.com/office/drawing/2014/main" id="{84AF57CB-8A1D-D8CD-9FE3-C44B3EFDF42F}"/>
              </a:ext>
            </a:extLst>
          </p:cNvPr>
          <p:cNvCxnSpPr>
            <a:cxnSpLocks/>
          </p:cNvCxnSpPr>
          <p:nvPr userDrawn="1">
            <p:custDataLst>
              <p:tags r:id="rId3"/>
            </p:custDataLst>
          </p:nvPr>
        </p:nvCxnSpPr>
        <p:spPr>
          <a:xfrm>
            <a:off x="6573171" y="104855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 name="TopLineLeft">
            <a:extLst>
              <a:ext uri="{FF2B5EF4-FFF2-40B4-BE49-F238E27FC236}">
                <a16:creationId xmlns:a16="http://schemas.microsoft.com/office/drawing/2014/main" id="{4EDFE56F-E507-08B4-8517-275C7793A981}"/>
              </a:ext>
            </a:extLst>
          </p:cNvPr>
          <p:cNvCxnSpPr>
            <a:cxnSpLocks/>
          </p:cNvCxnSpPr>
          <p:nvPr userDrawn="1">
            <p:custDataLst>
              <p:tags r:id="rId4"/>
            </p:custDataLst>
          </p:nvPr>
        </p:nvCxnSpPr>
        <p:spPr>
          <a:xfrm>
            <a:off x="554736" y="104855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5" name="2. Slide Title">
            <a:extLst>
              <a:ext uri="{FF2B5EF4-FFF2-40B4-BE49-F238E27FC236}">
                <a16:creationId xmlns:a16="http://schemas.microsoft.com/office/drawing/2014/main" id="{B33732C0-F322-B2B4-F4A4-A41E3551319D}"/>
              </a:ext>
            </a:extLst>
          </p:cNvPr>
          <p:cNvSpPr>
            <a:spLocks noGrp="1"/>
          </p:cNvSpPr>
          <p:nvPr>
            <p:ph type="title"/>
            <p:custDataLst>
              <p:tags r:id="rId5"/>
            </p:custDataLst>
          </p:nvPr>
        </p:nvSpPr>
        <p:spPr>
          <a:xfrm>
            <a:off x="554736" y="291264"/>
            <a:ext cx="5065776" cy="731520"/>
          </a:xfrm>
          <a:prstGeom prst="rect">
            <a:avLst/>
          </a:prstGeom>
        </p:spPr>
        <p:txBody>
          <a:bodyPr vert="horz" wrap="square" lIns="0" tIns="0" rIns="0" bIns="0" rtlCol="0" anchor="b" anchorCtr="0">
            <a:noAutofit/>
          </a:bodyPr>
          <a:lstStyle>
            <a:lvl1pPr>
              <a:defRPr sz="2600">
                <a:solidFill>
                  <a:schemeClr val="bg1"/>
                </a:solidFill>
              </a:defRPr>
            </a:lvl1pPr>
          </a:lstStyle>
          <a:p>
            <a:endParaRPr lang="en-US"/>
          </a:p>
        </p:txBody>
      </p:sp>
      <p:sp>
        <p:nvSpPr>
          <p:cNvPr id="16" name="3. Subtitle">
            <a:extLst>
              <a:ext uri="{FF2B5EF4-FFF2-40B4-BE49-F238E27FC236}">
                <a16:creationId xmlns:a16="http://schemas.microsoft.com/office/drawing/2014/main" id="{17A8874F-8812-3F09-8A2F-95E39D1B24A1}"/>
              </a:ext>
            </a:extLst>
          </p:cNvPr>
          <p:cNvSpPr>
            <a:spLocks noGrp="1"/>
          </p:cNvSpPr>
          <p:nvPr>
            <p:ph type="subTitle" idx="1"/>
            <p:custDataLst>
              <p:tags r:id="rId6"/>
            </p:custDataLst>
          </p:nvPr>
        </p:nvSpPr>
        <p:spPr>
          <a:xfrm>
            <a:off x="554736" y="1075141"/>
            <a:ext cx="5065776" cy="276999"/>
          </a:xfrm>
        </p:spPr>
        <p:txBody>
          <a:bodyPr wrap="square">
            <a:noAutofit/>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pic>
        <p:nvPicPr>
          <p:cNvPr id="11" name="Picture 10">
            <a:extLst>
              <a:ext uri="{FF2B5EF4-FFF2-40B4-BE49-F238E27FC236}">
                <a16:creationId xmlns:a16="http://schemas.microsoft.com/office/drawing/2014/main" id="{607A36E4-0957-8ECC-3082-BE707CF68B00}"/>
              </a:ext>
            </a:extLst>
          </p:cNvPr>
          <p:cNvPicPr>
            <a:picLocks noChangeAspect="1"/>
          </p:cNvPicPr>
          <p:nvPr userDrawn="1"/>
        </p:nvPicPr>
        <p:blipFill>
          <a:blip r:embed="rId11">
            <a:extLst>
              <a:ext uri="{28A0092B-C50C-407E-A947-70E740481C1C}">
                <a14:useLocalDpi xmlns:a14="http://schemas.microsoft.com/office/drawing/2010/main"/>
              </a:ext>
            </a:extLst>
          </a:blip>
          <a:srcRect/>
          <a:stretch>
            <a:fillRect/>
          </a:stretch>
        </p:blipFill>
        <p:spPr>
          <a:xfrm>
            <a:off x="6092952" y="0"/>
            <a:ext cx="6099048" cy="6858000"/>
          </a:xfrm>
          <a:prstGeom prst="rect">
            <a:avLst/>
          </a:prstGeom>
        </p:spPr>
      </p:pic>
      <p:sp>
        <p:nvSpPr>
          <p:cNvPr id="12" name="Rectangle 11">
            <a:extLst>
              <a:ext uri="{FF2B5EF4-FFF2-40B4-BE49-F238E27FC236}">
                <a16:creationId xmlns:a16="http://schemas.microsoft.com/office/drawing/2014/main" id="{4D0D4C9F-0133-939E-AFE8-F025A012511B}"/>
              </a:ext>
            </a:extLst>
          </p:cNvPr>
          <p:cNvSpPr/>
          <p:nvPr userDrawn="1"/>
        </p:nvSpPr>
        <p:spPr>
          <a:xfrm>
            <a:off x="6092952" y="0"/>
            <a:ext cx="6099048" cy="6858000"/>
          </a:xfrm>
          <a:prstGeom prst="rect">
            <a:avLst/>
          </a:prstGeom>
          <a:solidFill>
            <a:srgbClr val="282828">
              <a:alpha val="70980"/>
            </a:srgbClr>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pic>
        <p:nvPicPr>
          <p:cNvPr id="21" name="Picture 20">
            <a:extLst>
              <a:ext uri="{FF2B5EF4-FFF2-40B4-BE49-F238E27FC236}">
                <a16:creationId xmlns:a16="http://schemas.microsoft.com/office/drawing/2014/main" id="{517E6623-6297-A305-A99F-CB3492FED018}"/>
              </a:ext>
            </a:extLst>
          </p:cNvPr>
          <p:cNvPicPr>
            <a:picLocks noChangeAspect="1"/>
          </p:cNvPicPr>
          <p:nvPr userDrawn="1"/>
        </p:nvPicPr>
        <p:blipFill>
          <a:blip r:embed="rId12" cstate="hqprint">
            <a:extLst>
              <a:ext uri="{28A0092B-C50C-407E-A947-70E740481C1C}">
                <a14:useLocalDpi xmlns:a14="http://schemas.microsoft.com/office/drawing/2010/main"/>
              </a:ext>
            </a:extLst>
          </a:blip>
          <a:stretch>
            <a:fillRect/>
          </a:stretch>
        </p:blipFill>
        <p:spPr>
          <a:xfrm>
            <a:off x="548145" y="6320941"/>
            <a:ext cx="1188720" cy="475488"/>
          </a:xfrm>
          <a:prstGeom prst="rect">
            <a:avLst/>
          </a:prstGeom>
        </p:spPr>
      </p:pic>
      <p:sp>
        <p:nvSpPr>
          <p:cNvPr id="18" name="Slide Number">
            <a:extLst>
              <a:ext uri="{FF2B5EF4-FFF2-40B4-BE49-F238E27FC236}">
                <a16:creationId xmlns:a16="http://schemas.microsoft.com/office/drawing/2014/main" id="{5F0D303F-C275-1E41-7D65-5F820CA12216}"/>
              </a:ext>
            </a:extLst>
          </p:cNvPr>
          <p:cNvSpPr>
            <a:spLocks noChangeArrowheads="1"/>
          </p:cNvSpPr>
          <p:nvPr userDrawn="1">
            <p:custDataLst>
              <p:tags r:id="rId7"/>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sp>
        <p:nvSpPr>
          <p:cNvPr id="22" name="TextBox 21">
            <a:extLst>
              <a:ext uri="{FF2B5EF4-FFF2-40B4-BE49-F238E27FC236}">
                <a16:creationId xmlns:a16="http://schemas.microsoft.com/office/drawing/2014/main" id="{02E07D81-2A00-DEAD-6711-333D309C6B26}"/>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bg1"/>
                </a:solidFill>
                <a:latin typeface="+mn-lt"/>
                <a:ea typeface="Lato Light" panose="020F0502020204030203" pitchFamily="34" charset="0"/>
                <a:cs typeface="Lato Light" panose="020F0502020204030203" pitchFamily="34" charset="0"/>
              </a:rPr>
              <a:t>©Telesto Strategy LLC 2026</a:t>
            </a:r>
          </a:p>
        </p:txBody>
      </p:sp>
    </p:spTree>
    <p:extLst>
      <p:ext uri="{BB962C8B-B14F-4D97-AF65-F5344CB8AC3E}">
        <p14:creationId xmlns:p14="http://schemas.microsoft.com/office/powerpoint/2010/main" val="361591702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1/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A2A9BCD-32A0-E105-E2F9-737A3988D1FF}"/>
              </a:ext>
            </a:extLst>
          </p:cNvPr>
          <p:cNvPicPr>
            <a:picLocks noChangeAspect="1"/>
          </p:cNvPicPr>
          <p:nvPr userDrawn="1"/>
        </p:nvPicPr>
        <p:blipFill>
          <a:blip r:embed="rId7">
            <a:extLst>
              <a:ext uri="{28A0092B-C50C-407E-A947-70E740481C1C}">
                <a14:useLocalDpi xmlns:a14="http://schemas.microsoft.com/office/drawing/2010/main"/>
              </a:ext>
            </a:extLst>
          </a:blip>
          <a:srcRect/>
          <a:stretch>
            <a:fillRect/>
          </a:stretch>
        </p:blipFill>
        <p:spPr>
          <a:xfrm>
            <a:off x="6082267" y="0"/>
            <a:ext cx="6114688" cy="6858000"/>
          </a:xfrm>
          <a:prstGeom prst="rect">
            <a:avLst/>
          </a:prstGeom>
        </p:spPr>
      </p:pic>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3897874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99D53E8C-6E9D-8264-2874-D89D74CD9E15}"/>
              </a:ext>
            </a:extLst>
          </p:cNvPr>
          <p:cNvSpPr/>
          <p:nvPr userDrawn="1"/>
        </p:nvSpPr>
        <p:spPr>
          <a:xfrm>
            <a:off x="0" y="-1"/>
            <a:ext cx="6099048" cy="6857999"/>
          </a:xfrm>
          <a:prstGeom prst="rect">
            <a:avLst/>
          </a:prstGeom>
          <a:solidFill>
            <a:srgbClr val="282828"/>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cxnSp>
        <p:nvCxnSpPr>
          <p:cNvPr id="7" name="TopLineLeft">
            <a:extLst>
              <a:ext uri="{FF2B5EF4-FFF2-40B4-BE49-F238E27FC236}">
                <a16:creationId xmlns:a16="http://schemas.microsoft.com/office/drawing/2014/main" id="{4EDFE56F-E507-08B4-8517-275C7793A981}"/>
              </a:ext>
            </a:extLst>
          </p:cNvPr>
          <p:cNvCxnSpPr>
            <a:cxnSpLocks/>
          </p:cNvCxnSpPr>
          <p:nvPr userDrawn="1">
            <p:custDataLst>
              <p:tags r:id="rId2"/>
            </p:custDataLst>
          </p:nvPr>
        </p:nvCxnSpPr>
        <p:spPr>
          <a:xfrm>
            <a:off x="554736" y="104855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5" name="2. Slide Title">
            <a:extLst>
              <a:ext uri="{FF2B5EF4-FFF2-40B4-BE49-F238E27FC236}">
                <a16:creationId xmlns:a16="http://schemas.microsoft.com/office/drawing/2014/main" id="{B33732C0-F322-B2B4-F4A4-A41E3551319D}"/>
              </a:ext>
            </a:extLst>
          </p:cNvPr>
          <p:cNvSpPr>
            <a:spLocks noGrp="1"/>
          </p:cNvSpPr>
          <p:nvPr>
            <p:ph type="title"/>
            <p:custDataLst>
              <p:tags r:id="rId3"/>
            </p:custDataLst>
          </p:nvPr>
        </p:nvSpPr>
        <p:spPr>
          <a:xfrm>
            <a:off x="554736" y="291264"/>
            <a:ext cx="5065776" cy="731520"/>
          </a:xfrm>
          <a:prstGeom prst="rect">
            <a:avLst/>
          </a:prstGeom>
        </p:spPr>
        <p:txBody>
          <a:bodyPr vert="horz" wrap="square" lIns="0" tIns="0" rIns="0" bIns="0" rtlCol="0" anchor="b" anchorCtr="0">
            <a:noAutofit/>
          </a:bodyPr>
          <a:lstStyle>
            <a:lvl1pPr>
              <a:defRPr sz="2600">
                <a:solidFill>
                  <a:schemeClr val="bg1"/>
                </a:solidFill>
              </a:defRPr>
            </a:lvl1pPr>
          </a:lstStyle>
          <a:p>
            <a:endParaRPr lang="en-US"/>
          </a:p>
        </p:txBody>
      </p:sp>
      <p:sp>
        <p:nvSpPr>
          <p:cNvPr id="16" name="3. Subtitle">
            <a:extLst>
              <a:ext uri="{FF2B5EF4-FFF2-40B4-BE49-F238E27FC236}">
                <a16:creationId xmlns:a16="http://schemas.microsoft.com/office/drawing/2014/main" id="{17A8874F-8812-3F09-8A2F-95E39D1B24A1}"/>
              </a:ext>
            </a:extLst>
          </p:cNvPr>
          <p:cNvSpPr>
            <a:spLocks noGrp="1"/>
          </p:cNvSpPr>
          <p:nvPr>
            <p:ph type="subTitle" idx="1"/>
            <p:custDataLst>
              <p:tags r:id="rId4"/>
            </p:custDataLst>
          </p:nvPr>
        </p:nvSpPr>
        <p:spPr>
          <a:xfrm>
            <a:off x="554736" y="1075141"/>
            <a:ext cx="5065776" cy="276999"/>
          </a:xfrm>
        </p:spPr>
        <p:txBody>
          <a:bodyPr wrap="square">
            <a:noAutofit/>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sp>
        <p:nvSpPr>
          <p:cNvPr id="12" name="Rectangle 11">
            <a:extLst>
              <a:ext uri="{FF2B5EF4-FFF2-40B4-BE49-F238E27FC236}">
                <a16:creationId xmlns:a16="http://schemas.microsoft.com/office/drawing/2014/main" id="{4D0D4C9F-0133-939E-AFE8-F025A012511B}"/>
              </a:ext>
            </a:extLst>
          </p:cNvPr>
          <p:cNvSpPr/>
          <p:nvPr userDrawn="1"/>
        </p:nvSpPr>
        <p:spPr>
          <a:xfrm>
            <a:off x="6095998" y="0"/>
            <a:ext cx="6099048" cy="6858000"/>
          </a:xfrm>
          <a:prstGeom prst="rect">
            <a:avLst/>
          </a:prstGeom>
          <a:solidFill>
            <a:schemeClr val="accent6">
              <a:lumMod val="50000"/>
              <a:alpha val="70980"/>
            </a:schemeClr>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10" name="Slide Number">
            <a:extLst>
              <a:ext uri="{FF2B5EF4-FFF2-40B4-BE49-F238E27FC236}">
                <a16:creationId xmlns:a16="http://schemas.microsoft.com/office/drawing/2014/main" id="{B0C7DCE0-AB35-168B-F71C-39D0B5FF339E}"/>
              </a:ext>
            </a:extLst>
          </p:cNvPr>
          <p:cNvSpPr>
            <a:spLocks noChangeArrowheads="1"/>
          </p:cNvSpPr>
          <p:nvPr userDrawn="1">
            <p:custDataLst>
              <p:tags r:id="rId5"/>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TextBox 5">
            <a:extLst>
              <a:ext uri="{FF2B5EF4-FFF2-40B4-BE49-F238E27FC236}">
                <a16:creationId xmlns:a16="http://schemas.microsoft.com/office/drawing/2014/main" id="{0B786862-111C-1E19-A594-38759CFEB40E}"/>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tx1"/>
                </a:solidFill>
                <a:latin typeface="+mn-lt"/>
                <a:ea typeface="Lato Light" panose="020F0502020204030203" pitchFamily="34" charset="0"/>
                <a:cs typeface="Lato Light" panose="020F0502020204030203" pitchFamily="34" charset="0"/>
              </a:rPr>
              <a:t>©Telesto Strategy LLC 2026</a:t>
            </a:r>
          </a:p>
        </p:txBody>
      </p:sp>
      <p:pic>
        <p:nvPicPr>
          <p:cNvPr id="13" name="Picture 12">
            <a:extLst>
              <a:ext uri="{FF2B5EF4-FFF2-40B4-BE49-F238E27FC236}">
                <a16:creationId xmlns:a16="http://schemas.microsoft.com/office/drawing/2014/main" id="{3FE2A278-C154-4323-3A4C-2C6E83DB7E32}"/>
              </a:ext>
            </a:extLst>
          </p:cNvPr>
          <p:cNvPicPr>
            <a:picLocks noChangeAspect="1"/>
          </p:cNvPicPr>
          <p:nvPr userDrawn="1"/>
        </p:nvPicPr>
        <p:blipFill>
          <a:blip r:embed="rId10" cstate="hqprint">
            <a:extLst>
              <a:ext uri="{28A0092B-C50C-407E-A947-70E740481C1C}">
                <a14:useLocalDpi xmlns:a14="http://schemas.microsoft.com/office/drawing/2010/main"/>
              </a:ext>
            </a:extLst>
          </a:blip>
          <a:stretch>
            <a:fillRect/>
          </a:stretch>
        </p:blipFill>
        <p:spPr>
          <a:xfrm>
            <a:off x="548145" y="6320941"/>
            <a:ext cx="1188720" cy="475488"/>
          </a:xfrm>
          <a:prstGeom prst="rect">
            <a:avLst/>
          </a:prstGeom>
        </p:spPr>
      </p:pic>
    </p:spTree>
    <p:extLst>
      <p:ext uri="{BB962C8B-B14F-4D97-AF65-F5344CB8AC3E}">
        <p14:creationId xmlns:p14="http://schemas.microsoft.com/office/powerpoint/2010/main" val="38468274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1/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488498B-F14E-3E46-DB68-756D68477D96}"/>
              </a:ext>
            </a:extLst>
          </p:cNvPr>
          <p:cNvPicPr>
            <a:picLocks noChangeAspect="1"/>
          </p:cNvPicPr>
          <p:nvPr userDrawn="1"/>
        </p:nvPicPr>
        <p:blipFill>
          <a:blip r:embed="rId7">
            <a:extLst>
              <a:ext uri="{28A0092B-C50C-407E-A947-70E740481C1C}">
                <a14:useLocalDpi xmlns:a14="http://schemas.microsoft.com/office/drawing/2010/main"/>
              </a:ext>
            </a:extLst>
          </a:blip>
          <a:srcRect/>
          <a:stretch>
            <a:fillRect/>
          </a:stretch>
        </p:blipFill>
        <p:spPr>
          <a:xfrm>
            <a:off x="0" y="0"/>
            <a:ext cx="6096000" cy="6858000"/>
          </a:xfrm>
          <a:prstGeom prst="rect">
            <a:avLst/>
          </a:prstGeom>
        </p:spPr>
      </p:pic>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3897874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99D53E8C-6E9D-8264-2874-D89D74CD9E15}"/>
              </a:ext>
            </a:extLst>
          </p:cNvPr>
          <p:cNvSpPr/>
          <p:nvPr userDrawn="1"/>
        </p:nvSpPr>
        <p:spPr>
          <a:xfrm>
            <a:off x="0" y="0"/>
            <a:ext cx="6096000" cy="6858000"/>
          </a:xfrm>
          <a:prstGeom prst="rect">
            <a:avLst/>
          </a:prstGeom>
          <a:solidFill>
            <a:srgbClr val="282828">
              <a:alpha val="69804"/>
            </a:srgbClr>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10" name="Slide Number">
            <a:extLst>
              <a:ext uri="{FF2B5EF4-FFF2-40B4-BE49-F238E27FC236}">
                <a16:creationId xmlns:a16="http://schemas.microsoft.com/office/drawing/2014/main" id="{B0C7DCE0-AB35-168B-F71C-39D0B5FF339E}"/>
              </a:ext>
            </a:extLst>
          </p:cNvPr>
          <p:cNvSpPr>
            <a:spLocks noChangeArrowheads="1"/>
          </p:cNvSpPr>
          <p:nvPr userDrawn="1">
            <p:custDataLst>
              <p:tags r:id="rId2"/>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cxnSp>
        <p:nvCxnSpPr>
          <p:cNvPr id="7" name="TopLineLeft">
            <a:extLst>
              <a:ext uri="{FF2B5EF4-FFF2-40B4-BE49-F238E27FC236}">
                <a16:creationId xmlns:a16="http://schemas.microsoft.com/office/drawing/2014/main" id="{4EDFE56F-E507-08B4-8517-275C7793A981}"/>
              </a:ext>
            </a:extLst>
          </p:cNvPr>
          <p:cNvCxnSpPr>
            <a:cxnSpLocks/>
          </p:cNvCxnSpPr>
          <p:nvPr userDrawn="1">
            <p:custDataLst>
              <p:tags r:id="rId3"/>
            </p:custDataLst>
          </p:nvPr>
        </p:nvCxnSpPr>
        <p:spPr>
          <a:xfrm>
            <a:off x="554736" y="104855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5" name="2. Slide Title">
            <a:extLst>
              <a:ext uri="{FF2B5EF4-FFF2-40B4-BE49-F238E27FC236}">
                <a16:creationId xmlns:a16="http://schemas.microsoft.com/office/drawing/2014/main" id="{B33732C0-F322-B2B4-F4A4-A41E3551319D}"/>
              </a:ext>
            </a:extLst>
          </p:cNvPr>
          <p:cNvSpPr>
            <a:spLocks noGrp="1"/>
          </p:cNvSpPr>
          <p:nvPr>
            <p:ph type="title"/>
            <p:custDataLst>
              <p:tags r:id="rId4"/>
            </p:custDataLst>
          </p:nvPr>
        </p:nvSpPr>
        <p:spPr>
          <a:xfrm>
            <a:off x="554736" y="291264"/>
            <a:ext cx="5065776" cy="731520"/>
          </a:xfrm>
          <a:prstGeom prst="rect">
            <a:avLst/>
          </a:prstGeom>
        </p:spPr>
        <p:txBody>
          <a:bodyPr vert="horz" wrap="square" lIns="0" tIns="0" rIns="0" bIns="0" rtlCol="0" anchor="b" anchorCtr="0">
            <a:noAutofit/>
          </a:bodyPr>
          <a:lstStyle>
            <a:lvl1pPr>
              <a:defRPr sz="2600">
                <a:solidFill>
                  <a:schemeClr val="bg1"/>
                </a:solidFill>
              </a:defRPr>
            </a:lvl1pPr>
          </a:lstStyle>
          <a:p>
            <a:endParaRPr lang="en-US"/>
          </a:p>
        </p:txBody>
      </p:sp>
      <p:sp>
        <p:nvSpPr>
          <p:cNvPr id="16" name="3. Subtitle">
            <a:extLst>
              <a:ext uri="{FF2B5EF4-FFF2-40B4-BE49-F238E27FC236}">
                <a16:creationId xmlns:a16="http://schemas.microsoft.com/office/drawing/2014/main" id="{17A8874F-8812-3F09-8A2F-95E39D1B24A1}"/>
              </a:ext>
            </a:extLst>
          </p:cNvPr>
          <p:cNvSpPr>
            <a:spLocks noGrp="1"/>
          </p:cNvSpPr>
          <p:nvPr>
            <p:ph type="subTitle" idx="1"/>
            <p:custDataLst>
              <p:tags r:id="rId5"/>
            </p:custDataLst>
          </p:nvPr>
        </p:nvSpPr>
        <p:spPr>
          <a:xfrm>
            <a:off x="554736" y="1075141"/>
            <a:ext cx="5065776" cy="276999"/>
          </a:xfrm>
        </p:spPr>
        <p:txBody>
          <a:bodyPr wrap="square">
            <a:noAutofit/>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sp>
        <p:nvSpPr>
          <p:cNvPr id="6" name="TextBox 5">
            <a:extLst>
              <a:ext uri="{FF2B5EF4-FFF2-40B4-BE49-F238E27FC236}">
                <a16:creationId xmlns:a16="http://schemas.microsoft.com/office/drawing/2014/main" id="{0B786862-111C-1E19-A594-38759CFEB40E}"/>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tx1"/>
                </a:solidFill>
                <a:latin typeface="+mn-lt"/>
                <a:ea typeface="Lato Light" panose="020F0502020204030203" pitchFamily="34" charset="0"/>
                <a:cs typeface="Lato Light" panose="020F0502020204030203" pitchFamily="34" charset="0"/>
              </a:rPr>
              <a:t>©Telesto Strategy LLC 2026</a:t>
            </a:r>
          </a:p>
        </p:txBody>
      </p:sp>
      <p:pic>
        <p:nvPicPr>
          <p:cNvPr id="3" name="Picture 2">
            <a:extLst>
              <a:ext uri="{FF2B5EF4-FFF2-40B4-BE49-F238E27FC236}">
                <a16:creationId xmlns:a16="http://schemas.microsoft.com/office/drawing/2014/main" id="{2E272F52-B755-5791-4AB1-65AC85900BFE}"/>
              </a:ext>
            </a:extLst>
          </p:cNvPr>
          <p:cNvPicPr>
            <a:picLocks noChangeAspect="1"/>
          </p:cNvPicPr>
          <p:nvPr userDrawn="1"/>
        </p:nvPicPr>
        <p:blipFill>
          <a:blip r:embed="rId10" cstate="hqprint">
            <a:extLst>
              <a:ext uri="{28A0092B-C50C-407E-A947-70E740481C1C}">
                <a14:useLocalDpi xmlns:a14="http://schemas.microsoft.com/office/drawing/2010/main"/>
              </a:ext>
            </a:extLst>
          </a:blip>
          <a:stretch>
            <a:fillRect/>
          </a:stretch>
        </p:blipFill>
        <p:spPr>
          <a:xfrm>
            <a:off x="548145" y="6320941"/>
            <a:ext cx="1188720" cy="475488"/>
          </a:xfrm>
          <a:prstGeom prst="rect">
            <a:avLst/>
          </a:prstGeom>
        </p:spPr>
      </p:pic>
    </p:spTree>
    <p:extLst>
      <p:ext uri="{BB962C8B-B14F-4D97-AF65-F5344CB8AC3E}">
        <p14:creationId xmlns:p14="http://schemas.microsoft.com/office/powerpoint/2010/main" val="278347697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2 (Corner Image Ready)">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205711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99D53E8C-6E9D-8264-2874-D89D74CD9E15}"/>
              </a:ext>
            </a:extLst>
          </p:cNvPr>
          <p:cNvSpPr/>
          <p:nvPr userDrawn="1"/>
        </p:nvSpPr>
        <p:spPr>
          <a:xfrm>
            <a:off x="0" y="0"/>
            <a:ext cx="6099048" cy="6858000"/>
          </a:xfrm>
          <a:prstGeom prst="rect">
            <a:avLst/>
          </a:prstGeom>
          <a:solidFill>
            <a:srgbClr val="282828"/>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20" name="2. Slide Title">
            <a:extLst>
              <a:ext uri="{FF2B5EF4-FFF2-40B4-BE49-F238E27FC236}">
                <a16:creationId xmlns:a16="http://schemas.microsoft.com/office/drawing/2014/main" id="{FC3AD25D-29A3-D4BC-7AB1-EFC4E2BCC3CE}"/>
              </a:ext>
            </a:extLst>
          </p:cNvPr>
          <p:cNvSpPr>
            <a:spLocks noGrp="1"/>
          </p:cNvSpPr>
          <p:nvPr>
            <p:ph type="title"/>
            <p:custDataLst>
              <p:tags r:id="rId2"/>
            </p:custDataLst>
          </p:nvPr>
        </p:nvSpPr>
        <p:spPr>
          <a:xfrm>
            <a:off x="554736" y="291264"/>
            <a:ext cx="5065776" cy="731520"/>
          </a:xfrm>
          <a:prstGeom prst="rect">
            <a:avLst/>
          </a:prstGeom>
        </p:spPr>
        <p:txBody>
          <a:bodyPr vert="horz" wrap="square" lIns="0" tIns="0" rIns="0" bIns="0" rtlCol="0" anchor="b" anchorCtr="0">
            <a:noAutofit/>
          </a:bodyPr>
          <a:lstStyle>
            <a:lvl1pPr>
              <a:defRPr sz="2600">
                <a:solidFill>
                  <a:schemeClr val="bg1"/>
                </a:solidFill>
              </a:defRPr>
            </a:lvl1pPr>
          </a:lstStyle>
          <a:p>
            <a:endParaRPr lang="en-US"/>
          </a:p>
        </p:txBody>
      </p:sp>
      <p:sp>
        <p:nvSpPr>
          <p:cNvPr id="21" name="3. Subtitle">
            <a:extLst>
              <a:ext uri="{FF2B5EF4-FFF2-40B4-BE49-F238E27FC236}">
                <a16:creationId xmlns:a16="http://schemas.microsoft.com/office/drawing/2014/main" id="{9290E951-F55D-E63C-08A3-5C292512A87A}"/>
              </a:ext>
            </a:extLst>
          </p:cNvPr>
          <p:cNvSpPr>
            <a:spLocks noGrp="1"/>
          </p:cNvSpPr>
          <p:nvPr>
            <p:ph type="subTitle" idx="1"/>
            <p:custDataLst>
              <p:tags r:id="rId3"/>
            </p:custDataLst>
          </p:nvPr>
        </p:nvSpPr>
        <p:spPr>
          <a:xfrm>
            <a:off x="554736" y="1075141"/>
            <a:ext cx="5065776" cy="276999"/>
          </a:xfrm>
        </p:spPr>
        <p:txBody>
          <a:bodyPr wrap="square">
            <a:noAutofit/>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sp>
        <p:nvSpPr>
          <p:cNvPr id="6" name="Slide Number">
            <a:extLst>
              <a:ext uri="{FF2B5EF4-FFF2-40B4-BE49-F238E27FC236}">
                <a16:creationId xmlns:a16="http://schemas.microsoft.com/office/drawing/2014/main" id="{51C0AD84-E372-F11D-D1F6-4605D356B517}"/>
              </a:ext>
            </a:extLst>
          </p:cNvPr>
          <p:cNvSpPr>
            <a:spLocks noChangeArrowheads="1"/>
          </p:cNvSpPr>
          <p:nvPr userDrawn="1">
            <p:custDataLst>
              <p:tags r:id="rId4"/>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TextBox 6">
            <a:extLst>
              <a:ext uri="{FF2B5EF4-FFF2-40B4-BE49-F238E27FC236}">
                <a16:creationId xmlns:a16="http://schemas.microsoft.com/office/drawing/2014/main" id="{72DE32A6-ACEB-4BD1-FE15-1E15842DBE7E}"/>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tx1"/>
                </a:solidFill>
                <a:latin typeface="+mn-lt"/>
                <a:ea typeface="Lato Light" panose="020F0502020204030203" pitchFamily="34" charset="0"/>
                <a:cs typeface="Lato Light" panose="020F0502020204030203" pitchFamily="34" charset="0"/>
              </a:rPr>
              <a:t>©Telesto Strategy LLC 2026</a:t>
            </a:r>
          </a:p>
        </p:txBody>
      </p:sp>
      <p:pic>
        <p:nvPicPr>
          <p:cNvPr id="3" name="Picture 2">
            <a:extLst>
              <a:ext uri="{FF2B5EF4-FFF2-40B4-BE49-F238E27FC236}">
                <a16:creationId xmlns:a16="http://schemas.microsoft.com/office/drawing/2014/main" id="{85DF3ACB-87C9-DEDE-1F70-352EBD39F2EF}"/>
              </a:ext>
            </a:extLst>
          </p:cNvPr>
          <p:cNvPicPr>
            <a:picLocks noChangeAspect="1"/>
          </p:cNvPicPr>
          <p:nvPr userDrawn="1"/>
        </p:nvPicPr>
        <p:blipFill>
          <a:blip r:embed="rId8" cstate="hqprint">
            <a:extLst>
              <a:ext uri="{28A0092B-C50C-407E-A947-70E740481C1C}">
                <a14:useLocalDpi xmlns:a14="http://schemas.microsoft.com/office/drawing/2010/main"/>
              </a:ext>
            </a:extLst>
          </a:blip>
          <a:stretch>
            <a:fillRect/>
          </a:stretch>
        </p:blipFill>
        <p:spPr>
          <a:xfrm>
            <a:off x="548145" y="6320941"/>
            <a:ext cx="1188720" cy="475488"/>
          </a:xfrm>
          <a:prstGeom prst="rect">
            <a:avLst/>
          </a:prstGeom>
        </p:spPr>
      </p:pic>
    </p:spTree>
    <p:extLst>
      <p:ext uri="{BB962C8B-B14F-4D97-AF65-F5344CB8AC3E}">
        <p14:creationId xmlns:p14="http://schemas.microsoft.com/office/powerpoint/2010/main" val="119568490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1/2 (Corner Image Ready)">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205711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99D53E8C-6E9D-8264-2874-D89D74CD9E15}"/>
              </a:ext>
            </a:extLst>
          </p:cNvPr>
          <p:cNvSpPr/>
          <p:nvPr userDrawn="1"/>
        </p:nvSpPr>
        <p:spPr>
          <a:xfrm>
            <a:off x="0" y="0"/>
            <a:ext cx="6099048" cy="6858000"/>
          </a:xfrm>
          <a:prstGeom prst="rect">
            <a:avLst/>
          </a:prstGeom>
          <a:solidFill>
            <a:schemeClr val="accent6"/>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20" name="2. Slide Title">
            <a:extLst>
              <a:ext uri="{FF2B5EF4-FFF2-40B4-BE49-F238E27FC236}">
                <a16:creationId xmlns:a16="http://schemas.microsoft.com/office/drawing/2014/main" id="{FC3AD25D-29A3-D4BC-7AB1-EFC4E2BCC3CE}"/>
              </a:ext>
            </a:extLst>
          </p:cNvPr>
          <p:cNvSpPr>
            <a:spLocks noGrp="1"/>
          </p:cNvSpPr>
          <p:nvPr>
            <p:ph type="title"/>
            <p:custDataLst>
              <p:tags r:id="rId2"/>
            </p:custDataLst>
          </p:nvPr>
        </p:nvSpPr>
        <p:spPr>
          <a:xfrm>
            <a:off x="554736" y="291264"/>
            <a:ext cx="5065776" cy="731520"/>
          </a:xfrm>
          <a:prstGeom prst="rect">
            <a:avLst/>
          </a:prstGeom>
        </p:spPr>
        <p:txBody>
          <a:bodyPr vert="horz" wrap="square" lIns="0" tIns="0" rIns="0" bIns="0" rtlCol="0" anchor="b" anchorCtr="0">
            <a:noAutofit/>
          </a:bodyPr>
          <a:lstStyle>
            <a:lvl1pPr>
              <a:defRPr sz="2600">
                <a:solidFill>
                  <a:schemeClr val="tx1"/>
                </a:solidFill>
              </a:defRPr>
            </a:lvl1pPr>
          </a:lstStyle>
          <a:p>
            <a:endParaRPr lang="en-US"/>
          </a:p>
        </p:txBody>
      </p:sp>
      <p:sp>
        <p:nvSpPr>
          <p:cNvPr id="21" name="3. Subtitle">
            <a:extLst>
              <a:ext uri="{FF2B5EF4-FFF2-40B4-BE49-F238E27FC236}">
                <a16:creationId xmlns:a16="http://schemas.microsoft.com/office/drawing/2014/main" id="{9290E951-F55D-E63C-08A3-5C292512A87A}"/>
              </a:ext>
            </a:extLst>
          </p:cNvPr>
          <p:cNvSpPr>
            <a:spLocks noGrp="1"/>
          </p:cNvSpPr>
          <p:nvPr>
            <p:ph type="subTitle" idx="1"/>
            <p:custDataLst>
              <p:tags r:id="rId3"/>
            </p:custDataLst>
          </p:nvPr>
        </p:nvSpPr>
        <p:spPr>
          <a:xfrm>
            <a:off x="554736" y="1075141"/>
            <a:ext cx="5065776" cy="276999"/>
          </a:xfr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sp>
        <p:nvSpPr>
          <p:cNvPr id="6" name="Slide Number">
            <a:extLst>
              <a:ext uri="{FF2B5EF4-FFF2-40B4-BE49-F238E27FC236}">
                <a16:creationId xmlns:a16="http://schemas.microsoft.com/office/drawing/2014/main" id="{51C0AD84-E372-F11D-D1F6-4605D356B517}"/>
              </a:ext>
            </a:extLst>
          </p:cNvPr>
          <p:cNvSpPr>
            <a:spLocks noChangeArrowheads="1"/>
          </p:cNvSpPr>
          <p:nvPr userDrawn="1">
            <p:custDataLst>
              <p:tags r:id="rId4"/>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TextBox 6">
            <a:extLst>
              <a:ext uri="{FF2B5EF4-FFF2-40B4-BE49-F238E27FC236}">
                <a16:creationId xmlns:a16="http://schemas.microsoft.com/office/drawing/2014/main" id="{72DE32A6-ACEB-4BD1-FE15-1E15842DBE7E}"/>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tx1"/>
                </a:solidFill>
                <a:latin typeface="+mn-lt"/>
                <a:ea typeface="Lato Light" panose="020F0502020204030203" pitchFamily="34" charset="0"/>
                <a:cs typeface="Lato Light" panose="020F0502020204030203" pitchFamily="34" charset="0"/>
              </a:rPr>
              <a:t>©Telesto Strategy LLC 2026</a:t>
            </a:r>
          </a:p>
        </p:txBody>
      </p:sp>
      <p:pic>
        <p:nvPicPr>
          <p:cNvPr id="10" name="Picture 9">
            <a:extLst>
              <a:ext uri="{FF2B5EF4-FFF2-40B4-BE49-F238E27FC236}">
                <a16:creationId xmlns:a16="http://schemas.microsoft.com/office/drawing/2014/main" id="{09E59EA9-E8CC-3881-AA6F-AE87483A7003}"/>
              </a:ext>
            </a:extLst>
          </p:cNvPr>
          <p:cNvPicPr>
            <a:picLocks noChangeAspect="1"/>
          </p:cNvPicPr>
          <p:nvPr userDrawn="1"/>
        </p:nvPicPr>
        <p:blipFill>
          <a:blip r:embed="rId8" cstate="hqprint">
            <a:extLst>
              <a:ext uri="{28A0092B-C50C-407E-A947-70E740481C1C}">
                <a14:useLocalDpi xmlns:a14="http://schemas.microsoft.com/office/drawing/2010/main"/>
              </a:ext>
            </a:extLst>
          </a:blip>
          <a:stretch>
            <a:fillRect/>
          </a:stretch>
        </p:blipFill>
        <p:spPr>
          <a:xfrm>
            <a:off x="543350" y="6322775"/>
            <a:ext cx="1188720" cy="475488"/>
          </a:xfrm>
          <a:prstGeom prst="rect">
            <a:avLst/>
          </a:prstGeom>
        </p:spPr>
      </p:pic>
    </p:spTree>
    <p:extLst>
      <p:ext uri="{BB962C8B-B14F-4D97-AF65-F5344CB8AC3E}">
        <p14:creationId xmlns:p14="http://schemas.microsoft.com/office/powerpoint/2010/main" val="2626132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3">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144825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99D53E8C-6E9D-8264-2874-D89D74CD9E15}"/>
              </a:ext>
            </a:extLst>
          </p:cNvPr>
          <p:cNvSpPr/>
          <p:nvPr userDrawn="1"/>
        </p:nvSpPr>
        <p:spPr>
          <a:xfrm>
            <a:off x="0" y="0"/>
            <a:ext cx="7827264" cy="6858000"/>
          </a:xfrm>
          <a:prstGeom prst="rect">
            <a:avLst/>
          </a:prstGeom>
          <a:solidFill>
            <a:srgbClr val="282828"/>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10" name="Slide Number">
            <a:extLst>
              <a:ext uri="{FF2B5EF4-FFF2-40B4-BE49-F238E27FC236}">
                <a16:creationId xmlns:a16="http://schemas.microsoft.com/office/drawing/2014/main" id="{B0C7DCE0-AB35-168B-F71C-39D0B5FF339E}"/>
              </a:ext>
            </a:extLst>
          </p:cNvPr>
          <p:cNvSpPr>
            <a:spLocks noChangeArrowheads="1"/>
          </p:cNvSpPr>
          <p:nvPr userDrawn="1">
            <p:custDataLst>
              <p:tags r:id="rId2"/>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9E3C030A-4C7F-7416-7D62-911459ACC519}"/>
              </a:ext>
            </a:extLst>
          </p:cNvPr>
          <p:cNvSpPr>
            <a:spLocks noGrp="1"/>
          </p:cNvSpPr>
          <p:nvPr>
            <p:ph type="title"/>
            <p:custDataLst>
              <p:tags r:id="rId3"/>
            </p:custDataLst>
          </p:nvPr>
        </p:nvSpPr>
        <p:spPr>
          <a:xfrm>
            <a:off x="554736" y="291264"/>
            <a:ext cx="6967728" cy="731520"/>
          </a:xfrm>
          <a:prstGeom prst="rect">
            <a:avLst/>
          </a:prstGeom>
        </p:spPr>
        <p:txBody>
          <a:bodyPr vert="horz" wrap="square" lIns="0" tIns="0" rIns="0" bIns="0" rtlCol="0" anchor="b" anchorCtr="0">
            <a:noAutofit/>
          </a:bodyPr>
          <a:lstStyle>
            <a:lvl1pPr>
              <a:defRPr sz="2600">
                <a:solidFill>
                  <a:schemeClr val="bg1"/>
                </a:solidFill>
              </a:defRPr>
            </a:lvl1pPr>
          </a:lstStyle>
          <a:p>
            <a:endParaRPr lang="en-US"/>
          </a:p>
        </p:txBody>
      </p:sp>
      <p:sp>
        <p:nvSpPr>
          <p:cNvPr id="20" name="3. Subtitle">
            <a:extLst>
              <a:ext uri="{FF2B5EF4-FFF2-40B4-BE49-F238E27FC236}">
                <a16:creationId xmlns:a16="http://schemas.microsoft.com/office/drawing/2014/main" id="{44DB4907-6513-B1AB-36BC-039D23FABB3E}"/>
              </a:ext>
            </a:extLst>
          </p:cNvPr>
          <p:cNvSpPr>
            <a:spLocks noGrp="1"/>
          </p:cNvSpPr>
          <p:nvPr>
            <p:ph type="subTitle" idx="1"/>
            <p:custDataLst>
              <p:tags r:id="rId4"/>
            </p:custDataLst>
          </p:nvPr>
        </p:nvSpPr>
        <p:spPr>
          <a:xfrm>
            <a:off x="554736" y="1075141"/>
            <a:ext cx="6967728" cy="276999"/>
          </a:xfrm>
        </p:spPr>
        <p:txBody>
          <a:bodyPr wrap="square">
            <a:noAutofit/>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sp>
        <p:nvSpPr>
          <p:cNvPr id="6" name="TextBox 5">
            <a:extLst>
              <a:ext uri="{FF2B5EF4-FFF2-40B4-BE49-F238E27FC236}">
                <a16:creationId xmlns:a16="http://schemas.microsoft.com/office/drawing/2014/main" id="{B3BF3624-7A77-B62B-E1DC-D2B1CAC9346E}"/>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tx1"/>
                </a:solidFill>
                <a:latin typeface="+mn-lt"/>
                <a:ea typeface="Lato Light" panose="020F0502020204030203" pitchFamily="34" charset="0"/>
                <a:cs typeface="Lato Light" panose="020F0502020204030203" pitchFamily="34" charset="0"/>
              </a:rPr>
              <a:t>©Telesto Strategy LLC 2026</a:t>
            </a:r>
          </a:p>
        </p:txBody>
      </p:sp>
      <p:pic>
        <p:nvPicPr>
          <p:cNvPr id="3" name="Picture 2">
            <a:extLst>
              <a:ext uri="{FF2B5EF4-FFF2-40B4-BE49-F238E27FC236}">
                <a16:creationId xmlns:a16="http://schemas.microsoft.com/office/drawing/2014/main" id="{BB65BBAC-24E2-2A1B-76C9-DFC59054AD01}"/>
              </a:ext>
            </a:extLst>
          </p:cNvPr>
          <p:cNvPicPr>
            <a:picLocks noChangeAspect="1"/>
          </p:cNvPicPr>
          <p:nvPr userDrawn="1"/>
        </p:nvPicPr>
        <p:blipFill>
          <a:blip r:embed="rId8" cstate="hqprint">
            <a:extLst>
              <a:ext uri="{28A0092B-C50C-407E-A947-70E740481C1C}">
                <a14:useLocalDpi xmlns:a14="http://schemas.microsoft.com/office/drawing/2010/main"/>
              </a:ext>
            </a:extLst>
          </a:blip>
          <a:stretch>
            <a:fillRect/>
          </a:stretch>
        </p:blipFill>
        <p:spPr>
          <a:xfrm>
            <a:off x="548145" y="6320941"/>
            <a:ext cx="1188720" cy="475488"/>
          </a:xfrm>
          <a:prstGeom prst="rect">
            <a:avLst/>
          </a:prstGeom>
        </p:spPr>
      </p:pic>
    </p:spTree>
    <p:extLst>
      <p:ext uri="{BB962C8B-B14F-4D97-AF65-F5344CB8AC3E}">
        <p14:creationId xmlns:p14="http://schemas.microsoft.com/office/powerpoint/2010/main" val="28986433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2/3">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33850647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606" imgH="608" progId="TCLayout.ActiveDocument.1">
                  <p:embed/>
                </p:oleObj>
              </mc:Choice>
              <mc:Fallback>
                <p:oleObj name="thinkcell Slide" r:id="rId7"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A5297C83-6155-10DC-F3DE-8C4F75018A4F}"/>
              </a:ext>
            </a:extLst>
          </p:cNvPr>
          <p:cNvPicPr>
            <a:picLocks noChangeAspect="1"/>
          </p:cNvPicPr>
          <p:nvPr userDrawn="1"/>
        </p:nvPicPr>
        <p:blipFill>
          <a:blip r:embed="rId9">
            <a:extLst>
              <a:ext uri="{28A0092B-C50C-407E-A947-70E740481C1C}">
                <a14:useLocalDpi xmlns:a14="http://schemas.microsoft.com/office/drawing/2010/main"/>
              </a:ext>
            </a:extLst>
          </a:blip>
          <a:srcRect/>
          <a:stretch>
            <a:fillRect/>
          </a:stretch>
        </p:blipFill>
        <p:spPr>
          <a:xfrm>
            <a:off x="7827264" y="0"/>
            <a:ext cx="4364736" cy="6858000"/>
          </a:xfrm>
          <a:prstGeom prst="rect">
            <a:avLst/>
          </a:prstGeom>
        </p:spPr>
      </p:pic>
      <p:sp>
        <p:nvSpPr>
          <p:cNvPr id="12" name="Rectangle 11">
            <a:extLst>
              <a:ext uri="{FF2B5EF4-FFF2-40B4-BE49-F238E27FC236}">
                <a16:creationId xmlns:a16="http://schemas.microsoft.com/office/drawing/2014/main" id="{9626303A-72E0-EBF8-C5C4-EDE3BCE9D30D}"/>
              </a:ext>
            </a:extLst>
          </p:cNvPr>
          <p:cNvSpPr/>
          <p:nvPr userDrawn="1"/>
        </p:nvSpPr>
        <p:spPr>
          <a:xfrm>
            <a:off x="7827264" y="0"/>
            <a:ext cx="4364736" cy="6858000"/>
          </a:xfrm>
          <a:prstGeom prst="rect">
            <a:avLst/>
          </a:prstGeom>
          <a:solidFill>
            <a:srgbClr val="282828">
              <a:alpha val="70980"/>
            </a:srgbClr>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5" name="Rectangle 4">
            <a:extLst>
              <a:ext uri="{FF2B5EF4-FFF2-40B4-BE49-F238E27FC236}">
                <a16:creationId xmlns:a16="http://schemas.microsoft.com/office/drawing/2014/main" id="{68345DD1-7E21-F515-85CF-B359B12C5A88}"/>
              </a:ext>
            </a:extLst>
          </p:cNvPr>
          <p:cNvSpPr/>
          <p:nvPr userDrawn="1"/>
        </p:nvSpPr>
        <p:spPr>
          <a:xfrm>
            <a:off x="431800" y="6295219"/>
            <a:ext cx="2514600" cy="5505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99D53E8C-6E9D-8264-2874-D89D74CD9E15}"/>
              </a:ext>
            </a:extLst>
          </p:cNvPr>
          <p:cNvSpPr/>
          <p:nvPr userDrawn="1"/>
        </p:nvSpPr>
        <p:spPr>
          <a:xfrm>
            <a:off x="0" y="0"/>
            <a:ext cx="7827264" cy="6858000"/>
          </a:xfrm>
          <a:prstGeom prst="rect">
            <a:avLst/>
          </a:prstGeom>
          <a:solidFill>
            <a:srgbClr val="282828"/>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cxnSp>
        <p:nvCxnSpPr>
          <p:cNvPr id="4" name="TopLineRight">
            <a:extLst>
              <a:ext uri="{FF2B5EF4-FFF2-40B4-BE49-F238E27FC236}">
                <a16:creationId xmlns:a16="http://schemas.microsoft.com/office/drawing/2014/main" id="{84AF57CB-8A1D-D8CD-9FE3-C44B3EFDF42F}"/>
              </a:ext>
            </a:extLst>
          </p:cNvPr>
          <p:cNvCxnSpPr>
            <a:cxnSpLocks/>
          </p:cNvCxnSpPr>
          <p:nvPr userDrawn="1">
            <p:custDataLst>
              <p:tags r:id="rId2"/>
            </p:custDataLst>
          </p:nvPr>
        </p:nvCxnSpPr>
        <p:spPr>
          <a:xfrm>
            <a:off x="8173371" y="1048556"/>
            <a:ext cx="3654194"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9E3C030A-4C7F-7416-7D62-911459ACC519}"/>
              </a:ext>
            </a:extLst>
          </p:cNvPr>
          <p:cNvSpPr>
            <a:spLocks noGrp="1"/>
          </p:cNvSpPr>
          <p:nvPr>
            <p:ph type="title"/>
            <p:custDataLst>
              <p:tags r:id="rId3"/>
            </p:custDataLst>
          </p:nvPr>
        </p:nvSpPr>
        <p:spPr>
          <a:xfrm>
            <a:off x="554736" y="291264"/>
            <a:ext cx="6967728" cy="731520"/>
          </a:xfrm>
          <a:prstGeom prst="rect">
            <a:avLst/>
          </a:prstGeom>
        </p:spPr>
        <p:txBody>
          <a:bodyPr vert="horz" wrap="square" lIns="0" tIns="0" rIns="0" bIns="0" rtlCol="0" anchor="b" anchorCtr="0">
            <a:noAutofit/>
          </a:bodyPr>
          <a:lstStyle>
            <a:lvl1pPr>
              <a:defRPr sz="2600">
                <a:solidFill>
                  <a:schemeClr val="bg1"/>
                </a:solidFill>
              </a:defRPr>
            </a:lvl1pPr>
          </a:lstStyle>
          <a:p>
            <a:endParaRPr lang="en-US"/>
          </a:p>
        </p:txBody>
      </p:sp>
      <p:sp>
        <p:nvSpPr>
          <p:cNvPr id="20" name="3. Subtitle">
            <a:extLst>
              <a:ext uri="{FF2B5EF4-FFF2-40B4-BE49-F238E27FC236}">
                <a16:creationId xmlns:a16="http://schemas.microsoft.com/office/drawing/2014/main" id="{44DB4907-6513-B1AB-36BC-039D23FABB3E}"/>
              </a:ext>
            </a:extLst>
          </p:cNvPr>
          <p:cNvSpPr>
            <a:spLocks noGrp="1"/>
          </p:cNvSpPr>
          <p:nvPr>
            <p:ph type="subTitle" idx="1"/>
            <p:custDataLst>
              <p:tags r:id="rId4"/>
            </p:custDataLst>
          </p:nvPr>
        </p:nvSpPr>
        <p:spPr>
          <a:xfrm>
            <a:off x="554736" y="1075141"/>
            <a:ext cx="6967728" cy="276999"/>
          </a:xfrm>
        </p:spPr>
        <p:txBody>
          <a:bodyPr wrap="square">
            <a:noAutofit/>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pic>
        <p:nvPicPr>
          <p:cNvPr id="23" name="Picture 22">
            <a:extLst>
              <a:ext uri="{FF2B5EF4-FFF2-40B4-BE49-F238E27FC236}">
                <a16:creationId xmlns:a16="http://schemas.microsoft.com/office/drawing/2014/main" id="{A68DA312-E9AD-A3B0-A882-492C8DD31F4B}"/>
              </a:ext>
            </a:extLst>
          </p:cNvPr>
          <p:cNvPicPr>
            <a:picLocks noChangeAspect="1"/>
          </p:cNvPicPr>
          <p:nvPr userDrawn="1"/>
        </p:nvPicPr>
        <p:blipFill>
          <a:blip r:embed="rId10" cstate="hqprint">
            <a:extLst>
              <a:ext uri="{28A0092B-C50C-407E-A947-70E740481C1C}">
                <a14:useLocalDpi xmlns:a14="http://schemas.microsoft.com/office/drawing/2010/main"/>
              </a:ext>
            </a:extLst>
          </a:blip>
          <a:stretch>
            <a:fillRect/>
          </a:stretch>
        </p:blipFill>
        <p:spPr>
          <a:xfrm>
            <a:off x="548145" y="6320941"/>
            <a:ext cx="1188720" cy="475488"/>
          </a:xfrm>
          <a:prstGeom prst="rect">
            <a:avLst/>
          </a:prstGeom>
        </p:spPr>
      </p:pic>
      <p:sp>
        <p:nvSpPr>
          <p:cNvPr id="3" name="Slide Number">
            <a:extLst>
              <a:ext uri="{FF2B5EF4-FFF2-40B4-BE49-F238E27FC236}">
                <a16:creationId xmlns:a16="http://schemas.microsoft.com/office/drawing/2014/main" id="{6D104F9C-B85C-EE9F-658F-02DD34EF0D09}"/>
              </a:ext>
            </a:extLst>
          </p:cNvPr>
          <p:cNvSpPr>
            <a:spLocks noChangeArrowheads="1"/>
          </p:cNvSpPr>
          <p:nvPr userDrawn="1">
            <p:custDataLst>
              <p:tags r:id="rId5"/>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sp>
        <p:nvSpPr>
          <p:cNvPr id="7" name="TextBox 6">
            <a:extLst>
              <a:ext uri="{FF2B5EF4-FFF2-40B4-BE49-F238E27FC236}">
                <a16:creationId xmlns:a16="http://schemas.microsoft.com/office/drawing/2014/main" id="{DFE27D91-8BF7-25B4-AC31-C3570D4D1094}"/>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bg1"/>
                </a:solidFill>
                <a:latin typeface="+mn-lt"/>
                <a:ea typeface="Lato Light" panose="020F0502020204030203" pitchFamily="34" charset="0"/>
                <a:cs typeface="Lato Light" panose="020F0502020204030203" pitchFamily="34" charset="0"/>
              </a:rPr>
              <a:t>©Telesto Strategy LLC 2026</a:t>
            </a:r>
          </a:p>
        </p:txBody>
      </p:sp>
    </p:spTree>
    <p:extLst>
      <p:ext uri="{BB962C8B-B14F-4D97-AF65-F5344CB8AC3E}">
        <p14:creationId xmlns:p14="http://schemas.microsoft.com/office/powerpoint/2010/main" val="41180994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3 (Corner Image Ready)">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16862580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68345DD1-7E21-F515-85CF-B359B12C5A88}"/>
              </a:ext>
            </a:extLst>
          </p:cNvPr>
          <p:cNvSpPr/>
          <p:nvPr userDrawn="1"/>
        </p:nvSpPr>
        <p:spPr>
          <a:xfrm>
            <a:off x="431800" y="6295219"/>
            <a:ext cx="2514600" cy="5505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99D53E8C-6E9D-8264-2874-D89D74CD9E15}"/>
              </a:ext>
            </a:extLst>
          </p:cNvPr>
          <p:cNvSpPr/>
          <p:nvPr userDrawn="1"/>
        </p:nvSpPr>
        <p:spPr>
          <a:xfrm>
            <a:off x="0" y="0"/>
            <a:ext cx="7827264" cy="6858000"/>
          </a:xfrm>
          <a:prstGeom prst="rect">
            <a:avLst/>
          </a:prstGeom>
          <a:solidFill>
            <a:srgbClr val="282828"/>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10" name="2. Slide Title">
            <a:extLst>
              <a:ext uri="{FF2B5EF4-FFF2-40B4-BE49-F238E27FC236}">
                <a16:creationId xmlns:a16="http://schemas.microsoft.com/office/drawing/2014/main" id="{919EC17A-4541-5AEF-1D7F-FB74BEC8078C}"/>
              </a:ext>
            </a:extLst>
          </p:cNvPr>
          <p:cNvSpPr>
            <a:spLocks noGrp="1"/>
          </p:cNvSpPr>
          <p:nvPr>
            <p:ph type="title"/>
            <p:custDataLst>
              <p:tags r:id="rId2"/>
            </p:custDataLst>
          </p:nvPr>
        </p:nvSpPr>
        <p:spPr>
          <a:xfrm>
            <a:off x="554736" y="291264"/>
            <a:ext cx="6967728" cy="731520"/>
          </a:xfrm>
          <a:prstGeom prst="rect">
            <a:avLst/>
          </a:prstGeom>
        </p:spPr>
        <p:txBody>
          <a:bodyPr vert="horz" wrap="square" lIns="0" tIns="0" rIns="0" bIns="0" rtlCol="0" anchor="b" anchorCtr="0">
            <a:noAutofit/>
          </a:bodyPr>
          <a:lstStyle>
            <a:lvl1pPr>
              <a:defRPr sz="2600">
                <a:solidFill>
                  <a:schemeClr val="bg1"/>
                </a:solidFill>
              </a:defRPr>
            </a:lvl1pPr>
          </a:lstStyle>
          <a:p>
            <a:endParaRPr lang="en-US"/>
          </a:p>
        </p:txBody>
      </p:sp>
      <p:sp>
        <p:nvSpPr>
          <p:cNvPr id="14" name="3. Subtitle">
            <a:extLst>
              <a:ext uri="{FF2B5EF4-FFF2-40B4-BE49-F238E27FC236}">
                <a16:creationId xmlns:a16="http://schemas.microsoft.com/office/drawing/2014/main" id="{700304FD-148E-0963-7DE3-0C1A05D313A0}"/>
              </a:ext>
            </a:extLst>
          </p:cNvPr>
          <p:cNvSpPr>
            <a:spLocks noGrp="1"/>
          </p:cNvSpPr>
          <p:nvPr>
            <p:ph type="subTitle" idx="1"/>
            <p:custDataLst>
              <p:tags r:id="rId3"/>
            </p:custDataLst>
          </p:nvPr>
        </p:nvSpPr>
        <p:spPr>
          <a:xfrm>
            <a:off x="554736" y="1075141"/>
            <a:ext cx="6967728" cy="276999"/>
          </a:xfrm>
        </p:spPr>
        <p:txBody>
          <a:bodyPr wrap="square">
            <a:noAutofit/>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sp>
        <p:nvSpPr>
          <p:cNvPr id="11" name="Slide Number">
            <a:extLst>
              <a:ext uri="{FF2B5EF4-FFF2-40B4-BE49-F238E27FC236}">
                <a16:creationId xmlns:a16="http://schemas.microsoft.com/office/drawing/2014/main" id="{6051CA00-34DA-886B-077B-B68C82C67096}"/>
              </a:ext>
            </a:extLst>
          </p:cNvPr>
          <p:cNvSpPr>
            <a:spLocks noChangeArrowheads="1"/>
          </p:cNvSpPr>
          <p:nvPr userDrawn="1">
            <p:custDataLst>
              <p:tags r:id="rId4"/>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2" name="TextBox 11">
            <a:extLst>
              <a:ext uri="{FF2B5EF4-FFF2-40B4-BE49-F238E27FC236}">
                <a16:creationId xmlns:a16="http://schemas.microsoft.com/office/drawing/2014/main" id="{6FB37C8F-C960-A54C-3187-69B2D22EB69A}"/>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tx1"/>
                </a:solidFill>
                <a:latin typeface="+mn-lt"/>
                <a:ea typeface="Lato Light" panose="020F0502020204030203" pitchFamily="34" charset="0"/>
                <a:cs typeface="Lato Light" panose="020F0502020204030203" pitchFamily="34" charset="0"/>
              </a:rPr>
              <a:t>©Telesto Strategy LLC 2026</a:t>
            </a:r>
          </a:p>
        </p:txBody>
      </p:sp>
      <p:pic>
        <p:nvPicPr>
          <p:cNvPr id="4" name="Picture 3">
            <a:extLst>
              <a:ext uri="{FF2B5EF4-FFF2-40B4-BE49-F238E27FC236}">
                <a16:creationId xmlns:a16="http://schemas.microsoft.com/office/drawing/2014/main" id="{53AD027E-3BCE-E04E-7C8D-4DBDF147EFFC}"/>
              </a:ext>
            </a:extLst>
          </p:cNvPr>
          <p:cNvPicPr>
            <a:picLocks noChangeAspect="1"/>
          </p:cNvPicPr>
          <p:nvPr userDrawn="1"/>
        </p:nvPicPr>
        <p:blipFill>
          <a:blip r:embed="rId8" cstate="hqprint">
            <a:extLst>
              <a:ext uri="{28A0092B-C50C-407E-A947-70E740481C1C}">
                <a14:useLocalDpi xmlns:a14="http://schemas.microsoft.com/office/drawing/2010/main"/>
              </a:ext>
            </a:extLst>
          </a:blip>
          <a:stretch>
            <a:fillRect/>
          </a:stretch>
        </p:blipFill>
        <p:spPr>
          <a:xfrm>
            <a:off x="548145" y="6320941"/>
            <a:ext cx="1188720" cy="475488"/>
          </a:xfrm>
          <a:prstGeom prst="rect">
            <a:avLst/>
          </a:prstGeom>
        </p:spPr>
      </p:pic>
    </p:spTree>
    <p:extLst>
      <p:ext uri="{BB962C8B-B14F-4D97-AF65-F5344CB8AC3E}">
        <p14:creationId xmlns:p14="http://schemas.microsoft.com/office/powerpoint/2010/main" val="37156432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3/4">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9D53E8C-6E9D-8264-2874-D89D74CD9E15}"/>
              </a:ext>
            </a:extLst>
          </p:cNvPr>
          <p:cNvSpPr/>
          <p:nvPr userDrawn="1"/>
        </p:nvSpPr>
        <p:spPr>
          <a:xfrm>
            <a:off x="0" y="0"/>
            <a:ext cx="8877300" cy="6858000"/>
          </a:xfrm>
          <a:prstGeom prst="rect">
            <a:avLst/>
          </a:prstGeom>
          <a:solidFill>
            <a:srgbClr val="282828"/>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98371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606" imgH="608" progId="TCLayout.ActiveDocument.1">
                  <p:embed/>
                </p:oleObj>
              </mc:Choice>
              <mc:Fallback>
                <p:oleObj name="thinkcell Slide" r:id="rId9"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10" name="Slide Number">
            <a:extLst>
              <a:ext uri="{FF2B5EF4-FFF2-40B4-BE49-F238E27FC236}">
                <a16:creationId xmlns:a16="http://schemas.microsoft.com/office/drawing/2014/main" id="{B0C7DCE0-AB35-168B-F71C-39D0B5FF339E}"/>
              </a:ext>
            </a:extLst>
          </p:cNvPr>
          <p:cNvSpPr>
            <a:spLocks noChangeArrowheads="1"/>
          </p:cNvSpPr>
          <p:nvPr userDrawn="1">
            <p:custDataLst>
              <p:tags r:id="rId2"/>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cxnSp>
        <p:nvCxnSpPr>
          <p:cNvPr id="6" name="TopLineRight">
            <a:extLst>
              <a:ext uri="{FF2B5EF4-FFF2-40B4-BE49-F238E27FC236}">
                <a16:creationId xmlns:a16="http://schemas.microsoft.com/office/drawing/2014/main" id="{1E83B81C-9379-4FDF-E230-45CCDE600321}"/>
              </a:ext>
            </a:extLst>
          </p:cNvPr>
          <p:cNvCxnSpPr>
            <a:cxnSpLocks/>
          </p:cNvCxnSpPr>
          <p:nvPr userDrawn="1">
            <p:custDataLst>
              <p:tags r:id="rId3"/>
            </p:custDataLst>
          </p:nvPr>
        </p:nvCxnSpPr>
        <p:spPr>
          <a:xfrm>
            <a:off x="9119861" y="6230156"/>
            <a:ext cx="2707704"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 name="TopLineRight">
            <a:extLst>
              <a:ext uri="{FF2B5EF4-FFF2-40B4-BE49-F238E27FC236}">
                <a16:creationId xmlns:a16="http://schemas.microsoft.com/office/drawing/2014/main" id="{3C1CAAF5-2326-FA40-AFB2-5FA904A51612}"/>
              </a:ext>
            </a:extLst>
          </p:cNvPr>
          <p:cNvCxnSpPr>
            <a:cxnSpLocks/>
          </p:cNvCxnSpPr>
          <p:nvPr userDrawn="1">
            <p:custDataLst>
              <p:tags r:id="rId4"/>
            </p:custDataLst>
          </p:nvPr>
        </p:nvCxnSpPr>
        <p:spPr>
          <a:xfrm>
            <a:off x="9119861" y="1048556"/>
            <a:ext cx="2707704"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 name="2. Slide Title">
            <a:extLst>
              <a:ext uri="{FF2B5EF4-FFF2-40B4-BE49-F238E27FC236}">
                <a16:creationId xmlns:a16="http://schemas.microsoft.com/office/drawing/2014/main" id="{66DADF39-9702-DBE5-8115-CC53117D838F}"/>
              </a:ext>
            </a:extLst>
          </p:cNvPr>
          <p:cNvSpPr>
            <a:spLocks noGrp="1"/>
          </p:cNvSpPr>
          <p:nvPr>
            <p:ph type="title"/>
            <p:custDataLst>
              <p:tags r:id="rId5"/>
            </p:custDataLst>
          </p:nvPr>
        </p:nvSpPr>
        <p:spPr>
          <a:xfrm>
            <a:off x="554736" y="291264"/>
            <a:ext cx="7918704" cy="731520"/>
          </a:xfrm>
          <a:prstGeom prst="rect">
            <a:avLst/>
          </a:prstGeom>
        </p:spPr>
        <p:txBody>
          <a:bodyPr vert="horz" wrap="square" lIns="0" tIns="0" rIns="0" bIns="0" rtlCol="0" anchor="b" anchorCtr="0">
            <a:noAutofit/>
          </a:bodyPr>
          <a:lstStyle>
            <a:lvl1pPr>
              <a:defRPr sz="2600">
                <a:solidFill>
                  <a:schemeClr val="bg1"/>
                </a:solidFill>
              </a:defRPr>
            </a:lvl1pPr>
          </a:lstStyle>
          <a:p>
            <a:endParaRPr lang="en-US"/>
          </a:p>
        </p:txBody>
      </p:sp>
      <p:sp>
        <p:nvSpPr>
          <p:cNvPr id="15" name="3. Subtitle">
            <a:extLst>
              <a:ext uri="{FF2B5EF4-FFF2-40B4-BE49-F238E27FC236}">
                <a16:creationId xmlns:a16="http://schemas.microsoft.com/office/drawing/2014/main" id="{D2564903-BE8D-2E83-8CC0-4F40C8BF2E7D}"/>
              </a:ext>
            </a:extLst>
          </p:cNvPr>
          <p:cNvSpPr>
            <a:spLocks noGrp="1"/>
          </p:cNvSpPr>
          <p:nvPr>
            <p:ph type="subTitle" idx="1"/>
            <p:custDataLst>
              <p:tags r:id="rId6"/>
            </p:custDataLst>
          </p:nvPr>
        </p:nvSpPr>
        <p:spPr>
          <a:xfrm>
            <a:off x="554736" y="1075141"/>
            <a:ext cx="7918704" cy="276999"/>
          </a:xfrm>
        </p:spPr>
        <p:txBody>
          <a:bodyPr wrap="square">
            <a:noAutofit/>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sp>
        <p:nvSpPr>
          <p:cNvPr id="3" name="TextBox 2">
            <a:extLst>
              <a:ext uri="{FF2B5EF4-FFF2-40B4-BE49-F238E27FC236}">
                <a16:creationId xmlns:a16="http://schemas.microsoft.com/office/drawing/2014/main" id="{12BA9BCF-8DC0-17F3-6030-5E9E0CE42E88}"/>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tx1"/>
                </a:solidFill>
                <a:latin typeface="+mn-lt"/>
                <a:ea typeface="Lato Light" panose="020F0502020204030203" pitchFamily="34" charset="0"/>
                <a:cs typeface="Lato Light" panose="020F0502020204030203" pitchFamily="34" charset="0"/>
              </a:rPr>
              <a:t>©Telesto Strategy LLC 2026</a:t>
            </a:r>
          </a:p>
        </p:txBody>
      </p:sp>
      <p:pic>
        <p:nvPicPr>
          <p:cNvPr id="11" name="Picture 10">
            <a:extLst>
              <a:ext uri="{FF2B5EF4-FFF2-40B4-BE49-F238E27FC236}">
                <a16:creationId xmlns:a16="http://schemas.microsoft.com/office/drawing/2014/main" id="{3BDB9538-3032-C580-A718-4A46AA1BC750}"/>
              </a:ext>
            </a:extLst>
          </p:cNvPr>
          <p:cNvPicPr>
            <a:picLocks noChangeAspect="1"/>
          </p:cNvPicPr>
          <p:nvPr userDrawn="1"/>
        </p:nvPicPr>
        <p:blipFill rotWithShape="1">
          <a:blip r:embed="rId11">
            <a:extLst>
              <a:ext uri="{28A0092B-C50C-407E-A947-70E740481C1C}">
                <a14:useLocalDpi xmlns:a14="http://schemas.microsoft.com/office/drawing/2010/main"/>
              </a:ext>
            </a:extLst>
          </a:blip>
          <a:srcRect/>
          <a:stretch>
            <a:fillRect/>
          </a:stretch>
        </p:blipFill>
        <p:spPr>
          <a:xfrm>
            <a:off x="8877299" y="0"/>
            <a:ext cx="3314701" cy="6858000"/>
          </a:xfrm>
          <a:prstGeom prst="rect">
            <a:avLst/>
          </a:prstGeom>
        </p:spPr>
      </p:pic>
      <p:sp>
        <p:nvSpPr>
          <p:cNvPr id="21" name="Rectangle 20">
            <a:extLst>
              <a:ext uri="{FF2B5EF4-FFF2-40B4-BE49-F238E27FC236}">
                <a16:creationId xmlns:a16="http://schemas.microsoft.com/office/drawing/2014/main" id="{8DD6709E-449A-9D60-3280-459461744298}"/>
              </a:ext>
            </a:extLst>
          </p:cNvPr>
          <p:cNvSpPr/>
          <p:nvPr userDrawn="1"/>
        </p:nvSpPr>
        <p:spPr>
          <a:xfrm>
            <a:off x="8877705" y="0"/>
            <a:ext cx="3314701" cy="6858000"/>
          </a:xfrm>
          <a:prstGeom prst="rect">
            <a:avLst/>
          </a:prstGeom>
          <a:solidFill>
            <a:schemeClr val="bg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4" name="Slide Number">
            <a:extLst>
              <a:ext uri="{FF2B5EF4-FFF2-40B4-BE49-F238E27FC236}">
                <a16:creationId xmlns:a16="http://schemas.microsoft.com/office/drawing/2014/main" id="{EF2BF990-AD5E-850E-6551-207B024399E4}"/>
              </a:ext>
            </a:extLst>
          </p:cNvPr>
          <p:cNvSpPr>
            <a:spLocks noChangeArrowheads="1"/>
          </p:cNvSpPr>
          <p:nvPr userDrawn="1">
            <p:custDataLst>
              <p:tags r:id="rId7"/>
            </p:custDataLst>
          </p:nvPr>
        </p:nvSpPr>
        <p:spPr bwMode="black">
          <a:xfrm>
            <a:off x="11394044" y="6454220"/>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4" name="TextBox 13">
            <a:extLst>
              <a:ext uri="{FF2B5EF4-FFF2-40B4-BE49-F238E27FC236}">
                <a16:creationId xmlns:a16="http://schemas.microsoft.com/office/drawing/2014/main" id="{614DC04C-0F1F-1725-1883-154C149678EC}"/>
              </a:ext>
            </a:extLst>
          </p:cNvPr>
          <p:cNvSpPr txBox="1"/>
          <p:nvPr userDrawn="1"/>
        </p:nvSpPr>
        <p:spPr>
          <a:xfrm>
            <a:off x="8555003" y="6407162"/>
            <a:ext cx="2812843" cy="230832"/>
          </a:xfrm>
          <a:prstGeom prst="rect">
            <a:avLst/>
          </a:prstGeom>
          <a:noFill/>
        </p:spPr>
        <p:txBody>
          <a:bodyPr wrap="square" rtlCol="0">
            <a:spAutoFit/>
          </a:bodyPr>
          <a:lstStyle/>
          <a:p>
            <a:pPr algn="r"/>
            <a:r>
              <a:rPr lang="en-US" sz="900" b="0">
                <a:solidFill>
                  <a:schemeClr val="tx1"/>
                </a:solidFill>
                <a:latin typeface="+mn-lt"/>
                <a:ea typeface="Lato Light" panose="020F0502020204030203" pitchFamily="34" charset="0"/>
                <a:cs typeface="Lato Light" panose="020F0502020204030203" pitchFamily="34" charset="0"/>
              </a:rPr>
              <a:t>©Telesto Strategy LLC 2026</a:t>
            </a:r>
          </a:p>
        </p:txBody>
      </p:sp>
      <p:pic>
        <p:nvPicPr>
          <p:cNvPr id="16" name="Picture 15">
            <a:extLst>
              <a:ext uri="{FF2B5EF4-FFF2-40B4-BE49-F238E27FC236}">
                <a16:creationId xmlns:a16="http://schemas.microsoft.com/office/drawing/2014/main" id="{6DFA51D8-7F16-6C3F-FCBF-CD29A85A72BD}"/>
              </a:ext>
            </a:extLst>
          </p:cNvPr>
          <p:cNvPicPr>
            <a:picLocks noChangeAspect="1"/>
          </p:cNvPicPr>
          <p:nvPr userDrawn="1"/>
        </p:nvPicPr>
        <p:blipFill>
          <a:blip r:embed="rId12" cstate="hqprint">
            <a:extLst>
              <a:ext uri="{28A0092B-C50C-407E-A947-70E740481C1C}">
                <a14:useLocalDpi xmlns:a14="http://schemas.microsoft.com/office/drawing/2010/main"/>
              </a:ext>
            </a:extLst>
          </a:blip>
          <a:stretch>
            <a:fillRect/>
          </a:stretch>
        </p:blipFill>
        <p:spPr>
          <a:xfrm>
            <a:off x="548145" y="6320941"/>
            <a:ext cx="1188720" cy="475488"/>
          </a:xfrm>
          <a:prstGeom prst="rect">
            <a:avLst/>
          </a:prstGeom>
        </p:spPr>
      </p:pic>
    </p:spTree>
    <p:extLst>
      <p:ext uri="{BB962C8B-B14F-4D97-AF65-F5344CB8AC3E}">
        <p14:creationId xmlns:p14="http://schemas.microsoft.com/office/powerpoint/2010/main" val="31966024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4 (Corner Image Ready)">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37252470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68345DD1-7E21-F515-85CF-B359B12C5A88}"/>
              </a:ext>
            </a:extLst>
          </p:cNvPr>
          <p:cNvSpPr/>
          <p:nvPr userDrawn="1"/>
        </p:nvSpPr>
        <p:spPr>
          <a:xfrm>
            <a:off x="431800" y="6295219"/>
            <a:ext cx="2514600" cy="5505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99D53E8C-6E9D-8264-2874-D89D74CD9E15}"/>
              </a:ext>
            </a:extLst>
          </p:cNvPr>
          <p:cNvSpPr/>
          <p:nvPr userDrawn="1"/>
        </p:nvSpPr>
        <p:spPr>
          <a:xfrm>
            <a:off x="0" y="0"/>
            <a:ext cx="8877300" cy="6858000"/>
          </a:xfrm>
          <a:prstGeom prst="rect">
            <a:avLst/>
          </a:prstGeom>
          <a:solidFill>
            <a:srgbClr val="282828"/>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12" name="2. Slide Title">
            <a:extLst>
              <a:ext uri="{FF2B5EF4-FFF2-40B4-BE49-F238E27FC236}">
                <a16:creationId xmlns:a16="http://schemas.microsoft.com/office/drawing/2014/main" id="{0610D696-A3AB-8379-4D91-9CAEA035C91A}"/>
              </a:ext>
            </a:extLst>
          </p:cNvPr>
          <p:cNvSpPr>
            <a:spLocks noGrp="1"/>
          </p:cNvSpPr>
          <p:nvPr>
            <p:ph type="title"/>
            <p:custDataLst>
              <p:tags r:id="rId2"/>
            </p:custDataLst>
          </p:nvPr>
        </p:nvSpPr>
        <p:spPr>
          <a:xfrm>
            <a:off x="554736" y="291264"/>
            <a:ext cx="7918704" cy="731520"/>
          </a:xfrm>
          <a:prstGeom prst="rect">
            <a:avLst/>
          </a:prstGeom>
        </p:spPr>
        <p:txBody>
          <a:bodyPr vert="horz" wrap="square" lIns="0" tIns="0" rIns="0" bIns="0" rtlCol="0" anchor="b" anchorCtr="0">
            <a:noAutofit/>
          </a:bodyPr>
          <a:lstStyle>
            <a:lvl1pPr>
              <a:defRPr sz="2600">
                <a:solidFill>
                  <a:schemeClr val="bg1"/>
                </a:solidFill>
              </a:defRPr>
            </a:lvl1pPr>
          </a:lstStyle>
          <a:p>
            <a:endParaRPr lang="en-US"/>
          </a:p>
        </p:txBody>
      </p:sp>
      <p:sp>
        <p:nvSpPr>
          <p:cNvPr id="14" name="3. Subtitle">
            <a:extLst>
              <a:ext uri="{FF2B5EF4-FFF2-40B4-BE49-F238E27FC236}">
                <a16:creationId xmlns:a16="http://schemas.microsoft.com/office/drawing/2014/main" id="{DF209E84-B0F9-7159-CFE4-F41D8C1384EA}"/>
              </a:ext>
            </a:extLst>
          </p:cNvPr>
          <p:cNvSpPr>
            <a:spLocks noGrp="1"/>
          </p:cNvSpPr>
          <p:nvPr>
            <p:ph type="subTitle" idx="1"/>
            <p:custDataLst>
              <p:tags r:id="rId3"/>
            </p:custDataLst>
          </p:nvPr>
        </p:nvSpPr>
        <p:spPr>
          <a:xfrm>
            <a:off x="554736" y="1075141"/>
            <a:ext cx="7918704" cy="276999"/>
          </a:xfrm>
        </p:spPr>
        <p:txBody>
          <a:bodyPr wrap="square">
            <a:noAutofit/>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sp>
        <p:nvSpPr>
          <p:cNvPr id="7" name="Slide Number">
            <a:extLst>
              <a:ext uri="{FF2B5EF4-FFF2-40B4-BE49-F238E27FC236}">
                <a16:creationId xmlns:a16="http://schemas.microsoft.com/office/drawing/2014/main" id="{F1DDF4BF-CE8E-13FA-99C0-39B44DD63A69}"/>
              </a:ext>
            </a:extLst>
          </p:cNvPr>
          <p:cNvSpPr>
            <a:spLocks noChangeArrowheads="1"/>
          </p:cNvSpPr>
          <p:nvPr userDrawn="1">
            <p:custDataLst>
              <p:tags r:id="rId4"/>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9" name="TextBox 8">
            <a:extLst>
              <a:ext uri="{FF2B5EF4-FFF2-40B4-BE49-F238E27FC236}">
                <a16:creationId xmlns:a16="http://schemas.microsoft.com/office/drawing/2014/main" id="{BFF5451D-3755-0D4F-6FF1-AB8F4287CDE1}"/>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tx1"/>
                </a:solidFill>
                <a:latin typeface="+mn-lt"/>
                <a:ea typeface="Lato Light" panose="020F0502020204030203" pitchFamily="34" charset="0"/>
                <a:cs typeface="Lato Light" panose="020F0502020204030203" pitchFamily="34" charset="0"/>
              </a:rPr>
              <a:t>©Telesto Strategy LLC 2026</a:t>
            </a:r>
          </a:p>
        </p:txBody>
      </p:sp>
      <p:pic>
        <p:nvPicPr>
          <p:cNvPr id="3" name="Picture 2">
            <a:extLst>
              <a:ext uri="{FF2B5EF4-FFF2-40B4-BE49-F238E27FC236}">
                <a16:creationId xmlns:a16="http://schemas.microsoft.com/office/drawing/2014/main" id="{957670CA-6111-EBC0-5187-350EABFBC58D}"/>
              </a:ext>
            </a:extLst>
          </p:cNvPr>
          <p:cNvPicPr>
            <a:picLocks noChangeAspect="1"/>
          </p:cNvPicPr>
          <p:nvPr userDrawn="1"/>
        </p:nvPicPr>
        <p:blipFill>
          <a:blip r:embed="rId8" cstate="hqprint">
            <a:extLst>
              <a:ext uri="{28A0092B-C50C-407E-A947-70E740481C1C}">
                <a14:useLocalDpi xmlns:a14="http://schemas.microsoft.com/office/drawing/2010/main"/>
              </a:ext>
            </a:extLst>
          </a:blip>
          <a:stretch>
            <a:fillRect/>
          </a:stretch>
        </p:blipFill>
        <p:spPr>
          <a:xfrm>
            <a:off x="548145" y="6320941"/>
            <a:ext cx="1188720" cy="475488"/>
          </a:xfrm>
          <a:prstGeom prst="rect">
            <a:avLst/>
          </a:prstGeom>
        </p:spPr>
      </p:pic>
    </p:spTree>
    <p:extLst>
      <p:ext uri="{BB962C8B-B14F-4D97-AF65-F5344CB8AC3E}">
        <p14:creationId xmlns:p14="http://schemas.microsoft.com/office/powerpoint/2010/main" val="294153012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4 (Contrast - Corner Image Ready)">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8237604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6" name="Rectangle 25">
            <a:extLst>
              <a:ext uri="{FF2B5EF4-FFF2-40B4-BE49-F238E27FC236}">
                <a16:creationId xmlns:a16="http://schemas.microsoft.com/office/drawing/2014/main" id="{686782E5-C92F-27C6-BFA5-3AC5771E22C1}"/>
              </a:ext>
            </a:extLst>
          </p:cNvPr>
          <p:cNvSpPr/>
          <p:nvPr userDrawn="1"/>
        </p:nvSpPr>
        <p:spPr>
          <a:xfrm>
            <a:off x="3314700" y="0"/>
            <a:ext cx="8877300" cy="6858000"/>
          </a:xfrm>
          <a:prstGeom prst="rect">
            <a:avLst/>
          </a:prstGeom>
          <a:solidFill>
            <a:srgbClr val="282828"/>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22" name="2. Slide Title">
            <a:extLst>
              <a:ext uri="{FF2B5EF4-FFF2-40B4-BE49-F238E27FC236}">
                <a16:creationId xmlns:a16="http://schemas.microsoft.com/office/drawing/2014/main" id="{F9639F65-6267-3E12-A764-EFF3F0D8D7A9}"/>
              </a:ext>
            </a:extLst>
          </p:cNvPr>
          <p:cNvSpPr>
            <a:spLocks noGrp="1"/>
          </p:cNvSpPr>
          <p:nvPr>
            <p:ph type="title"/>
            <p:custDataLst>
              <p:tags r:id="rId2"/>
            </p:custDataLst>
          </p:nvPr>
        </p:nvSpPr>
        <p:spPr>
          <a:xfrm>
            <a:off x="554736" y="2744369"/>
            <a:ext cx="2514600" cy="769441"/>
          </a:xfrm>
        </p:spPr>
        <p:txBody>
          <a:bodyPr vert="horz" anchor="b">
            <a:noAutofit/>
          </a:bodyPr>
          <a:lstStyle>
            <a:lvl1pPr>
              <a:defRPr sz="2600">
                <a:solidFill>
                  <a:schemeClr val="tx1"/>
                </a:solidFill>
              </a:defRPr>
            </a:lvl1pPr>
          </a:lstStyle>
          <a:p>
            <a:endParaRPr lang="en-US"/>
          </a:p>
        </p:txBody>
      </p:sp>
      <p:sp>
        <p:nvSpPr>
          <p:cNvPr id="23" name="3. Subtitle">
            <a:extLst>
              <a:ext uri="{FF2B5EF4-FFF2-40B4-BE49-F238E27FC236}">
                <a16:creationId xmlns:a16="http://schemas.microsoft.com/office/drawing/2014/main" id="{F5F6EAFF-30EB-7E79-542F-A44ABBD79CFC}"/>
              </a:ext>
            </a:extLst>
          </p:cNvPr>
          <p:cNvSpPr>
            <a:spLocks noGrp="1"/>
          </p:cNvSpPr>
          <p:nvPr>
            <p:ph type="subTitle" idx="1"/>
            <p:custDataLst>
              <p:tags r:id="rId3"/>
            </p:custDataLst>
          </p:nvPr>
        </p:nvSpPr>
        <p:spPr>
          <a:xfrm>
            <a:off x="554736" y="3659644"/>
            <a:ext cx="2514600" cy="249299"/>
          </a:xfrm>
        </p:spPr>
        <p:txBody>
          <a:bodyPr wrap="square">
            <a:spAutoFit/>
          </a:bodyPr>
          <a:lstStyle>
            <a:lvl1pPr marL="0" indent="0" algn="l">
              <a:buNone/>
              <a:defRPr sz="18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endParaRPr lang="en-US"/>
          </a:p>
        </p:txBody>
      </p:sp>
      <p:sp>
        <p:nvSpPr>
          <p:cNvPr id="7" name="Slide Number">
            <a:extLst>
              <a:ext uri="{FF2B5EF4-FFF2-40B4-BE49-F238E27FC236}">
                <a16:creationId xmlns:a16="http://schemas.microsoft.com/office/drawing/2014/main" id="{46C8CC3D-FCB2-2F4C-6816-B051F9933E3A}"/>
              </a:ext>
            </a:extLst>
          </p:cNvPr>
          <p:cNvSpPr>
            <a:spLocks noChangeArrowheads="1"/>
          </p:cNvSpPr>
          <p:nvPr userDrawn="1">
            <p:custDataLst>
              <p:tags r:id="rId4"/>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sp>
        <p:nvSpPr>
          <p:cNvPr id="9" name="TextBox 8">
            <a:extLst>
              <a:ext uri="{FF2B5EF4-FFF2-40B4-BE49-F238E27FC236}">
                <a16:creationId xmlns:a16="http://schemas.microsoft.com/office/drawing/2014/main" id="{39B1C8D7-1A55-C410-AC5E-BD3D3AB4E155}"/>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bg1"/>
                </a:solidFill>
                <a:latin typeface="+mn-lt"/>
                <a:ea typeface="Lato Light" panose="020F0502020204030203" pitchFamily="34" charset="0"/>
                <a:cs typeface="Lato Light" panose="020F0502020204030203" pitchFamily="34" charset="0"/>
              </a:rPr>
              <a:t>©Telesto Strategy LLC 2026</a:t>
            </a:r>
          </a:p>
        </p:txBody>
      </p:sp>
      <p:pic>
        <p:nvPicPr>
          <p:cNvPr id="11" name="Picture 10">
            <a:extLst>
              <a:ext uri="{FF2B5EF4-FFF2-40B4-BE49-F238E27FC236}">
                <a16:creationId xmlns:a16="http://schemas.microsoft.com/office/drawing/2014/main" id="{9CCC296F-FA51-2D60-EBFD-B5DDF33B4F3D}"/>
              </a:ext>
            </a:extLst>
          </p:cNvPr>
          <p:cNvPicPr>
            <a:picLocks noChangeAspect="1"/>
          </p:cNvPicPr>
          <p:nvPr userDrawn="1"/>
        </p:nvPicPr>
        <p:blipFill>
          <a:blip r:embed="rId8" cstate="hqprint">
            <a:extLst>
              <a:ext uri="{28A0092B-C50C-407E-A947-70E740481C1C}">
                <a14:useLocalDpi xmlns:a14="http://schemas.microsoft.com/office/drawing/2010/main"/>
              </a:ext>
            </a:extLst>
          </a:blip>
          <a:stretch>
            <a:fillRect/>
          </a:stretch>
        </p:blipFill>
        <p:spPr>
          <a:xfrm>
            <a:off x="543350" y="6322775"/>
            <a:ext cx="1188720" cy="475488"/>
          </a:xfrm>
          <a:prstGeom prst="rect">
            <a:avLst/>
          </a:prstGeom>
        </p:spPr>
      </p:pic>
    </p:spTree>
    <p:extLst>
      <p:ext uri="{BB962C8B-B14F-4D97-AF65-F5344CB8AC3E}">
        <p14:creationId xmlns:p14="http://schemas.microsoft.com/office/powerpoint/2010/main" val="328566205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3 (Contrast - Corner Image Ready)">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5787363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6" name="Rectangle 25">
            <a:extLst>
              <a:ext uri="{FF2B5EF4-FFF2-40B4-BE49-F238E27FC236}">
                <a16:creationId xmlns:a16="http://schemas.microsoft.com/office/drawing/2014/main" id="{686782E5-C92F-27C6-BFA5-3AC5771E22C1}"/>
              </a:ext>
            </a:extLst>
          </p:cNvPr>
          <p:cNvSpPr/>
          <p:nvPr userDrawn="1"/>
        </p:nvSpPr>
        <p:spPr>
          <a:xfrm>
            <a:off x="4364736" y="0"/>
            <a:ext cx="7827264" cy="6857998"/>
          </a:xfrm>
          <a:prstGeom prst="rect">
            <a:avLst/>
          </a:prstGeom>
          <a:solidFill>
            <a:srgbClr val="282828"/>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22" name="2. Slide Title">
            <a:extLst>
              <a:ext uri="{FF2B5EF4-FFF2-40B4-BE49-F238E27FC236}">
                <a16:creationId xmlns:a16="http://schemas.microsoft.com/office/drawing/2014/main" id="{F9639F65-6267-3E12-A764-EFF3F0D8D7A9}"/>
              </a:ext>
            </a:extLst>
          </p:cNvPr>
          <p:cNvSpPr>
            <a:spLocks noGrp="1"/>
          </p:cNvSpPr>
          <p:nvPr>
            <p:ph type="title"/>
            <p:custDataLst>
              <p:tags r:id="rId2"/>
            </p:custDataLst>
          </p:nvPr>
        </p:nvSpPr>
        <p:spPr>
          <a:xfrm>
            <a:off x="554736" y="2744369"/>
            <a:ext cx="3563430" cy="769441"/>
          </a:xfrm>
        </p:spPr>
        <p:txBody>
          <a:bodyPr vert="horz" anchor="b">
            <a:noAutofit/>
          </a:bodyPr>
          <a:lstStyle>
            <a:lvl1pPr>
              <a:defRPr sz="2600">
                <a:solidFill>
                  <a:schemeClr val="tx1"/>
                </a:solidFill>
              </a:defRPr>
            </a:lvl1pPr>
          </a:lstStyle>
          <a:p>
            <a:endParaRPr lang="en-US"/>
          </a:p>
        </p:txBody>
      </p:sp>
      <p:sp>
        <p:nvSpPr>
          <p:cNvPr id="23" name="3. Subtitle">
            <a:extLst>
              <a:ext uri="{FF2B5EF4-FFF2-40B4-BE49-F238E27FC236}">
                <a16:creationId xmlns:a16="http://schemas.microsoft.com/office/drawing/2014/main" id="{F5F6EAFF-30EB-7E79-542F-A44ABBD79CFC}"/>
              </a:ext>
            </a:extLst>
          </p:cNvPr>
          <p:cNvSpPr>
            <a:spLocks noGrp="1"/>
          </p:cNvSpPr>
          <p:nvPr>
            <p:ph type="subTitle" idx="1"/>
            <p:custDataLst>
              <p:tags r:id="rId3"/>
            </p:custDataLst>
          </p:nvPr>
        </p:nvSpPr>
        <p:spPr>
          <a:xfrm>
            <a:off x="554736" y="3659644"/>
            <a:ext cx="3563430" cy="249299"/>
          </a:xfrm>
        </p:spPr>
        <p:txBody>
          <a:bodyPr wrap="square">
            <a:spAutoFit/>
          </a:bodyPr>
          <a:lstStyle>
            <a:lvl1pPr marL="0" indent="0" algn="l">
              <a:buNone/>
              <a:defRPr sz="18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endParaRPr lang="en-US"/>
          </a:p>
        </p:txBody>
      </p:sp>
      <p:sp>
        <p:nvSpPr>
          <p:cNvPr id="7" name="Slide Number">
            <a:extLst>
              <a:ext uri="{FF2B5EF4-FFF2-40B4-BE49-F238E27FC236}">
                <a16:creationId xmlns:a16="http://schemas.microsoft.com/office/drawing/2014/main" id="{CB0565AB-4079-4F9F-C11B-0E94581185EE}"/>
              </a:ext>
            </a:extLst>
          </p:cNvPr>
          <p:cNvSpPr>
            <a:spLocks noChangeArrowheads="1"/>
          </p:cNvSpPr>
          <p:nvPr userDrawn="1">
            <p:custDataLst>
              <p:tags r:id="rId4"/>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sp>
        <p:nvSpPr>
          <p:cNvPr id="9" name="TextBox 8">
            <a:extLst>
              <a:ext uri="{FF2B5EF4-FFF2-40B4-BE49-F238E27FC236}">
                <a16:creationId xmlns:a16="http://schemas.microsoft.com/office/drawing/2014/main" id="{33338087-9039-BEEA-40E1-3C8B3B85D7C5}"/>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bg1"/>
                </a:solidFill>
                <a:latin typeface="+mn-lt"/>
                <a:ea typeface="Lato Light" panose="020F0502020204030203" pitchFamily="34" charset="0"/>
                <a:cs typeface="Lato Light" panose="020F0502020204030203" pitchFamily="34" charset="0"/>
              </a:rPr>
              <a:t>©Telesto Strategy LLC 2026</a:t>
            </a:r>
          </a:p>
        </p:txBody>
      </p:sp>
      <p:pic>
        <p:nvPicPr>
          <p:cNvPr id="11" name="Picture 10">
            <a:extLst>
              <a:ext uri="{FF2B5EF4-FFF2-40B4-BE49-F238E27FC236}">
                <a16:creationId xmlns:a16="http://schemas.microsoft.com/office/drawing/2014/main" id="{94E20D12-73FD-A6BF-0AF4-0AFF69969431}"/>
              </a:ext>
            </a:extLst>
          </p:cNvPr>
          <p:cNvPicPr>
            <a:picLocks noChangeAspect="1"/>
          </p:cNvPicPr>
          <p:nvPr userDrawn="1"/>
        </p:nvPicPr>
        <p:blipFill>
          <a:blip r:embed="rId8" cstate="hqprint">
            <a:extLst>
              <a:ext uri="{28A0092B-C50C-407E-A947-70E740481C1C}">
                <a14:useLocalDpi xmlns:a14="http://schemas.microsoft.com/office/drawing/2010/main"/>
              </a:ext>
            </a:extLst>
          </a:blip>
          <a:stretch>
            <a:fillRect/>
          </a:stretch>
        </p:blipFill>
        <p:spPr>
          <a:xfrm>
            <a:off x="543350" y="6322775"/>
            <a:ext cx="1188720" cy="475488"/>
          </a:xfrm>
          <a:prstGeom prst="rect">
            <a:avLst/>
          </a:prstGeom>
        </p:spPr>
      </p:pic>
    </p:spTree>
    <p:extLst>
      <p:ext uri="{BB962C8B-B14F-4D97-AF65-F5344CB8AC3E}">
        <p14:creationId xmlns:p14="http://schemas.microsoft.com/office/powerpoint/2010/main" val="26315135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_1/3 (Contrast - Corner Image Ready)">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5787363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6" name="Rectangle 25">
            <a:extLst>
              <a:ext uri="{FF2B5EF4-FFF2-40B4-BE49-F238E27FC236}">
                <a16:creationId xmlns:a16="http://schemas.microsoft.com/office/drawing/2014/main" id="{686782E5-C92F-27C6-BFA5-3AC5771E22C1}"/>
              </a:ext>
            </a:extLst>
          </p:cNvPr>
          <p:cNvSpPr/>
          <p:nvPr userDrawn="1"/>
        </p:nvSpPr>
        <p:spPr>
          <a:xfrm>
            <a:off x="4364736" y="0"/>
            <a:ext cx="7827264" cy="6857998"/>
          </a:xfrm>
          <a:prstGeom prst="rect">
            <a:avLst/>
          </a:prstGeom>
          <a:solidFill>
            <a:schemeClr val="accent5"/>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22" name="2. Slide Title">
            <a:extLst>
              <a:ext uri="{FF2B5EF4-FFF2-40B4-BE49-F238E27FC236}">
                <a16:creationId xmlns:a16="http://schemas.microsoft.com/office/drawing/2014/main" id="{F9639F65-6267-3E12-A764-EFF3F0D8D7A9}"/>
              </a:ext>
            </a:extLst>
          </p:cNvPr>
          <p:cNvSpPr>
            <a:spLocks noGrp="1"/>
          </p:cNvSpPr>
          <p:nvPr>
            <p:ph type="title"/>
            <p:custDataLst>
              <p:tags r:id="rId2"/>
            </p:custDataLst>
          </p:nvPr>
        </p:nvSpPr>
        <p:spPr>
          <a:xfrm>
            <a:off x="554736" y="2744369"/>
            <a:ext cx="3563430" cy="769441"/>
          </a:xfrm>
        </p:spPr>
        <p:txBody>
          <a:bodyPr vert="horz" anchor="b">
            <a:noAutofit/>
          </a:bodyPr>
          <a:lstStyle>
            <a:lvl1pPr>
              <a:defRPr sz="2600">
                <a:solidFill>
                  <a:schemeClr val="tx1"/>
                </a:solidFill>
              </a:defRPr>
            </a:lvl1pPr>
          </a:lstStyle>
          <a:p>
            <a:endParaRPr lang="en-US"/>
          </a:p>
        </p:txBody>
      </p:sp>
      <p:sp>
        <p:nvSpPr>
          <p:cNvPr id="23" name="3. Subtitle">
            <a:extLst>
              <a:ext uri="{FF2B5EF4-FFF2-40B4-BE49-F238E27FC236}">
                <a16:creationId xmlns:a16="http://schemas.microsoft.com/office/drawing/2014/main" id="{F5F6EAFF-30EB-7E79-542F-A44ABBD79CFC}"/>
              </a:ext>
            </a:extLst>
          </p:cNvPr>
          <p:cNvSpPr>
            <a:spLocks noGrp="1"/>
          </p:cNvSpPr>
          <p:nvPr>
            <p:ph type="subTitle" idx="1"/>
            <p:custDataLst>
              <p:tags r:id="rId3"/>
            </p:custDataLst>
          </p:nvPr>
        </p:nvSpPr>
        <p:spPr>
          <a:xfrm>
            <a:off x="554736" y="3659644"/>
            <a:ext cx="3563430" cy="249299"/>
          </a:xfrm>
        </p:spPr>
        <p:txBody>
          <a:bodyPr wrap="square">
            <a:spAutoFit/>
          </a:bodyPr>
          <a:lstStyle>
            <a:lvl1pPr marL="0" indent="0" algn="l">
              <a:buNone/>
              <a:defRPr sz="18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endParaRPr lang="en-US"/>
          </a:p>
        </p:txBody>
      </p:sp>
      <p:sp>
        <p:nvSpPr>
          <p:cNvPr id="7" name="Slide Number">
            <a:extLst>
              <a:ext uri="{FF2B5EF4-FFF2-40B4-BE49-F238E27FC236}">
                <a16:creationId xmlns:a16="http://schemas.microsoft.com/office/drawing/2014/main" id="{CB0565AB-4079-4F9F-C11B-0E94581185EE}"/>
              </a:ext>
            </a:extLst>
          </p:cNvPr>
          <p:cNvSpPr>
            <a:spLocks noChangeArrowheads="1"/>
          </p:cNvSpPr>
          <p:nvPr userDrawn="1">
            <p:custDataLst>
              <p:tags r:id="rId4"/>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sp>
        <p:nvSpPr>
          <p:cNvPr id="9" name="TextBox 8">
            <a:extLst>
              <a:ext uri="{FF2B5EF4-FFF2-40B4-BE49-F238E27FC236}">
                <a16:creationId xmlns:a16="http://schemas.microsoft.com/office/drawing/2014/main" id="{33338087-9039-BEEA-40E1-3C8B3B85D7C5}"/>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bg1"/>
                </a:solidFill>
                <a:latin typeface="+mn-lt"/>
                <a:ea typeface="Lato Light" panose="020F0502020204030203" pitchFamily="34" charset="0"/>
                <a:cs typeface="Lato Light" panose="020F0502020204030203" pitchFamily="34" charset="0"/>
              </a:rPr>
              <a:t>©Telesto Strategy LLC 2026</a:t>
            </a:r>
          </a:p>
        </p:txBody>
      </p:sp>
      <p:pic>
        <p:nvPicPr>
          <p:cNvPr id="5" name="Picture 4">
            <a:extLst>
              <a:ext uri="{FF2B5EF4-FFF2-40B4-BE49-F238E27FC236}">
                <a16:creationId xmlns:a16="http://schemas.microsoft.com/office/drawing/2014/main" id="{21C50299-D895-018E-C536-218E95104E33}"/>
              </a:ext>
            </a:extLst>
          </p:cNvPr>
          <p:cNvPicPr>
            <a:picLocks noChangeAspect="1"/>
          </p:cNvPicPr>
          <p:nvPr userDrawn="1"/>
        </p:nvPicPr>
        <p:blipFill>
          <a:blip r:embed="rId8" cstate="hqprint">
            <a:extLst>
              <a:ext uri="{28A0092B-C50C-407E-A947-70E740481C1C}">
                <a14:useLocalDpi xmlns:a14="http://schemas.microsoft.com/office/drawing/2010/main"/>
              </a:ext>
            </a:extLst>
          </a:blip>
          <a:stretch>
            <a:fillRect/>
          </a:stretch>
        </p:blipFill>
        <p:spPr>
          <a:xfrm>
            <a:off x="543350" y="6322775"/>
            <a:ext cx="1188720" cy="475488"/>
          </a:xfrm>
          <a:prstGeom prst="rect">
            <a:avLst/>
          </a:prstGeom>
        </p:spPr>
      </p:pic>
    </p:spTree>
    <p:extLst>
      <p:ext uri="{BB962C8B-B14F-4D97-AF65-F5344CB8AC3E}">
        <p14:creationId xmlns:p14="http://schemas.microsoft.com/office/powerpoint/2010/main" val="22355189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1/3 (Contrast - Corner Image Ready)">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E7C1147-F01C-C5FA-E0E3-17AB963AF4CD}"/>
              </a:ext>
            </a:extLst>
          </p:cNvPr>
          <p:cNvPicPr>
            <a:picLocks noChangeAspect="1"/>
          </p:cNvPicPr>
          <p:nvPr userDrawn="1"/>
        </p:nvPicPr>
        <p:blipFill rotWithShape="1">
          <a:blip r:embed="rId6">
            <a:extLst>
              <a:ext uri="{28A0092B-C50C-407E-A947-70E740481C1C}">
                <a14:useLocalDpi xmlns:a14="http://schemas.microsoft.com/office/drawing/2010/main"/>
              </a:ext>
            </a:extLst>
          </a:blip>
          <a:srcRect/>
          <a:stretch>
            <a:fillRect/>
          </a:stretch>
        </p:blipFill>
        <p:spPr>
          <a:xfrm>
            <a:off x="4364736" y="-3574"/>
            <a:ext cx="7827264" cy="6858000"/>
          </a:xfrm>
          <a:prstGeom prst="rect">
            <a:avLst/>
          </a:prstGeom>
        </p:spPr>
      </p:pic>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5787363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606" imgH="608" progId="TCLayout.ActiveDocument.1">
                  <p:embed/>
                </p:oleObj>
              </mc:Choice>
              <mc:Fallback>
                <p:oleObj name="thinkcell Slide" r:id="rId7"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6" name="Rectangle 25">
            <a:extLst>
              <a:ext uri="{FF2B5EF4-FFF2-40B4-BE49-F238E27FC236}">
                <a16:creationId xmlns:a16="http://schemas.microsoft.com/office/drawing/2014/main" id="{686782E5-C92F-27C6-BFA5-3AC5771E22C1}"/>
              </a:ext>
            </a:extLst>
          </p:cNvPr>
          <p:cNvSpPr/>
          <p:nvPr userDrawn="1"/>
        </p:nvSpPr>
        <p:spPr>
          <a:xfrm>
            <a:off x="4357642" y="0"/>
            <a:ext cx="7834357" cy="6857998"/>
          </a:xfrm>
          <a:prstGeom prst="rect">
            <a:avLst/>
          </a:prstGeom>
          <a:solidFill>
            <a:srgbClr val="282828">
              <a:alpha val="80000"/>
            </a:srgbClr>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22" name="2. Slide Title">
            <a:extLst>
              <a:ext uri="{FF2B5EF4-FFF2-40B4-BE49-F238E27FC236}">
                <a16:creationId xmlns:a16="http://schemas.microsoft.com/office/drawing/2014/main" id="{F9639F65-6267-3E12-A764-EFF3F0D8D7A9}"/>
              </a:ext>
            </a:extLst>
          </p:cNvPr>
          <p:cNvSpPr>
            <a:spLocks noGrp="1"/>
          </p:cNvSpPr>
          <p:nvPr>
            <p:ph type="title"/>
            <p:custDataLst>
              <p:tags r:id="rId2"/>
            </p:custDataLst>
          </p:nvPr>
        </p:nvSpPr>
        <p:spPr>
          <a:xfrm>
            <a:off x="554736" y="2744369"/>
            <a:ext cx="3563430" cy="769441"/>
          </a:xfrm>
        </p:spPr>
        <p:txBody>
          <a:bodyPr vert="horz" anchor="b">
            <a:noAutofit/>
          </a:bodyPr>
          <a:lstStyle>
            <a:lvl1pPr>
              <a:defRPr sz="2600">
                <a:solidFill>
                  <a:schemeClr val="tx1"/>
                </a:solidFill>
              </a:defRPr>
            </a:lvl1pPr>
          </a:lstStyle>
          <a:p>
            <a:endParaRPr lang="en-US"/>
          </a:p>
        </p:txBody>
      </p:sp>
      <p:sp>
        <p:nvSpPr>
          <p:cNvPr id="23" name="3. Subtitle">
            <a:extLst>
              <a:ext uri="{FF2B5EF4-FFF2-40B4-BE49-F238E27FC236}">
                <a16:creationId xmlns:a16="http://schemas.microsoft.com/office/drawing/2014/main" id="{F5F6EAFF-30EB-7E79-542F-A44ABBD79CFC}"/>
              </a:ext>
            </a:extLst>
          </p:cNvPr>
          <p:cNvSpPr>
            <a:spLocks noGrp="1"/>
          </p:cNvSpPr>
          <p:nvPr>
            <p:ph type="subTitle" idx="1"/>
            <p:custDataLst>
              <p:tags r:id="rId3"/>
            </p:custDataLst>
          </p:nvPr>
        </p:nvSpPr>
        <p:spPr>
          <a:xfrm>
            <a:off x="554736" y="3659644"/>
            <a:ext cx="3563430" cy="249299"/>
          </a:xfrm>
        </p:spPr>
        <p:txBody>
          <a:bodyPr wrap="square">
            <a:spAutoFit/>
          </a:bodyPr>
          <a:lstStyle>
            <a:lvl1pPr marL="0" indent="0" algn="l">
              <a:buNone/>
              <a:defRPr sz="18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endParaRPr lang="en-US"/>
          </a:p>
        </p:txBody>
      </p:sp>
      <p:sp>
        <p:nvSpPr>
          <p:cNvPr id="7" name="Slide Number">
            <a:extLst>
              <a:ext uri="{FF2B5EF4-FFF2-40B4-BE49-F238E27FC236}">
                <a16:creationId xmlns:a16="http://schemas.microsoft.com/office/drawing/2014/main" id="{0A746E6F-EE25-8EF1-2A8D-A96A6E1DD5F1}"/>
              </a:ext>
            </a:extLst>
          </p:cNvPr>
          <p:cNvSpPr>
            <a:spLocks noChangeArrowheads="1"/>
          </p:cNvSpPr>
          <p:nvPr userDrawn="1">
            <p:custDataLst>
              <p:tags r:id="rId4"/>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sp>
        <p:nvSpPr>
          <p:cNvPr id="9" name="TextBox 8">
            <a:extLst>
              <a:ext uri="{FF2B5EF4-FFF2-40B4-BE49-F238E27FC236}">
                <a16:creationId xmlns:a16="http://schemas.microsoft.com/office/drawing/2014/main" id="{0A3C041C-D790-3BE5-561C-0AE4BF6C4F96}"/>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dirty="0">
                <a:solidFill>
                  <a:schemeClr val="bg1"/>
                </a:solidFill>
                <a:latin typeface="+mn-lt"/>
                <a:ea typeface="Lato Light" panose="020F0502020204030203" pitchFamily="34" charset="0"/>
                <a:cs typeface="Lato Light" panose="020F0502020204030203" pitchFamily="34" charset="0"/>
              </a:rPr>
              <a:t>©Telesto Strategy LLC 2026</a:t>
            </a:r>
          </a:p>
        </p:txBody>
      </p:sp>
      <p:pic>
        <p:nvPicPr>
          <p:cNvPr id="6" name="Picture 5">
            <a:extLst>
              <a:ext uri="{FF2B5EF4-FFF2-40B4-BE49-F238E27FC236}">
                <a16:creationId xmlns:a16="http://schemas.microsoft.com/office/drawing/2014/main" id="{D62E96FE-1336-A612-1F68-5C2649DC6C7A}"/>
              </a:ext>
            </a:extLst>
          </p:cNvPr>
          <p:cNvPicPr>
            <a:picLocks noChangeAspect="1"/>
          </p:cNvPicPr>
          <p:nvPr userDrawn="1"/>
        </p:nvPicPr>
        <p:blipFill>
          <a:blip r:embed="rId9" cstate="hqprint">
            <a:extLst>
              <a:ext uri="{28A0092B-C50C-407E-A947-70E740481C1C}">
                <a14:useLocalDpi xmlns:a14="http://schemas.microsoft.com/office/drawing/2010/main"/>
              </a:ext>
            </a:extLst>
          </a:blip>
          <a:stretch>
            <a:fillRect/>
          </a:stretch>
        </p:blipFill>
        <p:spPr>
          <a:xfrm>
            <a:off x="543350" y="6322775"/>
            <a:ext cx="1188720" cy="475488"/>
          </a:xfrm>
          <a:prstGeom prst="rect">
            <a:avLst/>
          </a:prstGeom>
        </p:spPr>
      </p:pic>
    </p:spTree>
    <p:extLst>
      <p:ext uri="{BB962C8B-B14F-4D97-AF65-F5344CB8AC3E}">
        <p14:creationId xmlns:p14="http://schemas.microsoft.com/office/powerpoint/2010/main" val="14548328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2 (Contrast - Corner Image Ready)">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13878472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6" name="Rectangle 25">
            <a:extLst>
              <a:ext uri="{FF2B5EF4-FFF2-40B4-BE49-F238E27FC236}">
                <a16:creationId xmlns:a16="http://schemas.microsoft.com/office/drawing/2014/main" id="{686782E5-C92F-27C6-BFA5-3AC5771E22C1}"/>
              </a:ext>
            </a:extLst>
          </p:cNvPr>
          <p:cNvSpPr/>
          <p:nvPr userDrawn="1"/>
        </p:nvSpPr>
        <p:spPr>
          <a:xfrm>
            <a:off x="6092952" y="0"/>
            <a:ext cx="6099048" cy="6858000"/>
          </a:xfrm>
          <a:prstGeom prst="rect">
            <a:avLst/>
          </a:prstGeom>
          <a:solidFill>
            <a:srgbClr val="282828"/>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9" name="2. Slide Title">
            <a:extLst>
              <a:ext uri="{FF2B5EF4-FFF2-40B4-BE49-F238E27FC236}">
                <a16:creationId xmlns:a16="http://schemas.microsoft.com/office/drawing/2014/main" id="{0DBD039E-D8CC-F27C-A5CF-DE876D571E9C}"/>
              </a:ext>
            </a:extLst>
          </p:cNvPr>
          <p:cNvSpPr>
            <a:spLocks noGrp="1"/>
          </p:cNvSpPr>
          <p:nvPr>
            <p:ph type="title"/>
            <p:custDataLst>
              <p:tags r:id="rId2"/>
            </p:custDataLst>
          </p:nvPr>
        </p:nvSpPr>
        <p:spPr>
          <a:xfrm>
            <a:off x="554736" y="291264"/>
            <a:ext cx="5065776" cy="731520"/>
          </a:xfrm>
          <a:prstGeom prst="rect">
            <a:avLst/>
          </a:prstGeom>
        </p:spPr>
        <p:txBody>
          <a:bodyPr vert="horz" wrap="square" lIns="0" tIns="0" rIns="0" bIns="0" rtlCol="0" anchor="b" anchorCtr="0">
            <a:noAutofit/>
          </a:bodyPr>
          <a:lstStyle>
            <a:lvl1pPr>
              <a:defRPr sz="2600">
                <a:solidFill>
                  <a:schemeClr val="tx1"/>
                </a:solidFill>
              </a:defRPr>
            </a:lvl1pPr>
          </a:lstStyle>
          <a:p>
            <a:endParaRPr lang="en-US"/>
          </a:p>
        </p:txBody>
      </p:sp>
      <p:sp>
        <p:nvSpPr>
          <p:cNvPr id="10" name="3. Subtitle">
            <a:extLst>
              <a:ext uri="{FF2B5EF4-FFF2-40B4-BE49-F238E27FC236}">
                <a16:creationId xmlns:a16="http://schemas.microsoft.com/office/drawing/2014/main" id="{A70AD7AA-E5E0-21FE-6EC1-7EB218BBCD60}"/>
              </a:ext>
            </a:extLst>
          </p:cNvPr>
          <p:cNvSpPr>
            <a:spLocks noGrp="1"/>
          </p:cNvSpPr>
          <p:nvPr>
            <p:ph type="subTitle" idx="1"/>
            <p:custDataLst>
              <p:tags r:id="rId3"/>
            </p:custDataLst>
          </p:nvPr>
        </p:nvSpPr>
        <p:spPr>
          <a:xfrm>
            <a:off x="554736" y="1075141"/>
            <a:ext cx="5065776" cy="276999"/>
          </a:xfr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sp>
        <p:nvSpPr>
          <p:cNvPr id="11" name="Slide Number">
            <a:extLst>
              <a:ext uri="{FF2B5EF4-FFF2-40B4-BE49-F238E27FC236}">
                <a16:creationId xmlns:a16="http://schemas.microsoft.com/office/drawing/2014/main" id="{600F35FC-A0DC-82BE-A43D-C3F0454B9132}"/>
              </a:ext>
            </a:extLst>
          </p:cNvPr>
          <p:cNvSpPr>
            <a:spLocks noChangeArrowheads="1"/>
          </p:cNvSpPr>
          <p:nvPr userDrawn="1">
            <p:custDataLst>
              <p:tags r:id="rId4"/>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sp>
        <p:nvSpPr>
          <p:cNvPr id="12" name="TextBox 11">
            <a:extLst>
              <a:ext uri="{FF2B5EF4-FFF2-40B4-BE49-F238E27FC236}">
                <a16:creationId xmlns:a16="http://schemas.microsoft.com/office/drawing/2014/main" id="{D7B8430C-560F-5992-DECA-F88E142AA4C3}"/>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bg1"/>
                </a:solidFill>
                <a:latin typeface="+mn-lt"/>
                <a:ea typeface="Lato Light" panose="020F0502020204030203" pitchFamily="34" charset="0"/>
                <a:cs typeface="Lato Light" panose="020F0502020204030203" pitchFamily="34" charset="0"/>
              </a:rPr>
              <a:t>©Telesto Strategy LLC 2026</a:t>
            </a:r>
          </a:p>
        </p:txBody>
      </p:sp>
      <p:pic>
        <p:nvPicPr>
          <p:cNvPr id="14" name="Picture 13">
            <a:extLst>
              <a:ext uri="{FF2B5EF4-FFF2-40B4-BE49-F238E27FC236}">
                <a16:creationId xmlns:a16="http://schemas.microsoft.com/office/drawing/2014/main" id="{A58F88A6-0458-8F41-A99E-8DB1AE08DBBE}"/>
              </a:ext>
            </a:extLst>
          </p:cNvPr>
          <p:cNvPicPr>
            <a:picLocks noChangeAspect="1"/>
          </p:cNvPicPr>
          <p:nvPr userDrawn="1"/>
        </p:nvPicPr>
        <p:blipFill>
          <a:blip r:embed="rId8" cstate="hqprint">
            <a:extLst>
              <a:ext uri="{28A0092B-C50C-407E-A947-70E740481C1C}">
                <a14:useLocalDpi xmlns:a14="http://schemas.microsoft.com/office/drawing/2010/main"/>
              </a:ext>
            </a:extLst>
          </a:blip>
          <a:stretch>
            <a:fillRect/>
          </a:stretch>
        </p:blipFill>
        <p:spPr>
          <a:xfrm>
            <a:off x="543350" y="6322775"/>
            <a:ext cx="1188720" cy="475488"/>
          </a:xfrm>
          <a:prstGeom prst="rect">
            <a:avLst/>
          </a:prstGeom>
        </p:spPr>
      </p:pic>
    </p:spTree>
    <p:extLst>
      <p:ext uri="{BB962C8B-B14F-4D97-AF65-F5344CB8AC3E}">
        <p14:creationId xmlns:p14="http://schemas.microsoft.com/office/powerpoint/2010/main" val="2009194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3 (Contras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9542682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6" name="Rectangle 25">
            <a:extLst>
              <a:ext uri="{FF2B5EF4-FFF2-40B4-BE49-F238E27FC236}">
                <a16:creationId xmlns:a16="http://schemas.microsoft.com/office/drawing/2014/main" id="{686782E5-C92F-27C6-BFA5-3AC5771E22C1}"/>
              </a:ext>
            </a:extLst>
          </p:cNvPr>
          <p:cNvSpPr/>
          <p:nvPr userDrawn="1"/>
        </p:nvSpPr>
        <p:spPr>
          <a:xfrm>
            <a:off x="7830312" y="0"/>
            <a:ext cx="4361688" cy="6857999"/>
          </a:xfrm>
          <a:prstGeom prst="rect">
            <a:avLst/>
          </a:prstGeom>
          <a:solidFill>
            <a:srgbClr val="282828"/>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10" name="Slide Number">
            <a:extLst>
              <a:ext uri="{FF2B5EF4-FFF2-40B4-BE49-F238E27FC236}">
                <a16:creationId xmlns:a16="http://schemas.microsoft.com/office/drawing/2014/main" id="{B0C7DCE0-AB35-168B-F71C-39D0B5FF339E}"/>
              </a:ext>
            </a:extLst>
          </p:cNvPr>
          <p:cNvSpPr>
            <a:spLocks noChangeArrowheads="1"/>
          </p:cNvSpPr>
          <p:nvPr userDrawn="1">
            <p:custDataLst>
              <p:tags r:id="rId2"/>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sp>
        <p:nvSpPr>
          <p:cNvPr id="7" name="2. Slide Title">
            <a:extLst>
              <a:ext uri="{FF2B5EF4-FFF2-40B4-BE49-F238E27FC236}">
                <a16:creationId xmlns:a16="http://schemas.microsoft.com/office/drawing/2014/main" id="{E4195ED8-2E77-5DEB-05AD-89CA4409D2CC}"/>
              </a:ext>
            </a:extLst>
          </p:cNvPr>
          <p:cNvSpPr>
            <a:spLocks noGrp="1"/>
          </p:cNvSpPr>
          <p:nvPr>
            <p:ph type="title"/>
            <p:custDataLst>
              <p:tags r:id="rId3"/>
            </p:custDataLst>
          </p:nvPr>
        </p:nvSpPr>
        <p:spPr>
          <a:xfrm>
            <a:off x="554736" y="291264"/>
            <a:ext cx="6967728" cy="731520"/>
          </a:xfrm>
          <a:prstGeom prst="rect">
            <a:avLst/>
          </a:prstGeom>
        </p:spPr>
        <p:txBody>
          <a:bodyPr vert="horz" wrap="square" lIns="0" tIns="0" rIns="0" bIns="0" rtlCol="0" anchor="b" anchorCtr="0">
            <a:noAutofit/>
          </a:bodyPr>
          <a:lstStyle>
            <a:lvl1pPr>
              <a:defRPr sz="2600">
                <a:solidFill>
                  <a:schemeClr val="tx1"/>
                </a:solidFill>
              </a:defRPr>
            </a:lvl1pPr>
          </a:lstStyle>
          <a:p>
            <a:endParaRPr lang="en-US"/>
          </a:p>
        </p:txBody>
      </p:sp>
      <p:sp>
        <p:nvSpPr>
          <p:cNvPr id="9" name="3. Subtitle">
            <a:extLst>
              <a:ext uri="{FF2B5EF4-FFF2-40B4-BE49-F238E27FC236}">
                <a16:creationId xmlns:a16="http://schemas.microsoft.com/office/drawing/2014/main" id="{015065C5-31EB-7FD3-0E13-021536D60B25}"/>
              </a:ext>
            </a:extLst>
          </p:cNvPr>
          <p:cNvSpPr>
            <a:spLocks noGrp="1"/>
          </p:cNvSpPr>
          <p:nvPr>
            <p:ph type="subTitle" idx="1"/>
            <p:custDataLst>
              <p:tags r:id="rId4"/>
            </p:custDataLst>
          </p:nvPr>
        </p:nvSpPr>
        <p:spPr>
          <a:xfrm>
            <a:off x="554736" y="1075141"/>
            <a:ext cx="6967728" cy="276999"/>
          </a:xfr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sp>
        <p:nvSpPr>
          <p:cNvPr id="3" name="TextBox 2">
            <a:extLst>
              <a:ext uri="{FF2B5EF4-FFF2-40B4-BE49-F238E27FC236}">
                <a16:creationId xmlns:a16="http://schemas.microsoft.com/office/drawing/2014/main" id="{6C1229C8-9E4D-D258-D009-01D88C61DD80}"/>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bg1"/>
                </a:solidFill>
                <a:latin typeface="+mn-lt"/>
                <a:ea typeface="Lato Light" panose="020F0502020204030203" pitchFamily="34" charset="0"/>
                <a:cs typeface="Lato Light" panose="020F0502020204030203" pitchFamily="34" charset="0"/>
              </a:rPr>
              <a:t>©Telesto Strategy LLC 2026</a:t>
            </a:r>
          </a:p>
        </p:txBody>
      </p:sp>
      <p:pic>
        <p:nvPicPr>
          <p:cNvPr id="5" name="Picture 4">
            <a:extLst>
              <a:ext uri="{FF2B5EF4-FFF2-40B4-BE49-F238E27FC236}">
                <a16:creationId xmlns:a16="http://schemas.microsoft.com/office/drawing/2014/main" id="{20BAF53A-3AAD-7119-5BC3-480625DA50CC}"/>
              </a:ext>
            </a:extLst>
          </p:cNvPr>
          <p:cNvPicPr>
            <a:picLocks noChangeAspect="1"/>
          </p:cNvPicPr>
          <p:nvPr userDrawn="1"/>
        </p:nvPicPr>
        <p:blipFill>
          <a:blip r:embed="rId8" cstate="hqprint">
            <a:extLst>
              <a:ext uri="{28A0092B-C50C-407E-A947-70E740481C1C}">
                <a14:useLocalDpi xmlns:a14="http://schemas.microsoft.com/office/drawing/2010/main"/>
              </a:ext>
            </a:extLst>
          </a:blip>
          <a:stretch>
            <a:fillRect/>
          </a:stretch>
        </p:blipFill>
        <p:spPr>
          <a:xfrm>
            <a:off x="543350" y="6322775"/>
            <a:ext cx="1188720" cy="475488"/>
          </a:xfrm>
          <a:prstGeom prst="rect">
            <a:avLst/>
          </a:prstGeom>
        </p:spPr>
      </p:pic>
    </p:spTree>
    <p:extLst>
      <p:ext uri="{BB962C8B-B14F-4D97-AF65-F5344CB8AC3E}">
        <p14:creationId xmlns:p14="http://schemas.microsoft.com/office/powerpoint/2010/main" val="88271711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2/3 (Contras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9542682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6" name="Rectangle 25">
            <a:extLst>
              <a:ext uri="{FF2B5EF4-FFF2-40B4-BE49-F238E27FC236}">
                <a16:creationId xmlns:a16="http://schemas.microsoft.com/office/drawing/2014/main" id="{686782E5-C92F-27C6-BFA5-3AC5771E22C1}"/>
              </a:ext>
            </a:extLst>
          </p:cNvPr>
          <p:cNvSpPr/>
          <p:nvPr userDrawn="1"/>
        </p:nvSpPr>
        <p:spPr>
          <a:xfrm>
            <a:off x="7830312" y="0"/>
            <a:ext cx="4361688" cy="6857999"/>
          </a:xfrm>
          <a:prstGeom prst="rect">
            <a:avLst/>
          </a:prstGeom>
          <a:solidFill>
            <a:schemeClr val="bg2"/>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10" name="Slide Number">
            <a:extLst>
              <a:ext uri="{FF2B5EF4-FFF2-40B4-BE49-F238E27FC236}">
                <a16:creationId xmlns:a16="http://schemas.microsoft.com/office/drawing/2014/main" id="{B0C7DCE0-AB35-168B-F71C-39D0B5FF339E}"/>
              </a:ext>
            </a:extLst>
          </p:cNvPr>
          <p:cNvSpPr>
            <a:spLocks noChangeArrowheads="1"/>
          </p:cNvSpPr>
          <p:nvPr userDrawn="1">
            <p:custDataLst>
              <p:tags r:id="rId2"/>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sp>
        <p:nvSpPr>
          <p:cNvPr id="7" name="2. Slide Title">
            <a:extLst>
              <a:ext uri="{FF2B5EF4-FFF2-40B4-BE49-F238E27FC236}">
                <a16:creationId xmlns:a16="http://schemas.microsoft.com/office/drawing/2014/main" id="{E4195ED8-2E77-5DEB-05AD-89CA4409D2CC}"/>
              </a:ext>
            </a:extLst>
          </p:cNvPr>
          <p:cNvSpPr>
            <a:spLocks noGrp="1"/>
          </p:cNvSpPr>
          <p:nvPr>
            <p:ph type="title"/>
            <p:custDataLst>
              <p:tags r:id="rId3"/>
            </p:custDataLst>
          </p:nvPr>
        </p:nvSpPr>
        <p:spPr>
          <a:xfrm>
            <a:off x="554736" y="291264"/>
            <a:ext cx="6967728" cy="731520"/>
          </a:xfrm>
          <a:prstGeom prst="rect">
            <a:avLst/>
          </a:prstGeom>
        </p:spPr>
        <p:txBody>
          <a:bodyPr vert="horz" wrap="square" lIns="0" tIns="0" rIns="0" bIns="0" rtlCol="0" anchor="b" anchorCtr="0">
            <a:noAutofit/>
          </a:bodyPr>
          <a:lstStyle>
            <a:lvl1pPr>
              <a:defRPr sz="2600">
                <a:solidFill>
                  <a:schemeClr val="tx1"/>
                </a:solidFill>
              </a:defRPr>
            </a:lvl1pPr>
          </a:lstStyle>
          <a:p>
            <a:endParaRPr lang="en-US"/>
          </a:p>
        </p:txBody>
      </p:sp>
      <p:sp>
        <p:nvSpPr>
          <p:cNvPr id="9" name="3. Subtitle">
            <a:extLst>
              <a:ext uri="{FF2B5EF4-FFF2-40B4-BE49-F238E27FC236}">
                <a16:creationId xmlns:a16="http://schemas.microsoft.com/office/drawing/2014/main" id="{015065C5-31EB-7FD3-0E13-021536D60B25}"/>
              </a:ext>
            </a:extLst>
          </p:cNvPr>
          <p:cNvSpPr>
            <a:spLocks noGrp="1"/>
          </p:cNvSpPr>
          <p:nvPr>
            <p:ph type="subTitle" idx="1"/>
            <p:custDataLst>
              <p:tags r:id="rId4"/>
            </p:custDataLst>
          </p:nvPr>
        </p:nvSpPr>
        <p:spPr>
          <a:xfrm>
            <a:off x="554736" y="1075141"/>
            <a:ext cx="6967728" cy="276999"/>
          </a:xfr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sp>
        <p:nvSpPr>
          <p:cNvPr id="3" name="TextBox 2">
            <a:extLst>
              <a:ext uri="{FF2B5EF4-FFF2-40B4-BE49-F238E27FC236}">
                <a16:creationId xmlns:a16="http://schemas.microsoft.com/office/drawing/2014/main" id="{6C1229C8-9E4D-D258-D009-01D88C61DD80}"/>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bg1"/>
                </a:solidFill>
                <a:latin typeface="+mn-lt"/>
                <a:ea typeface="Lato Light" panose="020F0502020204030203" pitchFamily="34" charset="0"/>
                <a:cs typeface="Lato Light" panose="020F0502020204030203" pitchFamily="34" charset="0"/>
              </a:rPr>
              <a:t>©Telesto Strategy LLC 2026</a:t>
            </a:r>
          </a:p>
        </p:txBody>
      </p:sp>
      <p:pic>
        <p:nvPicPr>
          <p:cNvPr id="5" name="Picture 4">
            <a:extLst>
              <a:ext uri="{FF2B5EF4-FFF2-40B4-BE49-F238E27FC236}">
                <a16:creationId xmlns:a16="http://schemas.microsoft.com/office/drawing/2014/main" id="{B9A05DFB-1824-BA75-4B51-57D421CCD71E}"/>
              </a:ext>
            </a:extLst>
          </p:cNvPr>
          <p:cNvPicPr>
            <a:picLocks noChangeAspect="1"/>
          </p:cNvPicPr>
          <p:nvPr userDrawn="1"/>
        </p:nvPicPr>
        <p:blipFill>
          <a:blip r:embed="rId8" cstate="hqprint">
            <a:extLst>
              <a:ext uri="{28A0092B-C50C-407E-A947-70E740481C1C}">
                <a14:useLocalDpi xmlns:a14="http://schemas.microsoft.com/office/drawing/2010/main"/>
              </a:ext>
            </a:extLst>
          </a:blip>
          <a:stretch>
            <a:fillRect/>
          </a:stretch>
        </p:blipFill>
        <p:spPr>
          <a:xfrm>
            <a:off x="543350" y="6322775"/>
            <a:ext cx="1188720" cy="475488"/>
          </a:xfrm>
          <a:prstGeom prst="rect">
            <a:avLst/>
          </a:prstGeom>
        </p:spPr>
      </p:pic>
    </p:spTree>
    <p:extLst>
      <p:ext uri="{BB962C8B-B14F-4D97-AF65-F5344CB8AC3E}">
        <p14:creationId xmlns:p14="http://schemas.microsoft.com/office/powerpoint/2010/main" val="27990880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2/3 (Contras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F387F1-7CA1-1F7C-7233-21D6F4F1D56E}"/>
              </a:ext>
            </a:extLst>
          </p:cNvPr>
          <p:cNvPicPr>
            <a:picLocks noChangeAspect="1"/>
          </p:cNvPicPr>
          <p:nvPr userDrawn="1"/>
        </p:nvPicPr>
        <p:blipFill rotWithShape="1">
          <a:blip r:embed="rId6">
            <a:extLst>
              <a:ext uri="{28A0092B-C50C-407E-A947-70E740481C1C}">
                <a14:useLocalDpi xmlns:a14="http://schemas.microsoft.com/office/drawing/2010/main"/>
              </a:ext>
            </a:extLst>
          </a:blip>
          <a:srcRect/>
          <a:stretch>
            <a:fillRect/>
          </a:stretch>
        </p:blipFill>
        <p:spPr>
          <a:xfrm>
            <a:off x="7745788" y="-1"/>
            <a:ext cx="4446211" cy="6858000"/>
          </a:xfrm>
          <a:prstGeom prst="rect">
            <a:avLst/>
          </a:prstGeom>
        </p:spPr>
      </p:pic>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9542682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606" imgH="608" progId="TCLayout.ActiveDocument.1">
                  <p:embed/>
                </p:oleObj>
              </mc:Choice>
              <mc:Fallback>
                <p:oleObj name="thinkcell Slide" r:id="rId7"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6" name="Rectangle 25">
            <a:extLst>
              <a:ext uri="{FF2B5EF4-FFF2-40B4-BE49-F238E27FC236}">
                <a16:creationId xmlns:a16="http://schemas.microsoft.com/office/drawing/2014/main" id="{686782E5-C92F-27C6-BFA5-3AC5771E22C1}"/>
              </a:ext>
            </a:extLst>
          </p:cNvPr>
          <p:cNvSpPr/>
          <p:nvPr userDrawn="1"/>
        </p:nvSpPr>
        <p:spPr>
          <a:xfrm>
            <a:off x="7745788" y="-1"/>
            <a:ext cx="4446211" cy="6857999"/>
          </a:xfrm>
          <a:prstGeom prst="rect">
            <a:avLst/>
          </a:prstGeom>
          <a:solidFill>
            <a:srgbClr val="282828">
              <a:alpha val="20000"/>
            </a:srgbClr>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10" name="Slide Number">
            <a:extLst>
              <a:ext uri="{FF2B5EF4-FFF2-40B4-BE49-F238E27FC236}">
                <a16:creationId xmlns:a16="http://schemas.microsoft.com/office/drawing/2014/main" id="{B0C7DCE0-AB35-168B-F71C-39D0B5FF339E}"/>
              </a:ext>
            </a:extLst>
          </p:cNvPr>
          <p:cNvSpPr>
            <a:spLocks noChangeArrowheads="1"/>
          </p:cNvSpPr>
          <p:nvPr userDrawn="1">
            <p:custDataLst>
              <p:tags r:id="rId2"/>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sp>
        <p:nvSpPr>
          <p:cNvPr id="7" name="2. Slide Title">
            <a:extLst>
              <a:ext uri="{FF2B5EF4-FFF2-40B4-BE49-F238E27FC236}">
                <a16:creationId xmlns:a16="http://schemas.microsoft.com/office/drawing/2014/main" id="{E4195ED8-2E77-5DEB-05AD-89CA4409D2CC}"/>
              </a:ext>
            </a:extLst>
          </p:cNvPr>
          <p:cNvSpPr>
            <a:spLocks noGrp="1"/>
          </p:cNvSpPr>
          <p:nvPr>
            <p:ph type="title"/>
            <p:custDataLst>
              <p:tags r:id="rId3"/>
            </p:custDataLst>
          </p:nvPr>
        </p:nvSpPr>
        <p:spPr>
          <a:xfrm>
            <a:off x="554736" y="291264"/>
            <a:ext cx="6967728" cy="731520"/>
          </a:xfrm>
          <a:prstGeom prst="rect">
            <a:avLst/>
          </a:prstGeom>
        </p:spPr>
        <p:txBody>
          <a:bodyPr vert="horz" wrap="square" lIns="0" tIns="0" rIns="0" bIns="0" rtlCol="0" anchor="b" anchorCtr="0">
            <a:noAutofit/>
          </a:bodyPr>
          <a:lstStyle>
            <a:lvl1pPr>
              <a:defRPr sz="2600">
                <a:solidFill>
                  <a:schemeClr val="tx1"/>
                </a:solidFill>
              </a:defRPr>
            </a:lvl1pPr>
          </a:lstStyle>
          <a:p>
            <a:endParaRPr lang="en-US"/>
          </a:p>
        </p:txBody>
      </p:sp>
      <p:sp>
        <p:nvSpPr>
          <p:cNvPr id="9" name="3. Subtitle">
            <a:extLst>
              <a:ext uri="{FF2B5EF4-FFF2-40B4-BE49-F238E27FC236}">
                <a16:creationId xmlns:a16="http://schemas.microsoft.com/office/drawing/2014/main" id="{015065C5-31EB-7FD3-0E13-021536D60B25}"/>
              </a:ext>
            </a:extLst>
          </p:cNvPr>
          <p:cNvSpPr>
            <a:spLocks noGrp="1"/>
          </p:cNvSpPr>
          <p:nvPr>
            <p:ph type="subTitle" idx="1"/>
            <p:custDataLst>
              <p:tags r:id="rId4"/>
            </p:custDataLst>
          </p:nvPr>
        </p:nvSpPr>
        <p:spPr>
          <a:xfrm>
            <a:off x="554736" y="1075141"/>
            <a:ext cx="6967728" cy="276999"/>
          </a:xfr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sp>
        <p:nvSpPr>
          <p:cNvPr id="3" name="TextBox 2">
            <a:extLst>
              <a:ext uri="{FF2B5EF4-FFF2-40B4-BE49-F238E27FC236}">
                <a16:creationId xmlns:a16="http://schemas.microsoft.com/office/drawing/2014/main" id="{6C1229C8-9E4D-D258-D009-01D88C61DD80}"/>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bg1"/>
                </a:solidFill>
                <a:latin typeface="+mn-lt"/>
                <a:ea typeface="Lato Light" panose="020F0502020204030203" pitchFamily="34" charset="0"/>
                <a:cs typeface="Lato Light" panose="020F0502020204030203" pitchFamily="34" charset="0"/>
              </a:rPr>
              <a:t>©Telesto Strategy LLC 2026</a:t>
            </a:r>
          </a:p>
        </p:txBody>
      </p:sp>
      <p:pic>
        <p:nvPicPr>
          <p:cNvPr id="4" name="Picture 3">
            <a:extLst>
              <a:ext uri="{FF2B5EF4-FFF2-40B4-BE49-F238E27FC236}">
                <a16:creationId xmlns:a16="http://schemas.microsoft.com/office/drawing/2014/main" id="{4E87E8BF-DF5C-04BC-5DD0-0F870091F918}"/>
              </a:ext>
            </a:extLst>
          </p:cNvPr>
          <p:cNvPicPr>
            <a:picLocks noChangeAspect="1"/>
          </p:cNvPicPr>
          <p:nvPr userDrawn="1"/>
        </p:nvPicPr>
        <p:blipFill>
          <a:blip r:embed="rId9" cstate="hqprint">
            <a:extLst>
              <a:ext uri="{28A0092B-C50C-407E-A947-70E740481C1C}">
                <a14:useLocalDpi xmlns:a14="http://schemas.microsoft.com/office/drawing/2010/main"/>
              </a:ext>
            </a:extLst>
          </a:blip>
          <a:stretch>
            <a:fillRect/>
          </a:stretch>
        </p:blipFill>
        <p:spPr>
          <a:xfrm>
            <a:off x="543350" y="6322775"/>
            <a:ext cx="1188720" cy="475488"/>
          </a:xfrm>
          <a:prstGeom prst="rect">
            <a:avLst/>
          </a:prstGeom>
        </p:spPr>
      </p:pic>
    </p:spTree>
    <p:extLst>
      <p:ext uri="{BB962C8B-B14F-4D97-AF65-F5344CB8AC3E}">
        <p14:creationId xmlns:p14="http://schemas.microsoft.com/office/powerpoint/2010/main" val="23235344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2/3 (Contrast - Corner Image Ready)">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17919750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606" imgH="608" progId="TCLayout.ActiveDocument.1">
                  <p:embed/>
                </p:oleObj>
              </mc:Choice>
              <mc:Fallback>
                <p:oleObj name="thinkcell Slide" r:id="rId7"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6" name="Rectangle 25">
            <a:extLst>
              <a:ext uri="{FF2B5EF4-FFF2-40B4-BE49-F238E27FC236}">
                <a16:creationId xmlns:a16="http://schemas.microsoft.com/office/drawing/2014/main" id="{686782E5-C92F-27C6-BFA5-3AC5771E22C1}"/>
              </a:ext>
            </a:extLst>
          </p:cNvPr>
          <p:cNvSpPr/>
          <p:nvPr userDrawn="1"/>
        </p:nvSpPr>
        <p:spPr>
          <a:xfrm>
            <a:off x="7830312" y="0"/>
            <a:ext cx="4361688" cy="6857999"/>
          </a:xfrm>
          <a:prstGeom prst="rect">
            <a:avLst/>
          </a:prstGeom>
          <a:solidFill>
            <a:srgbClr val="282828"/>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cxnSp>
        <p:nvCxnSpPr>
          <p:cNvPr id="2" name="TopLineRight">
            <a:extLst>
              <a:ext uri="{FF2B5EF4-FFF2-40B4-BE49-F238E27FC236}">
                <a16:creationId xmlns:a16="http://schemas.microsoft.com/office/drawing/2014/main" id="{0207D452-16AE-537B-6FD2-74CF7F01249B}"/>
              </a:ext>
            </a:extLst>
          </p:cNvPr>
          <p:cNvCxnSpPr>
            <a:cxnSpLocks/>
          </p:cNvCxnSpPr>
          <p:nvPr userDrawn="1">
            <p:custDataLst>
              <p:tags r:id="rId2"/>
            </p:custDataLst>
          </p:nvPr>
        </p:nvCxnSpPr>
        <p:spPr>
          <a:xfrm>
            <a:off x="8173371" y="1048556"/>
            <a:ext cx="3647154"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 name="2. Slide Title">
            <a:extLst>
              <a:ext uri="{FF2B5EF4-FFF2-40B4-BE49-F238E27FC236}">
                <a16:creationId xmlns:a16="http://schemas.microsoft.com/office/drawing/2014/main" id="{D78DD2EB-E32E-0335-D77C-F267BAC328FA}"/>
              </a:ext>
            </a:extLst>
          </p:cNvPr>
          <p:cNvSpPr>
            <a:spLocks noGrp="1"/>
          </p:cNvSpPr>
          <p:nvPr>
            <p:ph type="title"/>
            <p:custDataLst>
              <p:tags r:id="rId3"/>
            </p:custDataLst>
          </p:nvPr>
        </p:nvSpPr>
        <p:spPr>
          <a:xfrm>
            <a:off x="554736" y="291264"/>
            <a:ext cx="6967728" cy="731520"/>
          </a:xfrm>
          <a:prstGeom prst="rect">
            <a:avLst/>
          </a:prstGeom>
        </p:spPr>
        <p:txBody>
          <a:bodyPr vert="horz" wrap="square" lIns="0" tIns="0" rIns="0" bIns="0" rtlCol="0" anchor="b" anchorCtr="0">
            <a:noAutofit/>
          </a:bodyPr>
          <a:lstStyle>
            <a:lvl1pPr>
              <a:defRPr sz="2600">
                <a:solidFill>
                  <a:schemeClr val="tx1"/>
                </a:solidFill>
              </a:defRPr>
            </a:lvl1pPr>
          </a:lstStyle>
          <a:p>
            <a:endParaRPr lang="en-US"/>
          </a:p>
        </p:txBody>
      </p:sp>
      <p:sp>
        <p:nvSpPr>
          <p:cNvPr id="10" name="3. Subtitle">
            <a:extLst>
              <a:ext uri="{FF2B5EF4-FFF2-40B4-BE49-F238E27FC236}">
                <a16:creationId xmlns:a16="http://schemas.microsoft.com/office/drawing/2014/main" id="{8453E736-3485-4084-72C8-ACCDEA8FCF48}"/>
              </a:ext>
            </a:extLst>
          </p:cNvPr>
          <p:cNvSpPr>
            <a:spLocks noGrp="1"/>
          </p:cNvSpPr>
          <p:nvPr>
            <p:ph type="subTitle" idx="1"/>
            <p:custDataLst>
              <p:tags r:id="rId4"/>
            </p:custDataLst>
          </p:nvPr>
        </p:nvSpPr>
        <p:spPr>
          <a:xfrm>
            <a:off x="554736" y="1075141"/>
            <a:ext cx="6967728" cy="276999"/>
          </a:xfr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pic>
        <p:nvPicPr>
          <p:cNvPr id="5" name="Picture 4">
            <a:extLst>
              <a:ext uri="{FF2B5EF4-FFF2-40B4-BE49-F238E27FC236}">
                <a16:creationId xmlns:a16="http://schemas.microsoft.com/office/drawing/2014/main" id="{5CFBF691-0FD5-8E31-D513-57412302E381}"/>
              </a:ext>
            </a:extLst>
          </p:cNvPr>
          <p:cNvPicPr>
            <a:picLocks noChangeAspect="1"/>
          </p:cNvPicPr>
          <p:nvPr userDrawn="1"/>
        </p:nvPicPr>
        <p:blipFill>
          <a:blip r:embed="rId9">
            <a:extLst>
              <a:ext uri="{28A0092B-C50C-407E-A947-70E740481C1C}">
                <a14:useLocalDpi xmlns:a14="http://schemas.microsoft.com/office/drawing/2010/main"/>
              </a:ext>
            </a:extLst>
          </a:blip>
          <a:srcRect l="-2"/>
          <a:stretch>
            <a:fillRect/>
          </a:stretch>
        </p:blipFill>
        <p:spPr>
          <a:xfrm>
            <a:off x="7801895" y="0"/>
            <a:ext cx="4390105" cy="6858000"/>
          </a:xfrm>
          <a:prstGeom prst="rect">
            <a:avLst/>
          </a:prstGeom>
        </p:spPr>
      </p:pic>
      <p:sp>
        <p:nvSpPr>
          <p:cNvPr id="11" name="Rectangle 10">
            <a:extLst>
              <a:ext uri="{FF2B5EF4-FFF2-40B4-BE49-F238E27FC236}">
                <a16:creationId xmlns:a16="http://schemas.microsoft.com/office/drawing/2014/main" id="{E2A7BD50-6113-59CA-DD56-0BEBB42018A0}"/>
              </a:ext>
            </a:extLst>
          </p:cNvPr>
          <p:cNvSpPr/>
          <p:nvPr userDrawn="1"/>
        </p:nvSpPr>
        <p:spPr>
          <a:xfrm>
            <a:off x="7801896" y="0"/>
            <a:ext cx="4390104" cy="6858000"/>
          </a:xfrm>
          <a:prstGeom prst="rect">
            <a:avLst/>
          </a:prstGeom>
          <a:solidFill>
            <a:srgbClr val="282828">
              <a:alpha val="78000"/>
            </a:srgbClr>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15" name="Slide Number">
            <a:extLst>
              <a:ext uri="{FF2B5EF4-FFF2-40B4-BE49-F238E27FC236}">
                <a16:creationId xmlns:a16="http://schemas.microsoft.com/office/drawing/2014/main" id="{E975EAB0-966D-7F32-8F3C-E8D0DA5BBE4C}"/>
              </a:ext>
            </a:extLst>
          </p:cNvPr>
          <p:cNvSpPr>
            <a:spLocks noChangeArrowheads="1"/>
          </p:cNvSpPr>
          <p:nvPr userDrawn="1">
            <p:custDataLst>
              <p:tags r:id="rId5"/>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sp>
        <p:nvSpPr>
          <p:cNvPr id="16" name="TextBox 15">
            <a:extLst>
              <a:ext uri="{FF2B5EF4-FFF2-40B4-BE49-F238E27FC236}">
                <a16:creationId xmlns:a16="http://schemas.microsoft.com/office/drawing/2014/main" id="{7CB41965-DF97-A888-0813-296F1159ADE9}"/>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bg1"/>
                </a:solidFill>
                <a:latin typeface="+mn-lt"/>
                <a:ea typeface="Lato Light" panose="020F0502020204030203" pitchFamily="34" charset="0"/>
                <a:cs typeface="Lato Light" panose="020F0502020204030203" pitchFamily="34" charset="0"/>
              </a:rPr>
              <a:t>©Telesto Strategy LLC 2026</a:t>
            </a:r>
          </a:p>
        </p:txBody>
      </p:sp>
      <p:pic>
        <p:nvPicPr>
          <p:cNvPr id="17" name="Picture 16">
            <a:extLst>
              <a:ext uri="{FF2B5EF4-FFF2-40B4-BE49-F238E27FC236}">
                <a16:creationId xmlns:a16="http://schemas.microsoft.com/office/drawing/2014/main" id="{7A98D86A-7AA2-BB1F-7939-CD84523233B6}"/>
              </a:ext>
            </a:extLst>
          </p:cNvPr>
          <p:cNvPicPr>
            <a:picLocks noChangeAspect="1"/>
          </p:cNvPicPr>
          <p:nvPr userDrawn="1"/>
        </p:nvPicPr>
        <p:blipFill>
          <a:blip r:embed="rId10" cstate="hqprint">
            <a:extLst>
              <a:ext uri="{28A0092B-C50C-407E-A947-70E740481C1C}">
                <a14:useLocalDpi xmlns:a14="http://schemas.microsoft.com/office/drawing/2010/main"/>
              </a:ext>
            </a:extLst>
          </a:blip>
          <a:stretch>
            <a:fillRect/>
          </a:stretch>
        </p:blipFill>
        <p:spPr>
          <a:xfrm>
            <a:off x="543350" y="6322775"/>
            <a:ext cx="1188720" cy="475488"/>
          </a:xfrm>
          <a:prstGeom prst="rect">
            <a:avLst/>
          </a:prstGeom>
        </p:spPr>
      </p:pic>
    </p:spTree>
    <p:extLst>
      <p:ext uri="{BB962C8B-B14F-4D97-AF65-F5344CB8AC3E}">
        <p14:creationId xmlns:p14="http://schemas.microsoft.com/office/powerpoint/2010/main" val="5284055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4 (Contrast - Corner Image Ready)">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6555306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6" name="Rectangle 25">
            <a:extLst>
              <a:ext uri="{FF2B5EF4-FFF2-40B4-BE49-F238E27FC236}">
                <a16:creationId xmlns:a16="http://schemas.microsoft.com/office/drawing/2014/main" id="{686782E5-C92F-27C6-BFA5-3AC5771E22C1}"/>
              </a:ext>
            </a:extLst>
          </p:cNvPr>
          <p:cNvSpPr/>
          <p:nvPr userDrawn="1"/>
        </p:nvSpPr>
        <p:spPr>
          <a:xfrm>
            <a:off x="8781416" y="-9524"/>
            <a:ext cx="3410584" cy="6867524"/>
          </a:xfrm>
          <a:prstGeom prst="rect">
            <a:avLst/>
          </a:prstGeom>
          <a:solidFill>
            <a:srgbClr val="282828"/>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7" name="2. Slide Title">
            <a:extLst>
              <a:ext uri="{FF2B5EF4-FFF2-40B4-BE49-F238E27FC236}">
                <a16:creationId xmlns:a16="http://schemas.microsoft.com/office/drawing/2014/main" id="{AEF754C1-BAFC-0271-30BC-70EE99C07F14}"/>
              </a:ext>
            </a:extLst>
          </p:cNvPr>
          <p:cNvSpPr>
            <a:spLocks noGrp="1"/>
          </p:cNvSpPr>
          <p:nvPr>
            <p:ph type="title"/>
            <p:custDataLst>
              <p:tags r:id="rId2"/>
            </p:custDataLst>
          </p:nvPr>
        </p:nvSpPr>
        <p:spPr>
          <a:xfrm>
            <a:off x="554736" y="291264"/>
            <a:ext cx="7918704" cy="731520"/>
          </a:xfrm>
          <a:prstGeom prst="rect">
            <a:avLst/>
          </a:prstGeom>
        </p:spPr>
        <p:txBody>
          <a:bodyPr vert="horz" wrap="square" lIns="0" tIns="0" rIns="0" bIns="0" rtlCol="0" anchor="b" anchorCtr="0">
            <a:noAutofit/>
          </a:bodyPr>
          <a:lstStyle>
            <a:lvl1pPr>
              <a:defRPr sz="2600">
                <a:solidFill>
                  <a:schemeClr val="tx1"/>
                </a:solidFill>
              </a:defRPr>
            </a:lvl1pPr>
          </a:lstStyle>
          <a:p>
            <a:endParaRPr lang="en-US"/>
          </a:p>
        </p:txBody>
      </p:sp>
      <p:sp>
        <p:nvSpPr>
          <p:cNvPr id="9" name="3. Subtitle">
            <a:extLst>
              <a:ext uri="{FF2B5EF4-FFF2-40B4-BE49-F238E27FC236}">
                <a16:creationId xmlns:a16="http://schemas.microsoft.com/office/drawing/2014/main" id="{0D9BC05A-04C1-C167-49D5-70481C23BA14}"/>
              </a:ext>
            </a:extLst>
          </p:cNvPr>
          <p:cNvSpPr>
            <a:spLocks noGrp="1"/>
          </p:cNvSpPr>
          <p:nvPr>
            <p:ph type="subTitle" idx="1"/>
            <p:custDataLst>
              <p:tags r:id="rId3"/>
            </p:custDataLst>
          </p:nvPr>
        </p:nvSpPr>
        <p:spPr>
          <a:xfrm>
            <a:off x="554736" y="1075141"/>
            <a:ext cx="7918704" cy="276999"/>
          </a:xfr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sp>
        <p:nvSpPr>
          <p:cNvPr id="10" name="Slide Number">
            <a:extLst>
              <a:ext uri="{FF2B5EF4-FFF2-40B4-BE49-F238E27FC236}">
                <a16:creationId xmlns:a16="http://schemas.microsoft.com/office/drawing/2014/main" id="{C50522D0-A5DF-ADFA-B1A0-C5F02FD25A3A}"/>
              </a:ext>
            </a:extLst>
          </p:cNvPr>
          <p:cNvSpPr>
            <a:spLocks noChangeArrowheads="1"/>
          </p:cNvSpPr>
          <p:nvPr userDrawn="1">
            <p:custDataLst>
              <p:tags r:id="rId4"/>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sp>
        <p:nvSpPr>
          <p:cNvPr id="11" name="TextBox 10">
            <a:extLst>
              <a:ext uri="{FF2B5EF4-FFF2-40B4-BE49-F238E27FC236}">
                <a16:creationId xmlns:a16="http://schemas.microsoft.com/office/drawing/2014/main" id="{3D75F0F5-BD11-0C60-19F2-B95860F3F977}"/>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bg1"/>
                </a:solidFill>
                <a:latin typeface="+mn-lt"/>
                <a:ea typeface="Lato Light" panose="020F0502020204030203" pitchFamily="34" charset="0"/>
                <a:cs typeface="Lato Light" panose="020F0502020204030203" pitchFamily="34" charset="0"/>
              </a:rPr>
              <a:t>©Telesto Strategy LLC 2026</a:t>
            </a:r>
          </a:p>
        </p:txBody>
      </p:sp>
      <p:pic>
        <p:nvPicPr>
          <p:cNvPr id="13" name="Picture 12">
            <a:extLst>
              <a:ext uri="{FF2B5EF4-FFF2-40B4-BE49-F238E27FC236}">
                <a16:creationId xmlns:a16="http://schemas.microsoft.com/office/drawing/2014/main" id="{B55B7544-7B1B-5687-B682-D9112B3F9E9E}"/>
              </a:ext>
            </a:extLst>
          </p:cNvPr>
          <p:cNvPicPr>
            <a:picLocks noChangeAspect="1"/>
          </p:cNvPicPr>
          <p:nvPr userDrawn="1"/>
        </p:nvPicPr>
        <p:blipFill>
          <a:blip r:embed="rId8" cstate="hqprint">
            <a:extLst>
              <a:ext uri="{28A0092B-C50C-407E-A947-70E740481C1C}">
                <a14:useLocalDpi xmlns:a14="http://schemas.microsoft.com/office/drawing/2010/main"/>
              </a:ext>
            </a:extLst>
          </a:blip>
          <a:stretch>
            <a:fillRect/>
          </a:stretch>
        </p:blipFill>
        <p:spPr>
          <a:xfrm>
            <a:off x="543350" y="6322775"/>
            <a:ext cx="1188720" cy="475488"/>
          </a:xfrm>
          <a:prstGeom prst="rect">
            <a:avLst/>
          </a:prstGeom>
        </p:spPr>
      </p:pic>
    </p:spTree>
    <p:extLst>
      <p:ext uri="{BB962C8B-B14F-4D97-AF65-F5344CB8AC3E}">
        <p14:creationId xmlns:p14="http://schemas.microsoft.com/office/powerpoint/2010/main" val="194144423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3/4 (Contrast - Corner Image Ready)">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6555306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6" name="Rectangle 25">
            <a:extLst>
              <a:ext uri="{FF2B5EF4-FFF2-40B4-BE49-F238E27FC236}">
                <a16:creationId xmlns:a16="http://schemas.microsoft.com/office/drawing/2014/main" id="{686782E5-C92F-27C6-BFA5-3AC5771E22C1}"/>
              </a:ext>
            </a:extLst>
          </p:cNvPr>
          <p:cNvSpPr/>
          <p:nvPr userDrawn="1"/>
        </p:nvSpPr>
        <p:spPr>
          <a:xfrm>
            <a:off x="8781416" y="-9524"/>
            <a:ext cx="3410584" cy="6867524"/>
          </a:xfrm>
          <a:prstGeom prst="rect">
            <a:avLst/>
          </a:prstGeom>
          <a:solidFill>
            <a:schemeClr val="accent5"/>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7" name="2. Slide Title">
            <a:extLst>
              <a:ext uri="{FF2B5EF4-FFF2-40B4-BE49-F238E27FC236}">
                <a16:creationId xmlns:a16="http://schemas.microsoft.com/office/drawing/2014/main" id="{AEF754C1-BAFC-0271-30BC-70EE99C07F14}"/>
              </a:ext>
            </a:extLst>
          </p:cNvPr>
          <p:cNvSpPr>
            <a:spLocks noGrp="1"/>
          </p:cNvSpPr>
          <p:nvPr>
            <p:ph type="title"/>
            <p:custDataLst>
              <p:tags r:id="rId2"/>
            </p:custDataLst>
          </p:nvPr>
        </p:nvSpPr>
        <p:spPr>
          <a:xfrm>
            <a:off x="554736" y="291264"/>
            <a:ext cx="7918704" cy="731520"/>
          </a:xfrm>
          <a:prstGeom prst="rect">
            <a:avLst/>
          </a:prstGeom>
        </p:spPr>
        <p:txBody>
          <a:bodyPr vert="horz" wrap="square" lIns="0" tIns="0" rIns="0" bIns="0" rtlCol="0" anchor="b" anchorCtr="0">
            <a:noAutofit/>
          </a:bodyPr>
          <a:lstStyle>
            <a:lvl1pPr>
              <a:defRPr sz="2600">
                <a:solidFill>
                  <a:schemeClr val="tx1"/>
                </a:solidFill>
              </a:defRPr>
            </a:lvl1pPr>
          </a:lstStyle>
          <a:p>
            <a:endParaRPr lang="en-US"/>
          </a:p>
        </p:txBody>
      </p:sp>
      <p:sp>
        <p:nvSpPr>
          <p:cNvPr id="9" name="3. Subtitle">
            <a:extLst>
              <a:ext uri="{FF2B5EF4-FFF2-40B4-BE49-F238E27FC236}">
                <a16:creationId xmlns:a16="http://schemas.microsoft.com/office/drawing/2014/main" id="{0D9BC05A-04C1-C167-49D5-70481C23BA14}"/>
              </a:ext>
            </a:extLst>
          </p:cNvPr>
          <p:cNvSpPr>
            <a:spLocks noGrp="1"/>
          </p:cNvSpPr>
          <p:nvPr>
            <p:ph type="subTitle" idx="1"/>
            <p:custDataLst>
              <p:tags r:id="rId3"/>
            </p:custDataLst>
          </p:nvPr>
        </p:nvSpPr>
        <p:spPr>
          <a:xfrm>
            <a:off x="554736" y="1075141"/>
            <a:ext cx="7918704" cy="276999"/>
          </a:xfr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sp>
        <p:nvSpPr>
          <p:cNvPr id="10" name="Slide Number">
            <a:extLst>
              <a:ext uri="{FF2B5EF4-FFF2-40B4-BE49-F238E27FC236}">
                <a16:creationId xmlns:a16="http://schemas.microsoft.com/office/drawing/2014/main" id="{C50522D0-A5DF-ADFA-B1A0-C5F02FD25A3A}"/>
              </a:ext>
            </a:extLst>
          </p:cNvPr>
          <p:cNvSpPr>
            <a:spLocks noChangeArrowheads="1"/>
          </p:cNvSpPr>
          <p:nvPr userDrawn="1">
            <p:custDataLst>
              <p:tags r:id="rId4"/>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sp>
        <p:nvSpPr>
          <p:cNvPr id="11" name="TextBox 10">
            <a:extLst>
              <a:ext uri="{FF2B5EF4-FFF2-40B4-BE49-F238E27FC236}">
                <a16:creationId xmlns:a16="http://schemas.microsoft.com/office/drawing/2014/main" id="{3D75F0F5-BD11-0C60-19F2-B95860F3F977}"/>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bg1"/>
                </a:solidFill>
                <a:latin typeface="+mn-lt"/>
                <a:ea typeface="Lato Light" panose="020F0502020204030203" pitchFamily="34" charset="0"/>
                <a:cs typeface="Lato Light" panose="020F0502020204030203" pitchFamily="34" charset="0"/>
              </a:rPr>
              <a:t>©Telesto Strategy LLC 2026</a:t>
            </a:r>
          </a:p>
        </p:txBody>
      </p:sp>
      <p:pic>
        <p:nvPicPr>
          <p:cNvPr id="5" name="Picture 4">
            <a:extLst>
              <a:ext uri="{FF2B5EF4-FFF2-40B4-BE49-F238E27FC236}">
                <a16:creationId xmlns:a16="http://schemas.microsoft.com/office/drawing/2014/main" id="{7ED24529-AED8-E717-5D71-636D72AFDEEA}"/>
              </a:ext>
            </a:extLst>
          </p:cNvPr>
          <p:cNvPicPr>
            <a:picLocks noChangeAspect="1"/>
          </p:cNvPicPr>
          <p:nvPr userDrawn="1"/>
        </p:nvPicPr>
        <p:blipFill>
          <a:blip r:embed="rId8" cstate="hqprint">
            <a:extLst>
              <a:ext uri="{28A0092B-C50C-407E-A947-70E740481C1C}">
                <a14:useLocalDpi xmlns:a14="http://schemas.microsoft.com/office/drawing/2010/main"/>
              </a:ext>
            </a:extLst>
          </a:blip>
          <a:stretch>
            <a:fillRect/>
          </a:stretch>
        </p:blipFill>
        <p:spPr>
          <a:xfrm>
            <a:off x="543350" y="6322775"/>
            <a:ext cx="1188720" cy="475488"/>
          </a:xfrm>
          <a:prstGeom prst="rect">
            <a:avLst/>
          </a:prstGeom>
        </p:spPr>
      </p:pic>
    </p:spTree>
    <p:extLst>
      <p:ext uri="{BB962C8B-B14F-4D97-AF65-F5344CB8AC3E}">
        <p14:creationId xmlns:p14="http://schemas.microsoft.com/office/powerpoint/2010/main" val="63742889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Default (Contras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A364E57-9967-B3CD-C9B0-E7AEDCFE63E0}"/>
              </a:ext>
            </a:extLst>
          </p:cNvPr>
          <p:cNvPicPr>
            <a:picLocks noChangeAspect="1"/>
          </p:cNvPicPr>
          <p:nvPr userDrawn="1"/>
        </p:nvPicPr>
        <p:blipFill rotWithShape="1">
          <a:blip r:embed="rId6">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15019423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606" imgH="608" progId="TCLayout.ActiveDocument.1">
                  <p:embed/>
                </p:oleObj>
              </mc:Choice>
              <mc:Fallback>
                <p:oleObj name="thinkcell Slide" r:id="rId7"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081D0576-49D8-26B3-E95C-58D3A15B730A}"/>
              </a:ext>
            </a:extLst>
          </p:cNvPr>
          <p:cNvSpPr/>
          <p:nvPr userDrawn="1"/>
        </p:nvSpPr>
        <p:spPr>
          <a:xfrm>
            <a:off x="0" y="0"/>
            <a:ext cx="12192000" cy="6858000"/>
          </a:xfrm>
          <a:prstGeom prst="rect">
            <a:avLst/>
          </a:prstGeom>
          <a:solidFill>
            <a:srgbClr val="282828">
              <a:alpha val="85098"/>
            </a:srgbClr>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20" name="Slide Number">
            <a:extLst>
              <a:ext uri="{FF2B5EF4-FFF2-40B4-BE49-F238E27FC236}">
                <a16:creationId xmlns:a16="http://schemas.microsoft.com/office/drawing/2014/main" id="{6BBD03E5-26E4-99BF-CC74-8AF15513F42B}"/>
              </a:ext>
            </a:extLst>
          </p:cNvPr>
          <p:cNvSpPr>
            <a:spLocks noChangeArrowheads="1"/>
          </p:cNvSpPr>
          <p:nvPr userDrawn="1">
            <p:custDataLst>
              <p:tags r:id="rId2"/>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sp>
        <p:nvSpPr>
          <p:cNvPr id="9" name="2. Slide Title">
            <a:extLst>
              <a:ext uri="{FF2B5EF4-FFF2-40B4-BE49-F238E27FC236}">
                <a16:creationId xmlns:a16="http://schemas.microsoft.com/office/drawing/2014/main" id="{D0EB6279-FA78-F45C-3761-6DB01CEAAEFC}"/>
              </a:ext>
            </a:extLst>
          </p:cNvPr>
          <p:cNvSpPr>
            <a:spLocks noGrp="1"/>
          </p:cNvSpPr>
          <p:nvPr>
            <p:ph type="title"/>
            <p:custDataLst>
              <p:tags r:id="rId3"/>
            </p:custDataLst>
          </p:nvPr>
        </p:nvSpPr>
        <p:spPr>
          <a:xfrm>
            <a:off x="554736" y="291264"/>
            <a:ext cx="11082528" cy="731520"/>
          </a:xfrm>
          <a:prstGeom prst="rect">
            <a:avLst/>
          </a:prstGeom>
        </p:spPr>
        <p:txBody>
          <a:bodyPr vert="horz" wrap="square" lIns="0" tIns="0" rIns="0" bIns="0" rtlCol="0" anchor="b" anchorCtr="0">
            <a:noAutofit/>
          </a:bodyPr>
          <a:lstStyle>
            <a:lvl1pPr>
              <a:defRPr sz="2600">
                <a:solidFill>
                  <a:schemeClr val="bg1"/>
                </a:solidFill>
              </a:defRPr>
            </a:lvl1pPr>
          </a:lstStyle>
          <a:p>
            <a:endParaRPr lang="en-US"/>
          </a:p>
        </p:txBody>
      </p:sp>
      <p:sp>
        <p:nvSpPr>
          <p:cNvPr id="11" name="3. Subtitle">
            <a:extLst>
              <a:ext uri="{FF2B5EF4-FFF2-40B4-BE49-F238E27FC236}">
                <a16:creationId xmlns:a16="http://schemas.microsoft.com/office/drawing/2014/main" id="{FEE6799D-E124-E9E7-C4F2-A47CA1B11579}"/>
              </a:ext>
            </a:extLst>
          </p:cNvPr>
          <p:cNvSpPr>
            <a:spLocks noGrp="1"/>
          </p:cNvSpPr>
          <p:nvPr>
            <p:ph type="subTitle" idx="1"/>
            <p:custDataLst>
              <p:tags r:id="rId4"/>
            </p:custDataLst>
          </p:nvPr>
        </p:nvSpPr>
        <p:spPr>
          <a:xfrm>
            <a:off x="554736" y="1075141"/>
            <a:ext cx="11082528" cy="276999"/>
          </a:xfrm>
        </p:spPr>
        <p:txBody>
          <a:bodyPr wrap="square">
            <a:noAutofit/>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sp>
        <p:nvSpPr>
          <p:cNvPr id="5" name="TextBox 4">
            <a:extLst>
              <a:ext uri="{FF2B5EF4-FFF2-40B4-BE49-F238E27FC236}">
                <a16:creationId xmlns:a16="http://schemas.microsoft.com/office/drawing/2014/main" id="{505349CA-30CD-E3C2-51E6-AEA71B13C749}"/>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bg1"/>
                </a:solidFill>
                <a:latin typeface="+mn-lt"/>
                <a:ea typeface="Lato Light" panose="020F0502020204030203" pitchFamily="34" charset="0"/>
                <a:cs typeface="Lato Light" panose="020F0502020204030203" pitchFamily="34" charset="0"/>
              </a:rPr>
              <a:t>©Telesto Strategy LLC 2026</a:t>
            </a:r>
          </a:p>
        </p:txBody>
      </p:sp>
      <p:pic>
        <p:nvPicPr>
          <p:cNvPr id="3" name="Picture 2">
            <a:extLst>
              <a:ext uri="{FF2B5EF4-FFF2-40B4-BE49-F238E27FC236}">
                <a16:creationId xmlns:a16="http://schemas.microsoft.com/office/drawing/2014/main" id="{CCC818CD-970B-DD1F-CF68-4715C9365575}"/>
              </a:ext>
            </a:extLst>
          </p:cNvPr>
          <p:cNvPicPr>
            <a:picLocks noChangeAspect="1"/>
          </p:cNvPicPr>
          <p:nvPr userDrawn="1"/>
        </p:nvPicPr>
        <p:blipFill>
          <a:blip r:embed="rId9" cstate="hqprint">
            <a:extLst>
              <a:ext uri="{28A0092B-C50C-407E-A947-70E740481C1C}">
                <a14:useLocalDpi xmlns:a14="http://schemas.microsoft.com/office/drawing/2010/main"/>
              </a:ext>
            </a:extLst>
          </a:blip>
          <a:stretch>
            <a:fillRect/>
          </a:stretch>
        </p:blipFill>
        <p:spPr>
          <a:xfrm>
            <a:off x="548145" y="6320941"/>
            <a:ext cx="1188720" cy="475488"/>
          </a:xfrm>
          <a:prstGeom prst="rect">
            <a:avLst/>
          </a:prstGeom>
        </p:spPr>
      </p:pic>
    </p:spTree>
    <p:extLst>
      <p:ext uri="{BB962C8B-B14F-4D97-AF65-F5344CB8AC3E}">
        <p14:creationId xmlns:p14="http://schemas.microsoft.com/office/powerpoint/2010/main" val="33981939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Default (Contras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1E3EB5-7E07-BBB7-E780-1205F77D9650}"/>
              </a:ext>
            </a:extLst>
          </p:cNvPr>
          <p:cNvPicPr>
            <a:picLocks noChangeAspect="1"/>
          </p:cNvPicPr>
          <p:nvPr userDrawn="1"/>
        </p:nvPicPr>
        <p:blipFill rotWithShape="1">
          <a:blip r:embed="rId6">
            <a:extLst>
              <a:ext uri="{28A0092B-C50C-407E-A947-70E740481C1C}">
                <a14:useLocalDpi xmlns:a14="http://schemas.microsoft.com/office/drawing/2010/main"/>
              </a:ext>
            </a:extLst>
          </a:blip>
          <a:srcRect/>
          <a:stretch>
            <a:fillRect/>
          </a:stretch>
        </p:blipFill>
        <p:spPr>
          <a:xfrm>
            <a:off x="0" y="0"/>
            <a:ext cx="12191998" cy="6858000"/>
          </a:xfrm>
          <a:prstGeom prst="rect">
            <a:avLst/>
          </a:prstGeom>
        </p:spPr>
      </p:pic>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15019423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606" imgH="608" progId="TCLayout.ActiveDocument.1">
                  <p:embed/>
                </p:oleObj>
              </mc:Choice>
              <mc:Fallback>
                <p:oleObj name="thinkcell Slide" r:id="rId7"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081D0576-49D8-26B3-E95C-58D3A15B730A}"/>
              </a:ext>
            </a:extLst>
          </p:cNvPr>
          <p:cNvSpPr/>
          <p:nvPr userDrawn="1"/>
        </p:nvSpPr>
        <p:spPr>
          <a:xfrm>
            <a:off x="0" y="0"/>
            <a:ext cx="12191999" cy="6858000"/>
          </a:xfrm>
          <a:prstGeom prst="rect">
            <a:avLst/>
          </a:prstGeom>
          <a:solidFill>
            <a:srgbClr val="282828">
              <a:alpha val="87843"/>
            </a:srgbClr>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20" name="Slide Number">
            <a:extLst>
              <a:ext uri="{FF2B5EF4-FFF2-40B4-BE49-F238E27FC236}">
                <a16:creationId xmlns:a16="http://schemas.microsoft.com/office/drawing/2014/main" id="{6BBD03E5-26E4-99BF-CC74-8AF15513F42B}"/>
              </a:ext>
            </a:extLst>
          </p:cNvPr>
          <p:cNvSpPr>
            <a:spLocks noChangeArrowheads="1"/>
          </p:cNvSpPr>
          <p:nvPr userDrawn="1">
            <p:custDataLst>
              <p:tags r:id="rId2"/>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sp>
        <p:nvSpPr>
          <p:cNvPr id="9" name="2. Slide Title">
            <a:extLst>
              <a:ext uri="{FF2B5EF4-FFF2-40B4-BE49-F238E27FC236}">
                <a16:creationId xmlns:a16="http://schemas.microsoft.com/office/drawing/2014/main" id="{D0EB6279-FA78-F45C-3761-6DB01CEAAEFC}"/>
              </a:ext>
            </a:extLst>
          </p:cNvPr>
          <p:cNvSpPr>
            <a:spLocks noGrp="1"/>
          </p:cNvSpPr>
          <p:nvPr>
            <p:ph type="title"/>
            <p:custDataLst>
              <p:tags r:id="rId3"/>
            </p:custDataLst>
          </p:nvPr>
        </p:nvSpPr>
        <p:spPr>
          <a:xfrm>
            <a:off x="554736" y="291264"/>
            <a:ext cx="11082528" cy="731520"/>
          </a:xfrm>
          <a:prstGeom prst="rect">
            <a:avLst/>
          </a:prstGeom>
        </p:spPr>
        <p:txBody>
          <a:bodyPr vert="horz" wrap="square" lIns="0" tIns="0" rIns="0" bIns="0" rtlCol="0" anchor="b" anchorCtr="0">
            <a:noAutofit/>
          </a:bodyPr>
          <a:lstStyle>
            <a:lvl1pPr>
              <a:defRPr sz="2600">
                <a:solidFill>
                  <a:schemeClr val="bg1"/>
                </a:solidFill>
              </a:defRPr>
            </a:lvl1pPr>
          </a:lstStyle>
          <a:p>
            <a:endParaRPr lang="en-US"/>
          </a:p>
        </p:txBody>
      </p:sp>
      <p:sp>
        <p:nvSpPr>
          <p:cNvPr id="11" name="3. Subtitle">
            <a:extLst>
              <a:ext uri="{FF2B5EF4-FFF2-40B4-BE49-F238E27FC236}">
                <a16:creationId xmlns:a16="http://schemas.microsoft.com/office/drawing/2014/main" id="{FEE6799D-E124-E9E7-C4F2-A47CA1B11579}"/>
              </a:ext>
            </a:extLst>
          </p:cNvPr>
          <p:cNvSpPr>
            <a:spLocks noGrp="1"/>
          </p:cNvSpPr>
          <p:nvPr>
            <p:ph type="subTitle" idx="1"/>
            <p:custDataLst>
              <p:tags r:id="rId4"/>
            </p:custDataLst>
          </p:nvPr>
        </p:nvSpPr>
        <p:spPr>
          <a:xfrm>
            <a:off x="554736" y="1075141"/>
            <a:ext cx="11082528" cy="276999"/>
          </a:xfrm>
        </p:spPr>
        <p:txBody>
          <a:bodyPr wrap="square">
            <a:noAutofit/>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sp>
        <p:nvSpPr>
          <p:cNvPr id="5" name="TextBox 4">
            <a:extLst>
              <a:ext uri="{FF2B5EF4-FFF2-40B4-BE49-F238E27FC236}">
                <a16:creationId xmlns:a16="http://schemas.microsoft.com/office/drawing/2014/main" id="{505349CA-30CD-E3C2-51E6-AEA71B13C749}"/>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bg1"/>
                </a:solidFill>
                <a:latin typeface="+mn-lt"/>
                <a:ea typeface="Lato Light" panose="020F0502020204030203" pitchFamily="34" charset="0"/>
                <a:cs typeface="Lato Light" panose="020F0502020204030203" pitchFamily="34" charset="0"/>
              </a:rPr>
              <a:t>©Telesto Strategy LLC 2026</a:t>
            </a:r>
          </a:p>
        </p:txBody>
      </p:sp>
      <p:pic>
        <p:nvPicPr>
          <p:cNvPr id="4" name="Picture 3">
            <a:extLst>
              <a:ext uri="{FF2B5EF4-FFF2-40B4-BE49-F238E27FC236}">
                <a16:creationId xmlns:a16="http://schemas.microsoft.com/office/drawing/2014/main" id="{52F789D9-02CE-2ACE-40AF-0B23B0733ED9}"/>
              </a:ext>
            </a:extLst>
          </p:cNvPr>
          <p:cNvPicPr>
            <a:picLocks noChangeAspect="1"/>
          </p:cNvPicPr>
          <p:nvPr userDrawn="1"/>
        </p:nvPicPr>
        <p:blipFill>
          <a:blip r:embed="rId9" cstate="hqprint">
            <a:extLst>
              <a:ext uri="{28A0092B-C50C-407E-A947-70E740481C1C}">
                <a14:useLocalDpi xmlns:a14="http://schemas.microsoft.com/office/drawing/2010/main"/>
              </a:ext>
            </a:extLst>
          </a:blip>
          <a:stretch>
            <a:fillRect/>
          </a:stretch>
        </p:blipFill>
        <p:spPr>
          <a:xfrm>
            <a:off x="548145" y="6320941"/>
            <a:ext cx="1188720" cy="475488"/>
          </a:xfrm>
          <a:prstGeom prst="rect">
            <a:avLst/>
          </a:prstGeom>
        </p:spPr>
      </p:pic>
    </p:spTree>
    <p:extLst>
      <p:ext uri="{BB962C8B-B14F-4D97-AF65-F5344CB8AC3E}">
        <p14:creationId xmlns:p14="http://schemas.microsoft.com/office/powerpoint/2010/main" val="415361380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lank (Contrast - Corner Image Ready)">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2698244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09EC453D-5A76-929D-143E-78E804D3D8F6}"/>
              </a:ext>
            </a:extLst>
          </p:cNvPr>
          <p:cNvSpPr/>
          <p:nvPr userDrawn="1"/>
        </p:nvSpPr>
        <p:spPr>
          <a:xfrm>
            <a:off x="9648825" y="6334126"/>
            <a:ext cx="1663700" cy="2849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tx1">
                  <a:lumMod val="75000"/>
                  <a:lumOff val="25000"/>
                </a:schemeClr>
              </a:solidFill>
            </a:endParaRPr>
          </a:p>
        </p:txBody>
      </p:sp>
      <p:sp>
        <p:nvSpPr>
          <p:cNvPr id="2" name="Rectangle 1">
            <a:extLst>
              <a:ext uri="{FF2B5EF4-FFF2-40B4-BE49-F238E27FC236}">
                <a16:creationId xmlns:a16="http://schemas.microsoft.com/office/drawing/2014/main" id="{081D0576-49D8-26B3-E95C-58D3A15B730A}"/>
              </a:ext>
            </a:extLst>
          </p:cNvPr>
          <p:cNvSpPr/>
          <p:nvPr userDrawn="1"/>
        </p:nvSpPr>
        <p:spPr>
          <a:xfrm>
            <a:off x="0" y="0"/>
            <a:ext cx="12192000" cy="6858000"/>
          </a:xfrm>
          <a:prstGeom prst="rect">
            <a:avLst/>
          </a:prstGeom>
          <a:solidFill>
            <a:srgbClr val="282828"/>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7" name="2. Slide Title">
            <a:extLst>
              <a:ext uri="{FF2B5EF4-FFF2-40B4-BE49-F238E27FC236}">
                <a16:creationId xmlns:a16="http://schemas.microsoft.com/office/drawing/2014/main" id="{B93EDD42-67BE-6B80-FFAF-34C3FCC01E95}"/>
              </a:ext>
            </a:extLst>
          </p:cNvPr>
          <p:cNvSpPr>
            <a:spLocks noGrp="1"/>
          </p:cNvSpPr>
          <p:nvPr>
            <p:ph type="title"/>
            <p:custDataLst>
              <p:tags r:id="rId2"/>
            </p:custDataLst>
          </p:nvPr>
        </p:nvSpPr>
        <p:spPr>
          <a:xfrm>
            <a:off x="554736" y="291264"/>
            <a:ext cx="11082528" cy="731520"/>
          </a:xfrm>
          <a:prstGeom prst="rect">
            <a:avLst/>
          </a:prstGeom>
        </p:spPr>
        <p:txBody>
          <a:bodyPr vert="horz" wrap="square" lIns="0" tIns="0" rIns="0" bIns="0" rtlCol="0" anchor="b" anchorCtr="0">
            <a:noAutofit/>
          </a:bodyPr>
          <a:lstStyle>
            <a:lvl1pPr>
              <a:defRPr sz="2600">
                <a:solidFill>
                  <a:schemeClr val="bg1"/>
                </a:solidFill>
              </a:defRPr>
            </a:lvl1pPr>
          </a:lstStyle>
          <a:p>
            <a:endParaRPr lang="en-US"/>
          </a:p>
        </p:txBody>
      </p:sp>
      <p:sp>
        <p:nvSpPr>
          <p:cNvPr id="9" name="3. Subtitle">
            <a:extLst>
              <a:ext uri="{FF2B5EF4-FFF2-40B4-BE49-F238E27FC236}">
                <a16:creationId xmlns:a16="http://schemas.microsoft.com/office/drawing/2014/main" id="{C2E102BA-655C-3DD3-162C-BE2CC40594BD}"/>
              </a:ext>
            </a:extLst>
          </p:cNvPr>
          <p:cNvSpPr>
            <a:spLocks noGrp="1"/>
          </p:cNvSpPr>
          <p:nvPr>
            <p:ph type="subTitle" idx="1"/>
            <p:custDataLst>
              <p:tags r:id="rId3"/>
            </p:custDataLst>
          </p:nvPr>
        </p:nvSpPr>
        <p:spPr>
          <a:xfrm>
            <a:off x="554736" y="1075141"/>
            <a:ext cx="11082528" cy="276999"/>
          </a:xfrm>
        </p:spPr>
        <p:txBody>
          <a:bodyPr wrap="square">
            <a:noAutofit/>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sp>
        <p:nvSpPr>
          <p:cNvPr id="5" name="Slide Number">
            <a:extLst>
              <a:ext uri="{FF2B5EF4-FFF2-40B4-BE49-F238E27FC236}">
                <a16:creationId xmlns:a16="http://schemas.microsoft.com/office/drawing/2014/main" id="{22077F44-6B45-641D-9673-AB37F630BEDE}"/>
              </a:ext>
            </a:extLst>
          </p:cNvPr>
          <p:cNvSpPr>
            <a:spLocks noChangeArrowheads="1"/>
          </p:cNvSpPr>
          <p:nvPr userDrawn="1">
            <p:custDataLst>
              <p:tags r:id="rId4"/>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sp>
        <p:nvSpPr>
          <p:cNvPr id="10" name="TextBox 9">
            <a:extLst>
              <a:ext uri="{FF2B5EF4-FFF2-40B4-BE49-F238E27FC236}">
                <a16:creationId xmlns:a16="http://schemas.microsoft.com/office/drawing/2014/main" id="{AE8F0FC6-222E-0E32-1570-35E1B4183B64}"/>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bg1"/>
                </a:solidFill>
                <a:latin typeface="+mn-lt"/>
                <a:ea typeface="Lato Light" panose="020F0502020204030203" pitchFamily="34" charset="0"/>
                <a:cs typeface="Lato Light" panose="020F0502020204030203" pitchFamily="34" charset="0"/>
              </a:rPr>
              <a:t>©Telesto Strategy LLC 2026</a:t>
            </a:r>
          </a:p>
        </p:txBody>
      </p:sp>
      <p:pic>
        <p:nvPicPr>
          <p:cNvPr id="4" name="Picture 3">
            <a:extLst>
              <a:ext uri="{FF2B5EF4-FFF2-40B4-BE49-F238E27FC236}">
                <a16:creationId xmlns:a16="http://schemas.microsoft.com/office/drawing/2014/main" id="{AE76779D-6C40-CFB0-7E24-0B37AC77255B}"/>
              </a:ext>
            </a:extLst>
          </p:cNvPr>
          <p:cNvPicPr>
            <a:picLocks noChangeAspect="1"/>
          </p:cNvPicPr>
          <p:nvPr userDrawn="1"/>
        </p:nvPicPr>
        <p:blipFill>
          <a:blip r:embed="rId8" cstate="hqprint">
            <a:extLst>
              <a:ext uri="{28A0092B-C50C-407E-A947-70E740481C1C}">
                <a14:useLocalDpi xmlns:a14="http://schemas.microsoft.com/office/drawing/2010/main"/>
              </a:ext>
            </a:extLst>
          </a:blip>
          <a:stretch>
            <a:fillRect/>
          </a:stretch>
        </p:blipFill>
        <p:spPr>
          <a:xfrm>
            <a:off x="548145" y="6320941"/>
            <a:ext cx="1188720" cy="475488"/>
          </a:xfrm>
          <a:prstGeom prst="rect">
            <a:avLst/>
          </a:prstGeom>
        </p:spPr>
      </p:pic>
    </p:spTree>
    <p:extLst>
      <p:ext uri="{BB962C8B-B14F-4D97-AF65-F5344CB8AC3E}">
        <p14:creationId xmlns:p14="http://schemas.microsoft.com/office/powerpoint/2010/main" val="11680535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Blank (Contrast - Corner Image Ready)">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2698244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081D0576-49D8-26B3-E95C-58D3A15B730A}"/>
              </a:ext>
            </a:extLst>
          </p:cNvPr>
          <p:cNvSpPr/>
          <p:nvPr userDrawn="1"/>
        </p:nvSpPr>
        <p:spPr>
          <a:xfrm>
            <a:off x="0" y="0"/>
            <a:ext cx="12192000" cy="6858000"/>
          </a:xfrm>
          <a:prstGeom prst="rect">
            <a:avLst/>
          </a:prstGeom>
          <a:solidFill>
            <a:schemeClr val="bg2"/>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7" name="2. Slide Title">
            <a:extLst>
              <a:ext uri="{FF2B5EF4-FFF2-40B4-BE49-F238E27FC236}">
                <a16:creationId xmlns:a16="http://schemas.microsoft.com/office/drawing/2014/main" id="{B93EDD42-67BE-6B80-FFAF-34C3FCC01E95}"/>
              </a:ext>
            </a:extLst>
          </p:cNvPr>
          <p:cNvSpPr>
            <a:spLocks noGrp="1"/>
          </p:cNvSpPr>
          <p:nvPr>
            <p:ph type="title"/>
            <p:custDataLst>
              <p:tags r:id="rId2"/>
            </p:custDataLst>
          </p:nvPr>
        </p:nvSpPr>
        <p:spPr>
          <a:xfrm>
            <a:off x="554736" y="291264"/>
            <a:ext cx="11082528" cy="731520"/>
          </a:xfrm>
          <a:prstGeom prst="rect">
            <a:avLst/>
          </a:prstGeom>
        </p:spPr>
        <p:txBody>
          <a:bodyPr vert="horz" wrap="square" lIns="0" tIns="0" rIns="0" bIns="0" rtlCol="0" anchor="b" anchorCtr="0">
            <a:noAutofit/>
          </a:bodyPr>
          <a:lstStyle>
            <a:lvl1pPr>
              <a:defRPr sz="2600">
                <a:solidFill>
                  <a:schemeClr val="bg1"/>
                </a:solidFill>
              </a:defRPr>
            </a:lvl1pPr>
          </a:lstStyle>
          <a:p>
            <a:endParaRPr lang="en-US"/>
          </a:p>
        </p:txBody>
      </p:sp>
      <p:sp>
        <p:nvSpPr>
          <p:cNvPr id="9" name="3. Subtitle">
            <a:extLst>
              <a:ext uri="{FF2B5EF4-FFF2-40B4-BE49-F238E27FC236}">
                <a16:creationId xmlns:a16="http://schemas.microsoft.com/office/drawing/2014/main" id="{C2E102BA-655C-3DD3-162C-BE2CC40594BD}"/>
              </a:ext>
            </a:extLst>
          </p:cNvPr>
          <p:cNvSpPr>
            <a:spLocks noGrp="1"/>
          </p:cNvSpPr>
          <p:nvPr>
            <p:ph type="subTitle" idx="1"/>
            <p:custDataLst>
              <p:tags r:id="rId3"/>
            </p:custDataLst>
          </p:nvPr>
        </p:nvSpPr>
        <p:spPr>
          <a:xfrm>
            <a:off x="554736" y="1075141"/>
            <a:ext cx="11082528" cy="276999"/>
          </a:xfrm>
        </p:spPr>
        <p:txBody>
          <a:bodyPr wrap="square">
            <a:noAutofit/>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sp>
        <p:nvSpPr>
          <p:cNvPr id="5" name="Slide Number">
            <a:extLst>
              <a:ext uri="{FF2B5EF4-FFF2-40B4-BE49-F238E27FC236}">
                <a16:creationId xmlns:a16="http://schemas.microsoft.com/office/drawing/2014/main" id="{22077F44-6B45-641D-9673-AB37F630BEDE}"/>
              </a:ext>
            </a:extLst>
          </p:cNvPr>
          <p:cNvSpPr>
            <a:spLocks noChangeArrowheads="1"/>
          </p:cNvSpPr>
          <p:nvPr userDrawn="1">
            <p:custDataLst>
              <p:tags r:id="rId4"/>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sp>
        <p:nvSpPr>
          <p:cNvPr id="10" name="TextBox 9">
            <a:extLst>
              <a:ext uri="{FF2B5EF4-FFF2-40B4-BE49-F238E27FC236}">
                <a16:creationId xmlns:a16="http://schemas.microsoft.com/office/drawing/2014/main" id="{AE8F0FC6-222E-0E32-1570-35E1B4183B64}"/>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bg1"/>
                </a:solidFill>
                <a:latin typeface="+mn-lt"/>
                <a:ea typeface="Lato Light" panose="020F0502020204030203" pitchFamily="34" charset="0"/>
                <a:cs typeface="Lato Light" panose="020F0502020204030203" pitchFamily="34" charset="0"/>
              </a:rPr>
              <a:t>©Telesto Strategy LLC 2026</a:t>
            </a:r>
          </a:p>
        </p:txBody>
      </p:sp>
      <p:pic>
        <p:nvPicPr>
          <p:cNvPr id="4" name="Picture 3">
            <a:extLst>
              <a:ext uri="{FF2B5EF4-FFF2-40B4-BE49-F238E27FC236}">
                <a16:creationId xmlns:a16="http://schemas.microsoft.com/office/drawing/2014/main" id="{AE76779D-6C40-CFB0-7E24-0B37AC77255B}"/>
              </a:ext>
            </a:extLst>
          </p:cNvPr>
          <p:cNvPicPr>
            <a:picLocks noChangeAspect="1"/>
          </p:cNvPicPr>
          <p:nvPr userDrawn="1"/>
        </p:nvPicPr>
        <p:blipFill>
          <a:blip r:embed="rId8" cstate="hqprint">
            <a:extLst>
              <a:ext uri="{28A0092B-C50C-407E-A947-70E740481C1C}">
                <a14:useLocalDpi xmlns:a14="http://schemas.microsoft.com/office/drawing/2010/main"/>
              </a:ext>
            </a:extLst>
          </a:blip>
          <a:stretch>
            <a:fillRect/>
          </a:stretch>
        </p:blipFill>
        <p:spPr>
          <a:xfrm>
            <a:off x="548145" y="6320941"/>
            <a:ext cx="1188720" cy="475488"/>
          </a:xfrm>
          <a:prstGeom prst="rect">
            <a:avLst/>
          </a:prstGeom>
        </p:spPr>
      </p:pic>
    </p:spTree>
    <p:extLst>
      <p:ext uri="{BB962C8B-B14F-4D97-AF65-F5344CB8AC3E}">
        <p14:creationId xmlns:p14="http://schemas.microsoft.com/office/powerpoint/2010/main" val="27499069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Blank (Contrast - Corner Image Ready)">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2698244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606" imgH="608" progId="TCLayout.ActiveDocument.1">
                  <p:embed/>
                </p:oleObj>
              </mc:Choice>
              <mc:Fallback>
                <p:oleObj name="thinkcell Slide" r:id="rId5"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081D0576-49D8-26B3-E95C-58D3A15B730A}"/>
              </a:ext>
            </a:extLst>
          </p:cNvPr>
          <p:cNvSpPr/>
          <p:nvPr userDrawn="1"/>
        </p:nvSpPr>
        <p:spPr>
          <a:xfrm>
            <a:off x="0" y="0"/>
            <a:ext cx="12192000" cy="6858000"/>
          </a:xfrm>
          <a:prstGeom prst="rect">
            <a:avLst/>
          </a:prstGeom>
          <a:solidFill>
            <a:srgbClr val="282828"/>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3200" b="0" i="0" u="none" strike="noStrike" kern="0" cap="none" spc="0" normalizeH="0" baseline="0" noProof="0">
              <a:ln>
                <a:noFill/>
              </a:ln>
              <a:solidFill>
                <a:prstClr val="white"/>
              </a:solidFill>
              <a:effectLst/>
              <a:uLnTx/>
              <a:uFillTx/>
              <a:latin typeface="Lato"/>
            </a:endParaRPr>
          </a:p>
        </p:txBody>
      </p:sp>
      <p:sp>
        <p:nvSpPr>
          <p:cNvPr id="7" name="2. Slide Title">
            <a:extLst>
              <a:ext uri="{FF2B5EF4-FFF2-40B4-BE49-F238E27FC236}">
                <a16:creationId xmlns:a16="http://schemas.microsoft.com/office/drawing/2014/main" id="{B93EDD42-67BE-6B80-FFAF-34C3FCC01E95}"/>
              </a:ext>
            </a:extLst>
          </p:cNvPr>
          <p:cNvSpPr>
            <a:spLocks noGrp="1"/>
          </p:cNvSpPr>
          <p:nvPr>
            <p:ph type="title" hasCustomPrompt="1"/>
            <p:custDataLst>
              <p:tags r:id="rId2"/>
            </p:custDataLst>
          </p:nvPr>
        </p:nvSpPr>
        <p:spPr>
          <a:xfrm>
            <a:off x="554736" y="3041189"/>
            <a:ext cx="11082528" cy="731520"/>
          </a:xfrm>
          <a:prstGeom prst="rect">
            <a:avLst/>
          </a:prstGeom>
        </p:spPr>
        <p:txBody>
          <a:bodyPr vert="horz" wrap="square" lIns="0" tIns="0" rIns="0" bIns="0" rtlCol="0" anchor="b" anchorCtr="0">
            <a:noAutofit/>
          </a:bodyPr>
          <a:lstStyle>
            <a:lvl1pPr algn="ctr">
              <a:defRPr sz="6600" b="0">
                <a:solidFill>
                  <a:schemeClr val="bg1"/>
                </a:solidFill>
              </a:defRPr>
            </a:lvl1pPr>
          </a:lstStyle>
          <a:p>
            <a:r>
              <a:rPr lang="en-US"/>
              <a:t>Key message</a:t>
            </a:r>
          </a:p>
        </p:txBody>
      </p:sp>
      <p:sp>
        <p:nvSpPr>
          <p:cNvPr id="5" name="Slide Number">
            <a:extLst>
              <a:ext uri="{FF2B5EF4-FFF2-40B4-BE49-F238E27FC236}">
                <a16:creationId xmlns:a16="http://schemas.microsoft.com/office/drawing/2014/main" id="{22077F44-6B45-641D-9673-AB37F630BEDE}"/>
              </a:ext>
            </a:extLst>
          </p:cNvPr>
          <p:cNvSpPr>
            <a:spLocks noChangeArrowheads="1"/>
          </p:cNvSpPr>
          <p:nvPr userDrawn="1">
            <p:custDataLst>
              <p:tags r:id="rId3"/>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sp>
        <p:nvSpPr>
          <p:cNvPr id="10" name="TextBox 9">
            <a:extLst>
              <a:ext uri="{FF2B5EF4-FFF2-40B4-BE49-F238E27FC236}">
                <a16:creationId xmlns:a16="http://schemas.microsoft.com/office/drawing/2014/main" id="{AE8F0FC6-222E-0E32-1570-35E1B4183B64}"/>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bg1"/>
                </a:solidFill>
                <a:latin typeface="+mn-lt"/>
                <a:ea typeface="Lato Light" panose="020F0502020204030203" pitchFamily="34" charset="0"/>
                <a:cs typeface="Lato Light" panose="020F0502020204030203" pitchFamily="34" charset="0"/>
              </a:rPr>
              <a:t>©Telesto Strategy LLC 2026</a:t>
            </a:r>
          </a:p>
        </p:txBody>
      </p:sp>
      <p:pic>
        <p:nvPicPr>
          <p:cNvPr id="4" name="Picture 3">
            <a:extLst>
              <a:ext uri="{FF2B5EF4-FFF2-40B4-BE49-F238E27FC236}">
                <a16:creationId xmlns:a16="http://schemas.microsoft.com/office/drawing/2014/main" id="{B19A50D7-4B34-7124-09F9-9ED770839516}"/>
              </a:ext>
            </a:extLst>
          </p:cNvPr>
          <p:cNvPicPr>
            <a:picLocks noChangeAspect="1"/>
          </p:cNvPicPr>
          <p:nvPr userDrawn="1"/>
        </p:nvPicPr>
        <p:blipFill>
          <a:blip r:embed="rId7" cstate="hqprint">
            <a:extLst>
              <a:ext uri="{28A0092B-C50C-407E-A947-70E740481C1C}">
                <a14:useLocalDpi xmlns:a14="http://schemas.microsoft.com/office/drawing/2010/main"/>
              </a:ext>
            </a:extLst>
          </a:blip>
          <a:stretch>
            <a:fillRect/>
          </a:stretch>
        </p:blipFill>
        <p:spPr>
          <a:xfrm>
            <a:off x="548145" y="6320941"/>
            <a:ext cx="1188720" cy="475488"/>
          </a:xfrm>
          <a:prstGeom prst="rect">
            <a:avLst/>
          </a:prstGeom>
        </p:spPr>
      </p:pic>
    </p:spTree>
    <p:extLst>
      <p:ext uri="{BB962C8B-B14F-4D97-AF65-F5344CB8AC3E}">
        <p14:creationId xmlns:p14="http://schemas.microsoft.com/office/powerpoint/2010/main" val="21169971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_Blank (Contrast - Corner Image Ready)">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2698244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606" imgH="608" progId="TCLayout.ActiveDocument.1">
                  <p:embed/>
                </p:oleObj>
              </mc:Choice>
              <mc:Fallback>
                <p:oleObj name="thinkcell Slide" r:id="rId5"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081D0576-49D8-26B3-E95C-58D3A15B730A}"/>
              </a:ext>
            </a:extLst>
          </p:cNvPr>
          <p:cNvSpPr/>
          <p:nvPr userDrawn="1"/>
        </p:nvSpPr>
        <p:spPr>
          <a:xfrm>
            <a:off x="0" y="0"/>
            <a:ext cx="12192000" cy="6858000"/>
          </a:xfrm>
          <a:prstGeom prst="rect">
            <a:avLst/>
          </a:prstGeom>
          <a:solidFill>
            <a:srgbClr val="282828"/>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8000" b="0" i="0" u="none" strike="noStrike" kern="0" cap="none" spc="0" normalizeH="0" baseline="0" noProof="0">
              <a:ln>
                <a:noFill/>
              </a:ln>
              <a:solidFill>
                <a:prstClr val="white"/>
              </a:solidFill>
              <a:effectLst/>
              <a:uLnTx/>
              <a:uFillTx/>
              <a:latin typeface="Lato"/>
            </a:endParaRPr>
          </a:p>
        </p:txBody>
      </p:sp>
      <p:sp>
        <p:nvSpPr>
          <p:cNvPr id="7" name="2. Slide Title">
            <a:extLst>
              <a:ext uri="{FF2B5EF4-FFF2-40B4-BE49-F238E27FC236}">
                <a16:creationId xmlns:a16="http://schemas.microsoft.com/office/drawing/2014/main" id="{B93EDD42-67BE-6B80-FFAF-34C3FCC01E95}"/>
              </a:ext>
            </a:extLst>
          </p:cNvPr>
          <p:cNvSpPr>
            <a:spLocks noGrp="1"/>
          </p:cNvSpPr>
          <p:nvPr>
            <p:ph type="title" hasCustomPrompt="1"/>
            <p:custDataLst>
              <p:tags r:id="rId2"/>
            </p:custDataLst>
          </p:nvPr>
        </p:nvSpPr>
        <p:spPr>
          <a:xfrm>
            <a:off x="553053" y="1261730"/>
            <a:ext cx="11082528" cy="3333229"/>
          </a:xfrm>
          <a:prstGeom prst="rect">
            <a:avLst/>
          </a:prstGeom>
        </p:spPr>
        <p:txBody>
          <a:bodyPr vert="horz" wrap="square" lIns="0" tIns="0" rIns="0" bIns="0" rtlCol="0" anchor="b" anchorCtr="0">
            <a:noAutofit/>
          </a:bodyPr>
          <a:lstStyle>
            <a:lvl1pPr algn="ctr">
              <a:defRPr sz="23900" b="0">
                <a:solidFill>
                  <a:schemeClr val="bg1"/>
                </a:solidFill>
              </a:defRPr>
            </a:lvl1pPr>
          </a:lstStyle>
          <a:p>
            <a:r>
              <a:rPr lang="en-US"/>
              <a:t>##</a:t>
            </a:r>
          </a:p>
        </p:txBody>
      </p:sp>
      <p:sp>
        <p:nvSpPr>
          <p:cNvPr id="5" name="Slide Number">
            <a:extLst>
              <a:ext uri="{FF2B5EF4-FFF2-40B4-BE49-F238E27FC236}">
                <a16:creationId xmlns:a16="http://schemas.microsoft.com/office/drawing/2014/main" id="{22077F44-6B45-641D-9673-AB37F630BEDE}"/>
              </a:ext>
            </a:extLst>
          </p:cNvPr>
          <p:cNvSpPr>
            <a:spLocks noChangeArrowheads="1"/>
          </p:cNvSpPr>
          <p:nvPr userDrawn="1">
            <p:custDataLst>
              <p:tags r:id="rId3"/>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sp>
        <p:nvSpPr>
          <p:cNvPr id="10" name="TextBox 9">
            <a:extLst>
              <a:ext uri="{FF2B5EF4-FFF2-40B4-BE49-F238E27FC236}">
                <a16:creationId xmlns:a16="http://schemas.microsoft.com/office/drawing/2014/main" id="{AE8F0FC6-222E-0E32-1570-35E1B4183B64}"/>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bg1"/>
                </a:solidFill>
                <a:latin typeface="+mn-lt"/>
                <a:ea typeface="Lato Light" panose="020F0502020204030203" pitchFamily="34" charset="0"/>
                <a:cs typeface="Lato Light" panose="020F0502020204030203" pitchFamily="34" charset="0"/>
              </a:rPr>
              <a:t>©Telesto Strategy LLC 2026</a:t>
            </a:r>
          </a:p>
        </p:txBody>
      </p:sp>
      <p:sp>
        <p:nvSpPr>
          <p:cNvPr id="4" name="Text Placeholder 8">
            <a:extLst>
              <a:ext uri="{FF2B5EF4-FFF2-40B4-BE49-F238E27FC236}">
                <a16:creationId xmlns:a16="http://schemas.microsoft.com/office/drawing/2014/main" id="{432C2F34-60B4-9455-1A0F-147B43063A4C}"/>
              </a:ext>
            </a:extLst>
          </p:cNvPr>
          <p:cNvSpPr>
            <a:spLocks noGrp="1"/>
          </p:cNvSpPr>
          <p:nvPr>
            <p:ph type="body" sz="quarter" idx="10" hasCustomPrompt="1"/>
          </p:nvPr>
        </p:nvSpPr>
        <p:spPr>
          <a:xfrm>
            <a:off x="552450" y="4997450"/>
            <a:ext cx="11082338" cy="966788"/>
          </a:xfrm>
        </p:spPr>
        <p:txBody>
          <a:bodyPr/>
          <a:lstStyle>
            <a:lvl1pPr algn="ctr">
              <a:defRPr sz="2400">
                <a:solidFill>
                  <a:schemeClr val="bg1"/>
                </a:solidFill>
              </a:defRPr>
            </a:lvl1pPr>
          </a:lstStyle>
          <a:p>
            <a:pPr lvl="0"/>
            <a:r>
              <a:rPr lang="en-US"/>
              <a:t>Text about number above</a:t>
            </a:r>
          </a:p>
        </p:txBody>
      </p:sp>
      <p:pic>
        <p:nvPicPr>
          <p:cNvPr id="9" name="Picture 8">
            <a:extLst>
              <a:ext uri="{FF2B5EF4-FFF2-40B4-BE49-F238E27FC236}">
                <a16:creationId xmlns:a16="http://schemas.microsoft.com/office/drawing/2014/main" id="{2BFE7D25-A9B2-596E-A903-A329E28ABACB}"/>
              </a:ext>
            </a:extLst>
          </p:cNvPr>
          <p:cNvPicPr>
            <a:picLocks noChangeAspect="1"/>
          </p:cNvPicPr>
          <p:nvPr userDrawn="1"/>
        </p:nvPicPr>
        <p:blipFill>
          <a:blip r:embed="rId7" cstate="hqprint">
            <a:extLst>
              <a:ext uri="{28A0092B-C50C-407E-A947-70E740481C1C}">
                <a14:useLocalDpi xmlns:a14="http://schemas.microsoft.com/office/drawing/2010/main"/>
              </a:ext>
            </a:extLst>
          </a:blip>
          <a:stretch>
            <a:fillRect/>
          </a:stretch>
        </p:blipFill>
        <p:spPr>
          <a:xfrm>
            <a:off x="548145" y="6320941"/>
            <a:ext cx="1188720" cy="475488"/>
          </a:xfrm>
          <a:prstGeom prst="rect">
            <a:avLst/>
          </a:prstGeom>
        </p:spPr>
      </p:pic>
    </p:spTree>
    <p:extLst>
      <p:ext uri="{BB962C8B-B14F-4D97-AF65-F5344CB8AC3E}">
        <p14:creationId xmlns:p14="http://schemas.microsoft.com/office/powerpoint/2010/main" val="58688482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_Blank (Contrast - Corner Image Ready)">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ACCE262-FA15-614B-5776-AD4E30089CFF}"/>
              </a:ext>
            </a:extLst>
          </p:cNvPr>
          <p:cNvPicPr>
            <a:picLocks noChangeAspect="1"/>
          </p:cNvPicPr>
          <p:nvPr userDrawn="1"/>
        </p:nvPicPr>
        <p:blipFill rotWithShape="1">
          <a:blip r:embed="rId5">
            <a:extLst>
              <a:ext uri="{28A0092B-C50C-407E-A947-70E740481C1C}">
                <a14:useLocalDpi xmlns:a14="http://schemas.microsoft.com/office/drawing/2010/main"/>
              </a:ext>
            </a:extLst>
          </a:blip>
          <a:srcRect/>
          <a:stretch>
            <a:fillRect/>
          </a:stretch>
        </p:blipFill>
        <p:spPr>
          <a:xfrm>
            <a:off x="0" y="-3574"/>
            <a:ext cx="12191999" cy="6858000"/>
          </a:xfrm>
          <a:prstGeom prst="rect">
            <a:avLst/>
          </a:prstGeom>
        </p:spPr>
      </p:pic>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2698244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081D0576-49D8-26B3-E95C-58D3A15B730A}"/>
              </a:ext>
            </a:extLst>
          </p:cNvPr>
          <p:cNvSpPr/>
          <p:nvPr userDrawn="1"/>
        </p:nvSpPr>
        <p:spPr>
          <a:xfrm>
            <a:off x="0" y="0"/>
            <a:ext cx="12191999" cy="6858000"/>
          </a:xfrm>
          <a:prstGeom prst="rect">
            <a:avLst/>
          </a:prstGeom>
          <a:solidFill>
            <a:srgbClr val="282828">
              <a:alpha val="87843"/>
            </a:srgbClr>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7" name="2. Slide Title">
            <a:extLst>
              <a:ext uri="{FF2B5EF4-FFF2-40B4-BE49-F238E27FC236}">
                <a16:creationId xmlns:a16="http://schemas.microsoft.com/office/drawing/2014/main" id="{B93EDD42-67BE-6B80-FFAF-34C3FCC01E95}"/>
              </a:ext>
            </a:extLst>
          </p:cNvPr>
          <p:cNvSpPr>
            <a:spLocks noGrp="1"/>
          </p:cNvSpPr>
          <p:nvPr>
            <p:ph type="title" hasCustomPrompt="1"/>
            <p:custDataLst>
              <p:tags r:id="rId2"/>
            </p:custDataLst>
          </p:nvPr>
        </p:nvSpPr>
        <p:spPr>
          <a:xfrm>
            <a:off x="554736" y="2700670"/>
            <a:ext cx="11082528" cy="1630325"/>
          </a:xfrm>
          <a:prstGeom prst="rect">
            <a:avLst/>
          </a:prstGeom>
        </p:spPr>
        <p:txBody>
          <a:bodyPr vert="horz" wrap="square" lIns="0" tIns="0" rIns="0" bIns="0" rtlCol="0" anchor="b" anchorCtr="0">
            <a:noAutofit/>
          </a:bodyPr>
          <a:lstStyle>
            <a:lvl1pPr algn="ctr">
              <a:defRPr sz="6600" b="0">
                <a:solidFill>
                  <a:schemeClr val="bg1"/>
                </a:solidFill>
              </a:defRPr>
            </a:lvl1pPr>
          </a:lstStyle>
          <a:p>
            <a:r>
              <a:rPr lang="en-US"/>
              <a:t>Key message may be two lines or one.</a:t>
            </a:r>
          </a:p>
        </p:txBody>
      </p:sp>
      <p:sp>
        <p:nvSpPr>
          <p:cNvPr id="5" name="Slide Number">
            <a:extLst>
              <a:ext uri="{FF2B5EF4-FFF2-40B4-BE49-F238E27FC236}">
                <a16:creationId xmlns:a16="http://schemas.microsoft.com/office/drawing/2014/main" id="{22077F44-6B45-641D-9673-AB37F630BEDE}"/>
              </a:ext>
            </a:extLst>
          </p:cNvPr>
          <p:cNvSpPr>
            <a:spLocks noChangeArrowheads="1"/>
          </p:cNvSpPr>
          <p:nvPr userDrawn="1">
            <p:custDataLst>
              <p:tags r:id="rId3"/>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sp>
        <p:nvSpPr>
          <p:cNvPr id="10" name="TextBox 9">
            <a:extLst>
              <a:ext uri="{FF2B5EF4-FFF2-40B4-BE49-F238E27FC236}">
                <a16:creationId xmlns:a16="http://schemas.microsoft.com/office/drawing/2014/main" id="{AE8F0FC6-222E-0E32-1570-35E1B4183B64}"/>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bg1"/>
                </a:solidFill>
                <a:latin typeface="+mn-lt"/>
                <a:ea typeface="Lato Light" panose="020F0502020204030203" pitchFamily="34" charset="0"/>
                <a:cs typeface="Lato Light" panose="020F0502020204030203" pitchFamily="34" charset="0"/>
              </a:rPr>
              <a:t>©Telesto Strategy LLC 2026</a:t>
            </a:r>
          </a:p>
        </p:txBody>
      </p:sp>
      <p:pic>
        <p:nvPicPr>
          <p:cNvPr id="6" name="Picture 5">
            <a:extLst>
              <a:ext uri="{FF2B5EF4-FFF2-40B4-BE49-F238E27FC236}">
                <a16:creationId xmlns:a16="http://schemas.microsoft.com/office/drawing/2014/main" id="{70F05CAE-EB66-A47E-8293-4A5922D48007}"/>
              </a:ext>
            </a:extLst>
          </p:cNvPr>
          <p:cNvPicPr>
            <a:picLocks noChangeAspect="1"/>
          </p:cNvPicPr>
          <p:nvPr userDrawn="1"/>
        </p:nvPicPr>
        <p:blipFill>
          <a:blip r:embed="rId8" cstate="hqprint">
            <a:extLst>
              <a:ext uri="{28A0092B-C50C-407E-A947-70E740481C1C}">
                <a14:useLocalDpi xmlns:a14="http://schemas.microsoft.com/office/drawing/2010/main"/>
              </a:ext>
            </a:extLst>
          </a:blip>
          <a:stretch>
            <a:fillRect/>
          </a:stretch>
        </p:blipFill>
        <p:spPr>
          <a:xfrm>
            <a:off x="548145" y="6320941"/>
            <a:ext cx="1188720" cy="475488"/>
          </a:xfrm>
          <a:prstGeom prst="rect">
            <a:avLst/>
          </a:prstGeom>
        </p:spPr>
      </p:pic>
    </p:spTree>
    <p:extLst>
      <p:ext uri="{BB962C8B-B14F-4D97-AF65-F5344CB8AC3E}">
        <p14:creationId xmlns:p14="http://schemas.microsoft.com/office/powerpoint/2010/main" val="9821844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4_Blank (Contrast - Corner Image Ready)">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B29C40-E54C-7908-32BD-34EC9D608A52}"/>
              </a:ext>
            </a:extLst>
          </p:cNvPr>
          <p:cNvPicPr>
            <a:picLocks noChangeAspect="1"/>
          </p:cNvPicPr>
          <p:nvPr userDrawn="1"/>
        </p:nvPicPr>
        <p:blipFill rotWithShape="1">
          <a:blip r:embed="rId5">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graphicFrame>
        <p:nvGraphicFramePr>
          <p:cNvPr id="8" name="think-cell data - do not delete" hidden="1">
            <a:extLst>
              <a:ext uri="{FF2B5EF4-FFF2-40B4-BE49-F238E27FC236}">
                <a16:creationId xmlns:a16="http://schemas.microsoft.com/office/drawing/2014/main" id="{3E57A80D-4A6A-EE5A-5B07-AF8FC50EE648}"/>
              </a:ext>
            </a:extLst>
          </p:cNvPr>
          <p:cNvGraphicFramePr>
            <a:graphicFrameLocks noChangeAspect="1"/>
          </p:cNvGraphicFramePr>
          <p:nvPr userDrawn="1">
            <p:custDataLst>
              <p:tags r:id="rId1"/>
            </p:custDataLst>
            <p:extLst>
              <p:ext uri="{D42A27DB-BD31-4B8C-83A1-F6EECF244321}">
                <p14:modId xmlns:p14="http://schemas.microsoft.com/office/powerpoint/2010/main" val="22698244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8" name="think-cell data - do not delete" hidden="1">
                        <a:extLst>
                          <a:ext uri="{FF2B5EF4-FFF2-40B4-BE49-F238E27FC236}">
                            <a16:creationId xmlns:a16="http://schemas.microsoft.com/office/drawing/2014/main" id="{3E57A80D-4A6A-EE5A-5B07-AF8FC50EE64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081D0576-49D8-26B3-E95C-58D3A15B730A}"/>
              </a:ext>
            </a:extLst>
          </p:cNvPr>
          <p:cNvSpPr/>
          <p:nvPr userDrawn="1"/>
        </p:nvSpPr>
        <p:spPr>
          <a:xfrm>
            <a:off x="0" y="0"/>
            <a:ext cx="12192000" cy="6858000"/>
          </a:xfrm>
          <a:prstGeom prst="rect">
            <a:avLst/>
          </a:prstGeom>
          <a:solidFill>
            <a:srgbClr val="282828">
              <a:alpha val="87843"/>
            </a:srgbClr>
          </a:solidFill>
          <a:ln w="12700" cap="flat" cmpd="sng" algn="ctr">
            <a:noFill/>
            <a:prstDash val="solid"/>
            <a:miter lim="800000"/>
          </a:ln>
          <a:effectLst/>
        </p:spPr>
        <p:txBody>
          <a:bodyPr rtlCol="0" anchor="ctr"/>
          <a:lstStyle/>
          <a:p>
            <a:pPr marR="0" lvl="0" indent="0" algn="ctr" defTabSz="496382" fontAlgn="auto">
              <a:lnSpc>
                <a:spcPct val="100000"/>
              </a:lnSpc>
              <a:spcBef>
                <a:spcPts val="0"/>
              </a:spcBef>
              <a:spcAft>
                <a:spcPts val="0"/>
              </a:spcAft>
              <a:buClrTx/>
              <a:buSzTx/>
              <a:buFontTx/>
              <a:buNone/>
              <a:tabLst/>
            </a:pPr>
            <a:endParaRPr kumimoji="0" lang="en-US" sz="1954" b="0" i="0" u="none" strike="noStrike" kern="0" cap="none" spc="0" normalizeH="0" baseline="0" noProof="0">
              <a:ln>
                <a:noFill/>
              </a:ln>
              <a:solidFill>
                <a:prstClr val="white"/>
              </a:solidFill>
              <a:effectLst/>
              <a:uLnTx/>
              <a:uFillTx/>
              <a:latin typeface="Lato"/>
            </a:endParaRPr>
          </a:p>
        </p:txBody>
      </p:sp>
      <p:sp>
        <p:nvSpPr>
          <p:cNvPr id="7" name="2. Slide Title">
            <a:extLst>
              <a:ext uri="{FF2B5EF4-FFF2-40B4-BE49-F238E27FC236}">
                <a16:creationId xmlns:a16="http://schemas.microsoft.com/office/drawing/2014/main" id="{B93EDD42-67BE-6B80-FFAF-34C3FCC01E95}"/>
              </a:ext>
            </a:extLst>
          </p:cNvPr>
          <p:cNvSpPr>
            <a:spLocks noGrp="1"/>
          </p:cNvSpPr>
          <p:nvPr>
            <p:ph type="title" hasCustomPrompt="1"/>
            <p:custDataLst>
              <p:tags r:id="rId2"/>
            </p:custDataLst>
          </p:nvPr>
        </p:nvSpPr>
        <p:spPr>
          <a:xfrm>
            <a:off x="553053" y="1261730"/>
            <a:ext cx="11082528" cy="3333229"/>
          </a:xfrm>
          <a:prstGeom prst="rect">
            <a:avLst/>
          </a:prstGeom>
        </p:spPr>
        <p:txBody>
          <a:bodyPr vert="horz" wrap="square" lIns="0" tIns="0" rIns="0" bIns="0" rtlCol="0" anchor="b" anchorCtr="0">
            <a:noAutofit/>
          </a:bodyPr>
          <a:lstStyle>
            <a:lvl1pPr algn="ctr">
              <a:defRPr sz="23900" b="0">
                <a:solidFill>
                  <a:schemeClr val="bg1"/>
                </a:solidFill>
              </a:defRPr>
            </a:lvl1pPr>
          </a:lstStyle>
          <a:p>
            <a:r>
              <a:rPr lang="en-US"/>
              <a:t>##</a:t>
            </a:r>
          </a:p>
        </p:txBody>
      </p:sp>
      <p:sp>
        <p:nvSpPr>
          <p:cNvPr id="5" name="Slide Number">
            <a:extLst>
              <a:ext uri="{FF2B5EF4-FFF2-40B4-BE49-F238E27FC236}">
                <a16:creationId xmlns:a16="http://schemas.microsoft.com/office/drawing/2014/main" id="{22077F44-6B45-641D-9673-AB37F630BEDE}"/>
              </a:ext>
            </a:extLst>
          </p:cNvPr>
          <p:cNvSpPr>
            <a:spLocks noChangeArrowheads="1"/>
          </p:cNvSpPr>
          <p:nvPr userDrawn="1">
            <p:custDataLst>
              <p:tags r:id="rId3"/>
            </p:custDataLst>
          </p:nvPr>
        </p:nvSpPr>
        <p:spPr bwMode="black">
          <a:xfrm>
            <a:off x="11312525" y="645067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sp>
        <p:nvSpPr>
          <p:cNvPr id="10" name="TextBox 9">
            <a:extLst>
              <a:ext uri="{FF2B5EF4-FFF2-40B4-BE49-F238E27FC236}">
                <a16:creationId xmlns:a16="http://schemas.microsoft.com/office/drawing/2014/main" id="{AE8F0FC6-222E-0E32-1570-35E1B4183B64}"/>
              </a:ext>
            </a:extLst>
          </p:cNvPr>
          <p:cNvSpPr txBox="1"/>
          <p:nvPr userDrawn="1"/>
        </p:nvSpPr>
        <p:spPr>
          <a:xfrm>
            <a:off x="8473484" y="6403616"/>
            <a:ext cx="2812843" cy="230832"/>
          </a:xfrm>
          <a:prstGeom prst="rect">
            <a:avLst/>
          </a:prstGeom>
          <a:noFill/>
        </p:spPr>
        <p:txBody>
          <a:bodyPr wrap="square" rtlCol="0">
            <a:spAutoFit/>
          </a:bodyPr>
          <a:lstStyle/>
          <a:p>
            <a:pPr algn="r"/>
            <a:r>
              <a:rPr lang="en-US" sz="900" b="0">
                <a:solidFill>
                  <a:schemeClr val="bg1"/>
                </a:solidFill>
                <a:latin typeface="+mn-lt"/>
                <a:ea typeface="Lato Light" panose="020F0502020204030203" pitchFamily="34" charset="0"/>
                <a:cs typeface="Lato Light" panose="020F0502020204030203" pitchFamily="34" charset="0"/>
              </a:rPr>
              <a:t>©Telesto Strategy LLC 2026</a:t>
            </a:r>
          </a:p>
        </p:txBody>
      </p:sp>
      <p:sp>
        <p:nvSpPr>
          <p:cNvPr id="9" name="Text Placeholder 8">
            <a:extLst>
              <a:ext uri="{FF2B5EF4-FFF2-40B4-BE49-F238E27FC236}">
                <a16:creationId xmlns:a16="http://schemas.microsoft.com/office/drawing/2014/main" id="{46431657-40B0-E564-7ECA-60A82B5CDE21}"/>
              </a:ext>
            </a:extLst>
          </p:cNvPr>
          <p:cNvSpPr>
            <a:spLocks noGrp="1"/>
          </p:cNvSpPr>
          <p:nvPr>
            <p:ph type="body" sz="quarter" idx="10" hasCustomPrompt="1"/>
          </p:nvPr>
        </p:nvSpPr>
        <p:spPr>
          <a:xfrm>
            <a:off x="552450" y="4997450"/>
            <a:ext cx="11082338" cy="966788"/>
          </a:xfrm>
        </p:spPr>
        <p:txBody>
          <a:bodyPr/>
          <a:lstStyle>
            <a:lvl1pPr algn="ctr">
              <a:defRPr sz="2400">
                <a:solidFill>
                  <a:schemeClr val="bg1"/>
                </a:solidFill>
              </a:defRPr>
            </a:lvl1pPr>
          </a:lstStyle>
          <a:p>
            <a:pPr lvl="0"/>
            <a:r>
              <a:rPr lang="en-US"/>
              <a:t>Text about number above</a:t>
            </a:r>
          </a:p>
        </p:txBody>
      </p:sp>
      <p:pic>
        <p:nvPicPr>
          <p:cNvPr id="6" name="Picture 5">
            <a:extLst>
              <a:ext uri="{FF2B5EF4-FFF2-40B4-BE49-F238E27FC236}">
                <a16:creationId xmlns:a16="http://schemas.microsoft.com/office/drawing/2014/main" id="{A67AEA2C-3663-2438-9A21-EF1FB5F99D92}"/>
              </a:ext>
            </a:extLst>
          </p:cNvPr>
          <p:cNvPicPr>
            <a:picLocks noChangeAspect="1"/>
          </p:cNvPicPr>
          <p:nvPr userDrawn="1"/>
        </p:nvPicPr>
        <p:blipFill>
          <a:blip r:embed="rId8" cstate="hqprint">
            <a:extLst>
              <a:ext uri="{28A0092B-C50C-407E-A947-70E740481C1C}">
                <a14:useLocalDpi xmlns:a14="http://schemas.microsoft.com/office/drawing/2010/main"/>
              </a:ext>
            </a:extLst>
          </a:blip>
          <a:stretch>
            <a:fillRect/>
          </a:stretch>
        </p:blipFill>
        <p:spPr>
          <a:xfrm>
            <a:off x="548145" y="6320941"/>
            <a:ext cx="1188720" cy="475488"/>
          </a:xfrm>
          <a:prstGeom prst="rect">
            <a:avLst/>
          </a:prstGeom>
        </p:spPr>
      </p:pic>
    </p:spTree>
    <p:extLst>
      <p:ext uri="{BB962C8B-B14F-4D97-AF65-F5344CB8AC3E}">
        <p14:creationId xmlns:p14="http://schemas.microsoft.com/office/powerpoint/2010/main" val="56557549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oleObject" Target="../embeddings/oleObject1.bin"/><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ags" Target="../tags/tag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8AD74DD7-5A7B-CE8C-6629-61FE56C9DB2D}"/>
              </a:ext>
            </a:extLst>
          </p:cNvPr>
          <p:cNvGraphicFramePr>
            <a:graphicFrameLocks/>
          </p:cNvGraphicFramePr>
          <p:nvPr userDrawn="1">
            <p:custDataLst>
              <p:tags r:id="rId51"/>
            </p:custDataLst>
            <p:extLst>
              <p:ext uri="{D42A27DB-BD31-4B8C-83A1-F6EECF244321}">
                <p14:modId xmlns:p14="http://schemas.microsoft.com/office/powerpoint/2010/main" val="29643697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3" imgW="606" imgH="608" progId="TCLayout.ActiveDocument.1">
                  <p:embed/>
                </p:oleObj>
              </mc:Choice>
              <mc:Fallback>
                <p:oleObj name="thinkcell Slide" r:id="rId53" imgW="606" imgH="608" progId="TCLayout.ActiveDocument.1">
                  <p:embed/>
                  <p:pic>
                    <p:nvPicPr>
                      <p:cNvPr id="7" name="think-cell data - do not delete" hidden="1">
                        <a:extLst>
                          <a:ext uri="{FF2B5EF4-FFF2-40B4-BE49-F238E27FC236}">
                            <a16:creationId xmlns:a16="http://schemas.microsoft.com/office/drawing/2014/main" id="{8AD74DD7-5A7B-CE8C-6629-61FE56C9DB2D}"/>
                          </a:ext>
                        </a:extLst>
                      </p:cNvPr>
                      <p:cNvPicPr/>
                      <p:nvPr/>
                    </p:nvPicPr>
                    <p:blipFill>
                      <a:blip r:embed="rId54"/>
                      <a:stretch>
                        <a:fillRect/>
                      </a:stretch>
                    </p:blipFill>
                    <p:spPr>
                      <a:xfrm>
                        <a:off x="1588" y="1588"/>
                        <a:ext cx="1588" cy="1588"/>
                      </a:xfrm>
                      <a:prstGeom prst="rect">
                        <a:avLst/>
                      </a:prstGeom>
                    </p:spPr>
                  </p:pic>
                </p:oleObj>
              </mc:Fallback>
            </mc:AlternateContent>
          </a:graphicData>
        </a:graphic>
      </p:graphicFrame>
      <p:sp>
        <p:nvSpPr>
          <p:cNvPr id="11" name="Text Placeholder 2">
            <a:extLst>
              <a:ext uri="{FF2B5EF4-FFF2-40B4-BE49-F238E27FC236}">
                <a16:creationId xmlns:a16="http://schemas.microsoft.com/office/drawing/2014/main" id="{FF9387FB-EF1C-1781-E283-3CA5984D5995}"/>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2. Slide Title">
            <a:extLst>
              <a:ext uri="{FF2B5EF4-FFF2-40B4-BE49-F238E27FC236}">
                <a16:creationId xmlns:a16="http://schemas.microsoft.com/office/drawing/2014/main" id="{12B24C4B-7000-9219-5348-DDDCA2A6F348}"/>
              </a:ext>
            </a:extLst>
          </p:cNvPr>
          <p:cNvSpPr>
            <a:spLocks noGrp="1"/>
          </p:cNvSpPr>
          <p:nvPr>
            <p:ph type="title"/>
            <p:custDataLst>
              <p:tags r:id="rId52"/>
            </p:custDataLst>
          </p:nvPr>
        </p:nvSpPr>
        <p:spPr>
          <a:xfrm>
            <a:off x="554736" y="172212"/>
            <a:ext cx="11082528" cy="731520"/>
          </a:xfrm>
          <a:prstGeom prst="rect">
            <a:avLst/>
          </a:prstGeom>
        </p:spPr>
        <p:txBody>
          <a:bodyPr vert="horz" wrap="square" lIns="0" tIns="0" rIns="0" bIns="0" rtlCol="0" anchor="b" anchorCtr="0">
            <a:noAutofit/>
          </a:bodyPr>
          <a:lstStyle/>
          <a:p>
            <a:endParaRPr lang="en-US"/>
          </a:p>
        </p:txBody>
      </p:sp>
    </p:spTree>
    <p:extLst>
      <p:ext uri="{BB962C8B-B14F-4D97-AF65-F5344CB8AC3E}">
        <p14:creationId xmlns:p14="http://schemas.microsoft.com/office/powerpoint/2010/main" val="1091927743"/>
      </p:ext>
    </p:extLst>
  </p:cSld>
  <p:clrMap bg1="lt1" tx1="dk1" bg2="lt2" tx2="dk2" accent1="accent1" accent2="accent2" accent3="accent3" accent4="accent4" accent5="accent5" accent6="accent6" hlink="hlink" folHlink="folHlink"/>
  <p:sldLayoutIdLst>
    <p:sldLayoutId id="2147483805" r:id="rId1"/>
    <p:sldLayoutId id="2147483912" r:id="rId2"/>
    <p:sldLayoutId id="2147483910" r:id="rId3"/>
    <p:sldLayoutId id="2147483790" r:id="rId4"/>
    <p:sldLayoutId id="2147483697" r:id="rId5"/>
    <p:sldLayoutId id="2147483800" r:id="rId6"/>
    <p:sldLayoutId id="2147483672" r:id="rId7"/>
    <p:sldLayoutId id="2147483686" r:id="rId8"/>
    <p:sldLayoutId id="2147483808" r:id="rId9"/>
    <p:sldLayoutId id="2147483649" r:id="rId10"/>
    <p:sldLayoutId id="2147483803" r:id="rId11"/>
    <p:sldLayoutId id="2147483807" r:id="rId12"/>
    <p:sldLayoutId id="2147483661" r:id="rId13"/>
    <p:sldLayoutId id="2147483791" r:id="rId14"/>
    <p:sldLayoutId id="2147483806" r:id="rId15"/>
    <p:sldLayoutId id="2147483673" r:id="rId16"/>
    <p:sldLayoutId id="2147483792" r:id="rId17"/>
    <p:sldLayoutId id="2147483674" r:id="rId18"/>
    <p:sldLayoutId id="2147483928" r:id="rId19"/>
    <p:sldLayoutId id="2147483663" r:id="rId20"/>
    <p:sldLayoutId id="2147483794" r:id="rId21"/>
    <p:sldLayoutId id="2147483926" r:id="rId22"/>
    <p:sldLayoutId id="2147483793" r:id="rId23"/>
    <p:sldLayoutId id="2147483675" r:id="rId24"/>
    <p:sldLayoutId id="2147483927" r:id="rId25"/>
    <p:sldLayoutId id="2147483664" r:id="rId26"/>
    <p:sldLayoutId id="2147483795" r:id="rId27"/>
    <p:sldLayoutId id="2147483676" r:id="rId28"/>
    <p:sldLayoutId id="2147483915" r:id="rId29"/>
    <p:sldLayoutId id="2147483677" r:id="rId30"/>
    <p:sldLayoutId id="2147483678" r:id="rId31"/>
    <p:sldLayoutId id="2147483679" r:id="rId32"/>
    <p:sldLayoutId id="2147483929" r:id="rId33"/>
    <p:sldLayoutId id="2147483921" r:id="rId34"/>
    <p:sldLayoutId id="2147483680" r:id="rId35"/>
    <p:sldLayoutId id="2147483658" r:id="rId36"/>
    <p:sldLayoutId id="2147483930" r:id="rId37"/>
    <p:sldLayoutId id="2147483801" r:id="rId38"/>
    <p:sldLayoutId id="2147483933" r:id="rId39"/>
    <p:sldLayoutId id="2147483682" r:id="rId40"/>
    <p:sldLayoutId id="2147483931" r:id="rId41"/>
    <p:sldLayoutId id="2147483802" r:id="rId42"/>
    <p:sldLayoutId id="2147483916" r:id="rId43"/>
    <p:sldLayoutId id="2147483695" r:id="rId44"/>
    <p:sldLayoutId id="2147483932" r:id="rId45"/>
    <p:sldLayoutId id="2147483922" r:id="rId46"/>
    <p:sldLayoutId id="2147483923" r:id="rId47"/>
    <p:sldLayoutId id="2147483924" r:id="rId48"/>
    <p:sldLayoutId id="2147483925" r:id="rId49"/>
  </p:sldLayoutIdLst>
  <p:txStyles>
    <p:titleStyle>
      <a:lvl1pPr algn="l" defTabSz="914400" rtl="0" eaLnBrk="1" latinLnBrk="0" hangingPunct="1">
        <a:lnSpc>
          <a:spcPct val="90000"/>
        </a:lnSpc>
        <a:spcBef>
          <a:spcPct val="0"/>
        </a:spcBef>
        <a:buNone/>
        <a:defRPr sz="26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228600" indent="-228600" algn="l" defTabSz="914400" rtl="0" eaLnBrk="1" latinLnBrk="0" hangingPunct="1">
        <a:lnSpc>
          <a:spcPct val="90000"/>
        </a:lnSpc>
        <a:spcBef>
          <a:spcPts val="500"/>
        </a:spcBef>
        <a:buSzPct val="85000"/>
        <a:buFont typeface="Wingdings" panose="05000000000000000000" pitchFamily="2" charset="2"/>
        <a:buChar char="§"/>
        <a:defRPr sz="1600" kern="1200">
          <a:solidFill>
            <a:schemeClr val="tx1"/>
          </a:solidFill>
          <a:latin typeface="+mn-lt"/>
          <a:ea typeface="+mn-ea"/>
          <a:cs typeface="+mn-cs"/>
        </a:defRPr>
      </a:lvl2pPr>
      <a:lvl3pPr marL="520700" indent="-228600" algn="l" defTabSz="914400" rtl="0" eaLnBrk="1" latinLnBrk="0" hangingPunct="1">
        <a:lnSpc>
          <a:spcPct val="90000"/>
        </a:lnSpc>
        <a:spcBef>
          <a:spcPts val="500"/>
        </a:spcBef>
        <a:buSzPct val="110000"/>
        <a:buFont typeface="Avenir Next LT Pro Light" panose="020B0304020202020204" pitchFamily="34" charset="0"/>
        <a:buChar char="–"/>
        <a:defRPr sz="1600" kern="1200">
          <a:solidFill>
            <a:schemeClr val="tx1"/>
          </a:solidFill>
          <a:latin typeface="+mn-lt"/>
          <a:ea typeface="+mn-ea"/>
          <a:cs typeface="+mn-cs"/>
        </a:defRPr>
      </a:lvl3pPr>
      <a:lvl4pPr marL="863600" indent="-228600" algn="l" defTabSz="914400" rtl="0" eaLnBrk="1" latinLnBrk="0" hangingPunct="1">
        <a:lnSpc>
          <a:spcPct val="90000"/>
        </a:lnSpc>
        <a:spcBef>
          <a:spcPts val="500"/>
        </a:spcBef>
        <a:buSzPct val="90000"/>
        <a:buFont typeface="Courier New" panose="02070309020205020404" pitchFamily="49" charset="0"/>
        <a:buChar char="o"/>
        <a:defRPr sz="1600" kern="1200">
          <a:solidFill>
            <a:schemeClr val="tx1"/>
          </a:solidFill>
          <a:latin typeface="+mn-lt"/>
          <a:ea typeface="+mn-ea"/>
          <a:cs typeface="+mn-cs"/>
        </a:defRPr>
      </a:lvl4pPr>
      <a:lvl5pPr marL="12065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pos="7344" userDrawn="1">
          <p15:clr>
            <a:srgbClr val="F26B43"/>
          </p15:clr>
        </p15:guide>
        <p15:guide id="5" orient="horz" pos="64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4.xml"/><Relationship Id="rId1" Type="http://schemas.openxmlformats.org/officeDocument/2006/relationships/tags" Target="../tags/tag223.xml"/><Relationship Id="rId4" Type="http://schemas.openxmlformats.org/officeDocument/2006/relationships/image" Target="../media/image22.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44.xml"/><Relationship Id="rId1" Type="http://schemas.openxmlformats.org/officeDocument/2006/relationships/tags" Target="../tags/tag224.xml"/><Relationship Id="rId4" Type="http://schemas.openxmlformats.org/officeDocument/2006/relationships/image" Target="../media/image22.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44.xml"/><Relationship Id="rId1" Type="http://schemas.openxmlformats.org/officeDocument/2006/relationships/tags" Target="../tags/tag225.xml"/><Relationship Id="rId4" Type="http://schemas.openxmlformats.org/officeDocument/2006/relationships/image" Target="../media/image22.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1.xml"/><Relationship Id="rId1" Type="http://schemas.openxmlformats.org/officeDocument/2006/relationships/tags" Target="../tags/tag226.xml"/><Relationship Id="rId4" Type="http://schemas.openxmlformats.org/officeDocument/2006/relationships/image" Target="../media/image22.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7.xml"/><Relationship Id="rId1" Type="http://schemas.openxmlformats.org/officeDocument/2006/relationships/tags" Target="../tags/tag227.xml"/><Relationship Id="rId4" Type="http://schemas.openxmlformats.org/officeDocument/2006/relationships/image" Target="../media/image22.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44.xml"/><Relationship Id="rId1" Type="http://schemas.openxmlformats.org/officeDocument/2006/relationships/tags" Target="../tags/tag228.xml"/><Relationship Id="rId4" Type="http://schemas.openxmlformats.org/officeDocument/2006/relationships/image" Target="../media/image23.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21.xml"/><Relationship Id="rId1" Type="http://schemas.openxmlformats.org/officeDocument/2006/relationships/tags" Target="../tags/tag229.xml"/><Relationship Id="rId4" Type="http://schemas.openxmlformats.org/officeDocument/2006/relationships/image" Target="../media/image23.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43.xml"/><Relationship Id="rId1" Type="http://schemas.openxmlformats.org/officeDocument/2006/relationships/tags" Target="../tags/tag230.xml"/><Relationship Id="rId4" Type="http://schemas.openxmlformats.org/officeDocument/2006/relationships/image" Target="../media/image23.emf"/></Relationships>
</file>

<file path=ppt/slides/_rels/slide9.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oleObject" Target="../embeddings/oleObject33.bin"/><Relationship Id="rId7" Type="http://schemas.openxmlformats.org/officeDocument/2006/relationships/image" Target="../media/image26.svg"/><Relationship Id="rId2" Type="http://schemas.openxmlformats.org/officeDocument/2006/relationships/slideLayout" Target="../slideLayouts/slideLayout10.xml"/><Relationship Id="rId1" Type="http://schemas.openxmlformats.org/officeDocument/2006/relationships/tags" Target="../tags/tag231.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2.emf"/><Relationship Id="rId9" Type="http://schemas.openxmlformats.org/officeDocument/2006/relationships/image" Target="../media/image28.sv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0.xml"/><Relationship Id="rId7" Type="http://schemas.openxmlformats.org/officeDocument/2006/relationships/image" Target="../media/image29.svg"/><Relationship Id="rId2" Type="http://schemas.openxmlformats.org/officeDocument/2006/relationships/tags" Target="../tags/tag233.xml"/><Relationship Id="rId1" Type="http://schemas.openxmlformats.org/officeDocument/2006/relationships/tags" Target="../tags/tag232.xml"/><Relationship Id="rId6" Type="http://schemas.openxmlformats.org/officeDocument/2006/relationships/oleObject" Target="../embeddings/oleObject35.bin"/><Relationship Id="rId5" Type="http://schemas.openxmlformats.org/officeDocument/2006/relationships/image" Target="../media/image22.emf"/><Relationship Id="rId4" Type="http://schemas.openxmlformats.org/officeDocument/2006/relationships/oleObject" Target="../embeddings/oleObject34.bin"/></Relationships>
</file>

<file path=ppt/slides/_rels/slide11.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slideLayout" Target="../slideLayouts/slideLayout12.xml"/><Relationship Id="rId7" Type="http://schemas.openxmlformats.org/officeDocument/2006/relationships/image" Target="../media/image26.svg"/><Relationship Id="rId2" Type="http://schemas.openxmlformats.org/officeDocument/2006/relationships/tags" Target="../tags/tag235.xml"/><Relationship Id="rId1" Type="http://schemas.openxmlformats.org/officeDocument/2006/relationships/tags" Target="../tags/tag234.xml"/><Relationship Id="rId6" Type="http://schemas.openxmlformats.org/officeDocument/2006/relationships/oleObject" Target="../embeddings/oleObject37.bin"/><Relationship Id="rId5" Type="http://schemas.openxmlformats.org/officeDocument/2006/relationships/image" Target="../media/image22.emf"/><Relationship Id="rId4" Type="http://schemas.openxmlformats.org/officeDocument/2006/relationships/oleObject" Target="../embeddings/oleObject36.bin"/><Relationship Id="rId9" Type="http://schemas.openxmlformats.org/officeDocument/2006/relationships/image" Target="../media/image31.svg"/></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45.xml"/><Relationship Id="rId1" Type="http://schemas.openxmlformats.org/officeDocument/2006/relationships/tags" Target="../tags/tag236.xml"/><Relationship Id="rId4" Type="http://schemas.openxmlformats.org/officeDocument/2006/relationships/image" Target="../media/image22.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20.xml"/><Relationship Id="rId1" Type="http://schemas.openxmlformats.org/officeDocument/2006/relationships/tags" Target="../tags/tag237.xml"/><Relationship Id="rId4" Type="http://schemas.openxmlformats.org/officeDocument/2006/relationships/image" Target="../media/image22.emf"/></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239.xml"/><Relationship Id="rId1" Type="http://schemas.openxmlformats.org/officeDocument/2006/relationships/tags" Target="../tags/tag238.xml"/><Relationship Id="rId6" Type="http://schemas.openxmlformats.org/officeDocument/2006/relationships/oleObject" Target="../embeddings/oleObject41.bin"/><Relationship Id="rId5" Type="http://schemas.openxmlformats.org/officeDocument/2006/relationships/image" Target="../media/image22.emf"/><Relationship Id="rId4" Type="http://schemas.openxmlformats.org/officeDocument/2006/relationships/oleObject" Target="../embeddings/oleObject40.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10.xml"/><Relationship Id="rId1" Type="http://schemas.openxmlformats.org/officeDocument/2006/relationships/tags" Target="../tags/tag240.xml"/><Relationship Id="rId4" Type="http://schemas.openxmlformats.org/officeDocument/2006/relationships/image" Target="../media/image22.emf"/></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0.xml"/><Relationship Id="rId7" Type="http://schemas.openxmlformats.org/officeDocument/2006/relationships/image" Target="../media/image32.svg"/><Relationship Id="rId2" Type="http://schemas.openxmlformats.org/officeDocument/2006/relationships/tags" Target="../tags/tag242.xml"/><Relationship Id="rId1" Type="http://schemas.openxmlformats.org/officeDocument/2006/relationships/tags" Target="../tags/tag241.xml"/><Relationship Id="rId6" Type="http://schemas.openxmlformats.org/officeDocument/2006/relationships/oleObject" Target="../embeddings/oleObject44.bin"/><Relationship Id="rId5" Type="http://schemas.openxmlformats.org/officeDocument/2006/relationships/image" Target="../media/image22.emf"/><Relationship Id="rId4" Type="http://schemas.openxmlformats.org/officeDocument/2006/relationships/oleObject" Target="../embeddings/oleObject43.bin"/></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0.xml"/><Relationship Id="rId7" Type="http://schemas.openxmlformats.org/officeDocument/2006/relationships/image" Target="../media/image33.svg"/><Relationship Id="rId2" Type="http://schemas.openxmlformats.org/officeDocument/2006/relationships/tags" Target="../tags/tag244.xml"/><Relationship Id="rId1" Type="http://schemas.openxmlformats.org/officeDocument/2006/relationships/tags" Target="../tags/tag243.xml"/><Relationship Id="rId6" Type="http://schemas.openxmlformats.org/officeDocument/2006/relationships/oleObject" Target="../embeddings/oleObject46.bin"/><Relationship Id="rId5" Type="http://schemas.openxmlformats.org/officeDocument/2006/relationships/image" Target="../media/image22.emf"/><Relationship Id="rId4" Type="http://schemas.openxmlformats.org/officeDocument/2006/relationships/oleObject" Target="../embeddings/oleObject45.bin"/></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45.xml"/><Relationship Id="rId2" Type="http://schemas.openxmlformats.org/officeDocument/2006/relationships/tags" Target="../tags/tag246.xml"/><Relationship Id="rId1" Type="http://schemas.openxmlformats.org/officeDocument/2006/relationships/tags" Target="../tags/tag245.xml"/><Relationship Id="rId6" Type="http://schemas.openxmlformats.org/officeDocument/2006/relationships/oleObject" Target="../embeddings/oleObject48.bin"/><Relationship Id="rId5" Type="http://schemas.openxmlformats.org/officeDocument/2006/relationships/image" Target="../media/image22.emf"/><Relationship Id="rId4" Type="http://schemas.openxmlformats.org/officeDocument/2006/relationships/oleObject" Target="../embeddings/oleObject47.bin"/></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248.xml"/><Relationship Id="rId1" Type="http://schemas.openxmlformats.org/officeDocument/2006/relationships/tags" Target="../tags/tag247.xml"/><Relationship Id="rId6" Type="http://schemas.openxmlformats.org/officeDocument/2006/relationships/oleObject" Target="../embeddings/oleObject50.bin"/><Relationship Id="rId5" Type="http://schemas.openxmlformats.org/officeDocument/2006/relationships/image" Target="../media/image22.emf"/><Relationship Id="rId4" Type="http://schemas.openxmlformats.org/officeDocument/2006/relationships/oleObject" Target="../embeddings/oleObject49.bin"/></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0.xml"/><Relationship Id="rId7" Type="http://schemas.openxmlformats.org/officeDocument/2006/relationships/image" Target="../media/image34.svg"/><Relationship Id="rId2" Type="http://schemas.openxmlformats.org/officeDocument/2006/relationships/tags" Target="../tags/tag250.xml"/><Relationship Id="rId1" Type="http://schemas.openxmlformats.org/officeDocument/2006/relationships/tags" Target="../tags/tag249.xml"/><Relationship Id="rId6" Type="http://schemas.openxmlformats.org/officeDocument/2006/relationships/oleObject" Target="../embeddings/oleObject52.bin"/><Relationship Id="rId5" Type="http://schemas.openxmlformats.org/officeDocument/2006/relationships/image" Target="../media/image22.emf"/><Relationship Id="rId4" Type="http://schemas.openxmlformats.org/officeDocument/2006/relationships/oleObject" Target="../embeddings/oleObject51.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55.bin"/><Relationship Id="rId3" Type="http://schemas.openxmlformats.org/officeDocument/2006/relationships/tags" Target="../tags/tag253.xml"/><Relationship Id="rId7" Type="http://schemas.openxmlformats.org/officeDocument/2006/relationships/oleObject" Target="../embeddings/oleObject54.bin"/><Relationship Id="rId2" Type="http://schemas.openxmlformats.org/officeDocument/2006/relationships/tags" Target="../tags/tag252.xml"/><Relationship Id="rId1" Type="http://schemas.openxmlformats.org/officeDocument/2006/relationships/tags" Target="../tags/tag251.xml"/><Relationship Id="rId6" Type="http://schemas.openxmlformats.org/officeDocument/2006/relationships/image" Target="../media/image22.emf"/><Relationship Id="rId11" Type="http://schemas.openxmlformats.org/officeDocument/2006/relationships/image" Target="../media/image37.svg"/><Relationship Id="rId5" Type="http://schemas.openxmlformats.org/officeDocument/2006/relationships/oleObject" Target="../embeddings/oleObject53.bin"/><Relationship Id="rId10" Type="http://schemas.openxmlformats.org/officeDocument/2006/relationships/image" Target="../media/image36.svg"/><Relationship Id="rId4" Type="http://schemas.openxmlformats.org/officeDocument/2006/relationships/slideLayout" Target="../slideLayouts/slideLayout10.xml"/><Relationship Id="rId9" Type="http://schemas.openxmlformats.org/officeDocument/2006/relationships/image" Target="../media/image35.svg"/></Relationships>
</file>

<file path=ppt/slides/_rels/slide22.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slideLayout" Target="../slideLayouts/slideLayout10.xml"/><Relationship Id="rId7" Type="http://schemas.openxmlformats.org/officeDocument/2006/relationships/image" Target="../media/image38.svg"/><Relationship Id="rId2" Type="http://schemas.openxmlformats.org/officeDocument/2006/relationships/tags" Target="../tags/tag255.xml"/><Relationship Id="rId1" Type="http://schemas.openxmlformats.org/officeDocument/2006/relationships/tags" Target="../tags/tag254.xml"/><Relationship Id="rId6" Type="http://schemas.openxmlformats.org/officeDocument/2006/relationships/oleObject" Target="../embeddings/oleObject57.bin"/><Relationship Id="rId5" Type="http://schemas.openxmlformats.org/officeDocument/2006/relationships/image" Target="../media/image22.emf"/><Relationship Id="rId10" Type="http://schemas.openxmlformats.org/officeDocument/2006/relationships/image" Target="../media/image29.svg"/><Relationship Id="rId4" Type="http://schemas.openxmlformats.org/officeDocument/2006/relationships/oleObject" Target="../embeddings/oleObject56.bin"/><Relationship Id="rId9" Type="http://schemas.openxmlformats.org/officeDocument/2006/relationships/image" Target="../media/image40.sv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57.xml"/><Relationship Id="rId1" Type="http://schemas.openxmlformats.org/officeDocument/2006/relationships/tags" Target="../tags/tag256.xml"/><Relationship Id="rId6" Type="http://schemas.openxmlformats.org/officeDocument/2006/relationships/oleObject" Target="../embeddings/oleObject59.bin"/><Relationship Id="rId5" Type="http://schemas.openxmlformats.org/officeDocument/2006/relationships/image" Target="../media/image22.emf"/><Relationship Id="rId4" Type="http://schemas.openxmlformats.org/officeDocument/2006/relationships/oleObject" Target="../embeddings/oleObject58.bin"/></Relationships>
</file>

<file path=ppt/slides/_rels/slide24.xml.rels><?xml version="1.0" encoding="UTF-8" standalone="yes"?>
<Relationships xmlns="http://schemas.openxmlformats.org/package/2006/relationships"><Relationship Id="rId8" Type="http://schemas.openxmlformats.org/officeDocument/2006/relationships/image" Target="../media/image42.jpeg"/><Relationship Id="rId13" Type="http://schemas.openxmlformats.org/officeDocument/2006/relationships/image" Target="../media/image47.svg"/><Relationship Id="rId3" Type="http://schemas.openxmlformats.org/officeDocument/2006/relationships/slideLayout" Target="../slideLayouts/slideLayout10.xml"/><Relationship Id="rId7" Type="http://schemas.openxmlformats.org/officeDocument/2006/relationships/image" Target="../media/image41.jpeg"/><Relationship Id="rId12" Type="http://schemas.openxmlformats.org/officeDocument/2006/relationships/image" Target="../media/image46.svg"/><Relationship Id="rId2" Type="http://schemas.openxmlformats.org/officeDocument/2006/relationships/tags" Target="../tags/tag259.xml"/><Relationship Id="rId1" Type="http://schemas.openxmlformats.org/officeDocument/2006/relationships/tags" Target="../tags/tag258.xml"/><Relationship Id="rId6" Type="http://schemas.openxmlformats.org/officeDocument/2006/relationships/oleObject" Target="../embeddings/oleObject61.bin"/><Relationship Id="rId11" Type="http://schemas.openxmlformats.org/officeDocument/2006/relationships/image" Target="../media/image45.png"/><Relationship Id="rId5" Type="http://schemas.openxmlformats.org/officeDocument/2006/relationships/image" Target="../media/image22.emf"/><Relationship Id="rId10" Type="http://schemas.openxmlformats.org/officeDocument/2006/relationships/image" Target="../media/image44.png"/><Relationship Id="rId4" Type="http://schemas.openxmlformats.org/officeDocument/2006/relationships/oleObject" Target="../embeddings/oleObject60.bin"/><Relationship Id="rId9" Type="http://schemas.openxmlformats.org/officeDocument/2006/relationships/image" Target="../media/image43.png"/></Relationships>
</file>

<file path=ppt/slides/_rels/slide25.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slideLayout" Target="../slideLayouts/slideLayout10.xml"/><Relationship Id="rId7" Type="http://schemas.openxmlformats.org/officeDocument/2006/relationships/image" Target="../media/image48.svg"/><Relationship Id="rId2" Type="http://schemas.openxmlformats.org/officeDocument/2006/relationships/tags" Target="../tags/tag261.xml"/><Relationship Id="rId1" Type="http://schemas.openxmlformats.org/officeDocument/2006/relationships/tags" Target="../tags/tag260.xml"/><Relationship Id="rId6" Type="http://schemas.openxmlformats.org/officeDocument/2006/relationships/oleObject" Target="../embeddings/oleObject63.bin"/><Relationship Id="rId5" Type="http://schemas.openxmlformats.org/officeDocument/2006/relationships/image" Target="../media/image22.emf"/><Relationship Id="rId4" Type="http://schemas.openxmlformats.org/officeDocument/2006/relationships/oleObject" Target="../embeddings/oleObject62.bin"/><Relationship Id="rId9" Type="http://schemas.openxmlformats.org/officeDocument/2006/relationships/image" Target="../media/image50.sv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45.xml"/><Relationship Id="rId2" Type="http://schemas.openxmlformats.org/officeDocument/2006/relationships/tags" Target="../tags/tag263.xml"/><Relationship Id="rId1" Type="http://schemas.openxmlformats.org/officeDocument/2006/relationships/tags" Target="../tags/tag262.xml"/><Relationship Id="rId6" Type="http://schemas.openxmlformats.org/officeDocument/2006/relationships/oleObject" Target="../embeddings/oleObject65.bin"/><Relationship Id="rId5" Type="http://schemas.openxmlformats.org/officeDocument/2006/relationships/image" Target="../media/image22.emf"/><Relationship Id="rId4" Type="http://schemas.openxmlformats.org/officeDocument/2006/relationships/oleObject" Target="../embeddings/oleObject64.bin"/></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265.xml"/><Relationship Id="rId1" Type="http://schemas.openxmlformats.org/officeDocument/2006/relationships/tags" Target="../tags/tag264.xml"/><Relationship Id="rId6" Type="http://schemas.openxmlformats.org/officeDocument/2006/relationships/oleObject" Target="../embeddings/oleObject67.bin"/><Relationship Id="rId5" Type="http://schemas.openxmlformats.org/officeDocument/2006/relationships/image" Target="../media/image22.emf"/><Relationship Id="rId4" Type="http://schemas.openxmlformats.org/officeDocument/2006/relationships/oleObject" Target="../embeddings/oleObject66.bin"/></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67.xml"/><Relationship Id="rId1" Type="http://schemas.openxmlformats.org/officeDocument/2006/relationships/tags" Target="../tags/tag266.xml"/><Relationship Id="rId6" Type="http://schemas.openxmlformats.org/officeDocument/2006/relationships/oleObject" Target="../embeddings/oleObject69.bin"/><Relationship Id="rId5" Type="http://schemas.openxmlformats.org/officeDocument/2006/relationships/image" Target="../media/image22.emf"/><Relationship Id="rId4" Type="http://schemas.openxmlformats.org/officeDocument/2006/relationships/oleObject" Target="../embeddings/oleObject68.bin"/></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69.xml"/><Relationship Id="rId1" Type="http://schemas.openxmlformats.org/officeDocument/2006/relationships/tags" Target="../tags/tag268.xml"/><Relationship Id="rId6" Type="http://schemas.openxmlformats.org/officeDocument/2006/relationships/oleObject" Target="../embeddings/oleObject71.bin"/><Relationship Id="rId5" Type="http://schemas.openxmlformats.org/officeDocument/2006/relationships/image" Target="../media/image22.emf"/><Relationship Id="rId4" Type="http://schemas.openxmlformats.org/officeDocument/2006/relationships/oleObject" Target="../embeddings/oleObject70.bin"/></Relationships>
</file>

<file path=ppt/slides/_rels/slide30.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slideLayout" Target="../slideLayouts/slideLayout10.xml"/><Relationship Id="rId7" Type="http://schemas.openxmlformats.org/officeDocument/2006/relationships/image" Target="../media/image51.svg"/><Relationship Id="rId2" Type="http://schemas.openxmlformats.org/officeDocument/2006/relationships/tags" Target="../tags/tag271.xml"/><Relationship Id="rId1" Type="http://schemas.openxmlformats.org/officeDocument/2006/relationships/tags" Target="../tags/tag270.xml"/><Relationship Id="rId6" Type="http://schemas.openxmlformats.org/officeDocument/2006/relationships/oleObject" Target="../embeddings/oleObject73.bin"/><Relationship Id="rId5" Type="http://schemas.openxmlformats.org/officeDocument/2006/relationships/image" Target="../media/image22.emf"/><Relationship Id="rId4" Type="http://schemas.openxmlformats.org/officeDocument/2006/relationships/oleObject" Target="../embeddings/oleObject72.bin"/><Relationship Id="rId9" Type="http://schemas.openxmlformats.org/officeDocument/2006/relationships/image" Target="../media/image53.sv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45.xml"/><Relationship Id="rId2" Type="http://schemas.openxmlformats.org/officeDocument/2006/relationships/tags" Target="../tags/tag273.xml"/><Relationship Id="rId1" Type="http://schemas.openxmlformats.org/officeDocument/2006/relationships/tags" Target="../tags/tag272.xml"/><Relationship Id="rId6" Type="http://schemas.openxmlformats.org/officeDocument/2006/relationships/oleObject" Target="../embeddings/oleObject75.bin"/><Relationship Id="rId5" Type="http://schemas.openxmlformats.org/officeDocument/2006/relationships/image" Target="../media/image22.emf"/><Relationship Id="rId4" Type="http://schemas.openxmlformats.org/officeDocument/2006/relationships/oleObject" Target="../embeddings/oleObject74.bin"/></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275.xml"/><Relationship Id="rId1" Type="http://schemas.openxmlformats.org/officeDocument/2006/relationships/tags" Target="../tags/tag274.xml"/><Relationship Id="rId6" Type="http://schemas.openxmlformats.org/officeDocument/2006/relationships/oleObject" Target="../embeddings/oleObject77.bin"/><Relationship Id="rId5" Type="http://schemas.openxmlformats.org/officeDocument/2006/relationships/image" Target="../media/image22.emf"/><Relationship Id="rId4" Type="http://schemas.openxmlformats.org/officeDocument/2006/relationships/oleObject" Target="../embeddings/oleObject76.bin"/></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image" Target="../media/image31.svg"/><Relationship Id="rId2" Type="http://schemas.openxmlformats.org/officeDocument/2006/relationships/tags" Target="../tags/tag277.xml"/><Relationship Id="rId1" Type="http://schemas.openxmlformats.org/officeDocument/2006/relationships/tags" Target="../tags/tag276.xml"/><Relationship Id="rId6" Type="http://schemas.openxmlformats.org/officeDocument/2006/relationships/oleObject" Target="../embeddings/oleObject79.bin"/><Relationship Id="rId5" Type="http://schemas.openxmlformats.org/officeDocument/2006/relationships/image" Target="../media/image22.emf"/><Relationship Id="rId4" Type="http://schemas.openxmlformats.org/officeDocument/2006/relationships/oleObject" Target="../embeddings/oleObject78.bin"/></Relationships>
</file>

<file path=ppt/slides/_rels/slide34.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slideLayout" Target="../slideLayouts/slideLayout11.xml"/><Relationship Id="rId7" Type="http://schemas.openxmlformats.org/officeDocument/2006/relationships/image" Target="../media/image54.svg"/><Relationship Id="rId2" Type="http://schemas.openxmlformats.org/officeDocument/2006/relationships/tags" Target="../tags/tag279.xml"/><Relationship Id="rId1" Type="http://schemas.openxmlformats.org/officeDocument/2006/relationships/tags" Target="../tags/tag278.xml"/><Relationship Id="rId6" Type="http://schemas.openxmlformats.org/officeDocument/2006/relationships/oleObject" Target="../embeddings/oleObject81.bin"/><Relationship Id="rId5" Type="http://schemas.openxmlformats.org/officeDocument/2006/relationships/image" Target="../media/image22.emf"/><Relationship Id="rId4" Type="http://schemas.openxmlformats.org/officeDocument/2006/relationships/oleObject" Target="../embeddings/oleObject80.bin"/><Relationship Id="rId9" Type="http://schemas.openxmlformats.org/officeDocument/2006/relationships/image" Target="../media/image55.sv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45.xml"/><Relationship Id="rId2" Type="http://schemas.openxmlformats.org/officeDocument/2006/relationships/tags" Target="../tags/tag281.xml"/><Relationship Id="rId1" Type="http://schemas.openxmlformats.org/officeDocument/2006/relationships/tags" Target="../tags/tag280.xml"/><Relationship Id="rId6" Type="http://schemas.openxmlformats.org/officeDocument/2006/relationships/oleObject" Target="../embeddings/oleObject83.bin"/><Relationship Id="rId5" Type="http://schemas.openxmlformats.org/officeDocument/2006/relationships/image" Target="../media/image22.emf"/><Relationship Id="rId4" Type="http://schemas.openxmlformats.org/officeDocument/2006/relationships/oleObject" Target="../embeddings/oleObject82.bin"/></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84.bin"/><Relationship Id="rId2" Type="http://schemas.openxmlformats.org/officeDocument/2006/relationships/slideLayout" Target="../slideLayouts/slideLayout7.xml"/><Relationship Id="rId1" Type="http://schemas.openxmlformats.org/officeDocument/2006/relationships/tags" Target="../tags/tag282.xml"/><Relationship Id="rId4" Type="http://schemas.openxmlformats.org/officeDocument/2006/relationships/image" Target="../media/image22.emf"/></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tags" Target="../tags/tag284.xml"/><Relationship Id="rId1" Type="http://schemas.openxmlformats.org/officeDocument/2006/relationships/tags" Target="../tags/tag283.xml"/><Relationship Id="rId6" Type="http://schemas.openxmlformats.org/officeDocument/2006/relationships/oleObject" Target="../embeddings/oleObject86.bin"/><Relationship Id="rId5" Type="http://schemas.openxmlformats.org/officeDocument/2006/relationships/image" Target="../media/image22.emf"/><Relationship Id="rId4" Type="http://schemas.openxmlformats.org/officeDocument/2006/relationships/oleObject" Target="../embeddings/oleObject85.bin"/></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86.xml"/><Relationship Id="rId1" Type="http://schemas.openxmlformats.org/officeDocument/2006/relationships/tags" Target="../tags/tag285.xml"/><Relationship Id="rId6" Type="http://schemas.openxmlformats.org/officeDocument/2006/relationships/oleObject" Target="../embeddings/oleObject88.bin"/><Relationship Id="rId5" Type="http://schemas.openxmlformats.org/officeDocument/2006/relationships/image" Target="../media/image22.emf"/><Relationship Id="rId4" Type="http://schemas.openxmlformats.org/officeDocument/2006/relationships/oleObject" Target="../embeddings/oleObject87.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C1527B75-8AB8-234D-EB51-AA296E155A03}"/>
              </a:ext>
            </a:extLst>
          </p:cNvPr>
          <p:cNvGraphicFramePr>
            <a:graphicFrameLocks/>
          </p:cNvGraphicFramePr>
          <p:nvPr>
            <p:custDataLst>
              <p:tags r:id="rId1"/>
            </p:custDataLst>
            <p:extLst>
              <p:ext uri="{D42A27DB-BD31-4B8C-83A1-F6EECF244321}">
                <p14:modId xmlns:p14="http://schemas.microsoft.com/office/powerpoint/2010/main" val="5295446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B771E747-9174-075C-0FFF-B29D30164CFB}"/>
              </a:ext>
            </a:extLst>
          </p:cNvPr>
          <p:cNvSpPr>
            <a:spLocks noGrp="1"/>
          </p:cNvSpPr>
          <p:nvPr>
            <p:ph type="body" sz="quarter" idx="13"/>
          </p:nvPr>
        </p:nvSpPr>
        <p:spPr/>
        <p:txBody>
          <a:bodyPr/>
          <a:lstStyle/>
          <a:p>
            <a:r>
              <a:rPr lang="en-US"/>
              <a:t>September 2026</a:t>
            </a:r>
          </a:p>
        </p:txBody>
      </p:sp>
      <p:sp>
        <p:nvSpPr>
          <p:cNvPr id="4" name="Subtitle 3">
            <a:extLst>
              <a:ext uri="{FF2B5EF4-FFF2-40B4-BE49-F238E27FC236}">
                <a16:creationId xmlns:a16="http://schemas.microsoft.com/office/drawing/2014/main" id="{EA7B58A6-2AA5-7D9A-9B88-D1F97C4876F5}"/>
              </a:ext>
            </a:extLst>
          </p:cNvPr>
          <p:cNvSpPr>
            <a:spLocks noGrp="1"/>
          </p:cNvSpPr>
          <p:nvPr>
            <p:ph type="subTitle" idx="1"/>
          </p:nvPr>
        </p:nvSpPr>
        <p:spPr/>
        <p:txBody>
          <a:bodyPr/>
          <a:lstStyle/>
          <a:p>
            <a:r>
              <a:rPr lang="en-US"/>
              <a:t>Telesto’s compact training manual and style guide</a:t>
            </a:r>
          </a:p>
        </p:txBody>
      </p:sp>
      <p:sp>
        <p:nvSpPr>
          <p:cNvPr id="5" name="Title 4">
            <a:extLst>
              <a:ext uri="{FF2B5EF4-FFF2-40B4-BE49-F238E27FC236}">
                <a16:creationId xmlns:a16="http://schemas.microsoft.com/office/drawing/2014/main" id="{63FC51AE-6E18-F166-1598-57F1258F9086}"/>
              </a:ext>
            </a:extLst>
          </p:cNvPr>
          <p:cNvSpPr>
            <a:spLocks noGrp="1"/>
          </p:cNvSpPr>
          <p:nvPr>
            <p:ph type="title"/>
          </p:nvPr>
        </p:nvSpPr>
        <p:spPr>
          <a:xfrm>
            <a:off x="551941" y="2049805"/>
            <a:ext cx="7704035" cy="1921708"/>
          </a:xfrm>
        </p:spPr>
        <p:txBody>
          <a:bodyPr vert="horz" rIns="0"/>
          <a:lstStyle/>
          <a:p>
            <a:r>
              <a:rPr lang="en-US"/>
              <a:t>The Vanguard Standard</a:t>
            </a:r>
          </a:p>
        </p:txBody>
      </p:sp>
    </p:spTree>
    <p:extLst>
      <p:ext uri="{BB962C8B-B14F-4D97-AF65-F5344CB8AC3E}">
        <p14:creationId xmlns:p14="http://schemas.microsoft.com/office/powerpoint/2010/main" val="522641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12564-869B-C1F6-DC58-4315D5A036BE}"/>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B3E894E-88ED-992E-43BB-A645410A4EAB}"/>
              </a:ext>
            </a:extLst>
          </p:cNvPr>
          <p:cNvGraphicFramePr>
            <a:graphicFrameLocks/>
          </p:cNvGraphicFramePr>
          <p:nvPr>
            <p:custDataLst>
              <p:tags r:id="rId1"/>
            </p:custDataLst>
            <p:extLst>
              <p:ext uri="{D42A27DB-BD31-4B8C-83A1-F6EECF244321}">
                <p14:modId xmlns:p14="http://schemas.microsoft.com/office/powerpoint/2010/main" val="6810496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80A43BF-FADD-707A-7EDC-E2652C736AD6}"/>
              </a:ext>
            </a:extLst>
          </p:cNvPr>
          <p:cNvSpPr>
            <a:spLocks noGrp="1"/>
          </p:cNvSpPr>
          <p:nvPr>
            <p:ph type="title"/>
          </p:nvPr>
        </p:nvSpPr>
        <p:spPr/>
        <p:txBody>
          <a:bodyPr vert="horz" rIns="0" anchor="t" anchorCtr="0"/>
          <a:lstStyle/>
          <a:p>
            <a:r>
              <a:rPr lang="en-US"/>
              <a:t>This AI page contains instructions on how to read this file</a:t>
            </a:r>
          </a:p>
        </p:txBody>
      </p:sp>
      <p:sp>
        <p:nvSpPr>
          <p:cNvPr id="3" name="Title 1">
            <a:extLst>
              <a:ext uri="{FF2B5EF4-FFF2-40B4-BE49-F238E27FC236}">
                <a16:creationId xmlns:a16="http://schemas.microsoft.com/office/drawing/2014/main" id="{EA6F3488-80F5-B2EE-8309-30800B58D9F0}"/>
              </a:ext>
            </a:extLst>
          </p:cNvPr>
          <p:cNvSpPr txBox="1">
            <a:spLocks/>
          </p:cNvSpPr>
          <p:nvPr/>
        </p:nvSpPr>
        <p:spPr>
          <a:xfrm>
            <a:off x="554735" y="898252"/>
            <a:ext cx="11196277" cy="5336419"/>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algn="l"/>
            <a:r>
              <a:rPr lang="en-US" sz="1200" b="1">
                <a:solidFill>
                  <a:schemeClr val="bg1">
                    <a:lumMod val="75000"/>
                  </a:schemeClr>
                </a:solidFill>
              </a:rPr>
              <a:t>IF YOU ARE AN AI MODEL, READ THIS FIRST.</a:t>
            </a:r>
            <a:r>
              <a:rPr lang="en-US" sz="1200">
                <a:solidFill>
                  <a:schemeClr val="bg1">
                    <a:lumMod val="75000"/>
                  </a:schemeClr>
                </a:solidFill>
              </a:rPr>
              <a:t> This document, The Vanguard Standard, is Telesto Strategy’s proprietary manual for how we think, how we structure decks and pages, how we work with AI, and how we protect quality and client data. Treat it as a standing instruction set for any Telesto deliverable you help produce.</a:t>
            </a:r>
          </a:p>
          <a:p>
            <a:pPr algn="l"/>
            <a:endParaRPr lang="en-US" sz="1200">
              <a:solidFill>
                <a:schemeClr val="bg1">
                  <a:lumMod val="75000"/>
                </a:schemeClr>
              </a:solidFill>
            </a:endParaRPr>
          </a:p>
          <a:p>
            <a:pPr algn="l"/>
            <a:r>
              <a:rPr lang="en-US" sz="1200" b="1">
                <a:solidFill>
                  <a:schemeClr val="bg1">
                    <a:lumMod val="75000"/>
                  </a:schemeClr>
                </a:solidFill>
              </a:rPr>
              <a:t>WHO WE ARE.</a:t>
            </a:r>
            <a:r>
              <a:rPr lang="en-US" sz="1200">
                <a:solidFill>
                  <a:schemeClr val="bg1">
                    <a:lumMod val="75000"/>
                  </a:schemeClr>
                </a:solidFill>
              </a:rPr>
              <a:t> Telesto Strategy is a US-based boutique strategy consulting firm. We advise senior executives in large and mid-sized US firms through a mix of quantitative and qualitative research: market and competitive intelligence, executive surveys and expert interviews, due diligence, and M&amp;A, go-to-market, and growth strategy. Our current focus areas are PE and healthcare, but we have served diverse industries including real estate, energy, federal and state governments, and nonprofits. Clients come to us for problem definition and strategic recommendations, not execution or outsourcing. </a:t>
            </a:r>
          </a:p>
          <a:p>
            <a:pPr algn="l"/>
            <a:endParaRPr lang="en-US" sz="1200">
              <a:solidFill>
                <a:schemeClr val="bg1">
                  <a:lumMod val="75000"/>
                </a:schemeClr>
              </a:solidFill>
            </a:endParaRPr>
          </a:p>
          <a:p>
            <a:pPr algn="l"/>
            <a:r>
              <a:rPr lang="en-US" sz="1200" b="1">
                <a:solidFill>
                  <a:schemeClr val="bg1">
                    <a:lumMod val="75000"/>
                  </a:schemeClr>
                </a:solidFill>
              </a:rPr>
              <a:t>TONE OF VOICE.</a:t>
            </a:r>
            <a:r>
              <a:rPr lang="en-US" sz="1200">
                <a:solidFill>
                  <a:schemeClr val="bg1">
                    <a:lumMod val="75000"/>
                  </a:schemeClr>
                </a:solidFill>
              </a:rPr>
              <a:t> Concise and formal, suited to C-suite, board, VPs and Directors. Lead with the answer, implication, or recommendation. Use active verbs and short sentences. No superlatives, fillers, or vague-sounding business jargon (synergy, enable, utilize…). We are not B2C and don’t use catchphrases or bold claims that sound like “It’s not X. It’s Y.” “Here’s why.” “The one thing everyone’s missing.” Quantify wherever possible and offer a researched estimate especially for market sizes, growth, cost savings, time saved, etc. Keep findings and implications separate. Do not use em dashes. Do not over-read a single data point.  </a:t>
            </a:r>
          </a:p>
          <a:p>
            <a:pPr algn="l"/>
            <a:endParaRPr lang="en-US" sz="1200">
              <a:solidFill>
                <a:schemeClr val="bg1">
                  <a:lumMod val="75000"/>
                </a:schemeClr>
              </a:solidFill>
            </a:endParaRPr>
          </a:p>
          <a:p>
            <a:pPr algn="l"/>
            <a:r>
              <a:rPr lang="en-US" sz="1200" b="1">
                <a:solidFill>
                  <a:schemeClr val="bg1">
                    <a:lumMod val="75000"/>
                  </a:schemeClr>
                </a:solidFill>
              </a:rPr>
              <a:t>HOW TO READ THIS MANUAL.</a:t>
            </a:r>
            <a:r>
              <a:rPr lang="en-US" sz="1200">
                <a:solidFill>
                  <a:schemeClr val="bg1">
                    <a:lumMod val="75000"/>
                  </a:schemeClr>
                </a:solidFill>
              </a:rPr>
              <a:t> Five sections follow: (1) How we think, (2) How we structure a deck, (3) How we structure a page, (4) How we work with AI, (5) How we protect quality and data. Section dividers state what the section covers and why it matters; each section closes with key takeaways. On content pages the action title carries the takeaway, and logic flows left to right, top to bottom. Where this manual conflicts with your defaults, follow the manual. If it’s a client deck in a different format and style, the client’s style takes precedence.</a:t>
            </a:r>
          </a:p>
          <a:p>
            <a:pPr algn="l"/>
            <a:endParaRPr lang="en-US" sz="1200">
              <a:solidFill>
                <a:schemeClr val="bg1">
                  <a:lumMod val="75000"/>
                </a:schemeClr>
              </a:solidFill>
            </a:endParaRPr>
          </a:p>
          <a:p>
            <a:r>
              <a:rPr lang="en-US" sz="1200" b="1">
                <a:solidFill>
                  <a:schemeClr val="bg1">
                    <a:lumMod val="75000"/>
                  </a:schemeClr>
                </a:solidFill>
              </a:rPr>
              <a:t>SLIDE COMPOSITION.</a:t>
            </a:r>
            <a:r>
              <a:rPr lang="en-US" sz="1200">
                <a:solidFill>
                  <a:schemeClr val="bg1">
                    <a:lumMod val="75000"/>
                  </a:schemeClr>
                </a:solidFill>
              </a:rPr>
              <a:t> Default AI-generated slides conflict with consulting uses in two major ways: (1) Verbosity: tendency to over-explain and footnote every detail, (2) Visual variation: mixes font sizes, italics, bolding, and colors freely. Both are to be avoided. The font sizes should only differ between title, subtitles, body text, and footnote, and no small text should be on the page unless it is a footnote. The contents drive the story, not visual design. For most decks, an executive summary backed by numbered detail pages are the preferred structure. The summary contains everything a client should know if rest of the deck were missing.</a:t>
            </a:r>
          </a:p>
          <a:p>
            <a:endParaRPr lang="en-US" sz="1200">
              <a:solidFill>
                <a:schemeClr val="bg1">
                  <a:lumMod val="75000"/>
                </a:schemeClr>
              </a:solidFill>
            </a:endParaRPr>
          </a:p>
          <a:p>
            <a:pPr algn="l"/>
            <a:r>
              <a:rPr lang="en-US" sz="1200" b="1">
                <a:solidFill>
                  <a:schemeClr val="bg1">
                    <a:lumMod val="75000"/>
                  </a:schemeClr>
                </a:solidFill>
              </a:rPr>
              <a:t>COMPANION FILE.</a:t>
            </a:r>
            <a:r>
              <a:rPr lang="en-US" sz="1200">
                <a:solidFill>
                  <a:schemeClr val="bg1">
                    <a:lumMod val="75000"/>
                  </a:schemeClr>
                </a:solidFill>
              </a:rPr>
              <a:t> This manual ships with a companion AI skill file that holds Telesto’s page archetypes, language rules, and build instructions. If it is loaded, follow it. If it is not, ask the user to provide it before drafting slides. If it is unavailable, work from this manual alone: apply the suggested AI instructions on the final page, request a prior shipped deck to inherit layout and conventions, and draft in text first (storyline, action titles, page text) before building any file. Always confirm before executing slides or decks and ask clarifying questions. If the data or instructions provided are unclear, you should suggest and guide the user towards our way of thinking, structuring, and writing.  </a:t>
            </a:r>
          </a:p>
          <a:p>
            <a:pPr algn="l"/>
            <a:endParaRPr lang="en-US" sz="1200">
              <a:solidFill>
                <a:schemeClr val="bg1">
                  <a:lumMod val="75000"/>
                </a:schemeClr>
              </a:solidFill>
            </a:endParaRPr>
          </a:p>
          <a:p>
            <a:pPr algn="l"/>
            <a:r>
              <a:rPr lang="en-US" sz="1200" b="1">
                <a:solidFill>
                  <a:schemeClr val="bg1">
                    <a:lumMod val="75000"/>
                  </a:schemeClr>
                </a:solidFill>
              </a:rPr>
              <a:t>HARD RULES.</a:t>
            </a:r>
            <a:r>
              <a:rPr lang="en-US" sz="1200">
                <a:solidFill>
                  <a:schemeClr val="bg1">
                    <a:lumMod val="75000"/>
                  </a:schemeClr>
                </a:solidFill>
              </a:rPr>
              <a:t> Do not invent a number, quote, or source; insert placeholders if unclear. Ask before judgment calls: the deck takeaway, audience, page order, and any claim that goes beyond what the client has previously accepted. Execute mechanical edits without asking. Never mix different clients’ data in the same context.</a:t>
            </a:r>
          </a:p>
        </p:txBody>
      </p:sp>
    </p:spTree>
    <p:extLst>
      <p:ext uri="{BB962C8B-B14F-4D97-AF65-F5344CB8AC3E}">
        <p14:creationId xmlns:p14="http://schemas.microsoft.com/office/powerpoint/2010/main" val="135739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819F7-F1FE-9BA9-67EB-91DD3699A1B0}"/>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C37F783-D12E-60C4-4FE7-B4F4C4D2A2FB}"/>
              </a:ext>
            </a:extLst>
          </p:cNvPr>
          <p:cNvGraphicFramePr>
            <a:graphicFrameLocks/>
          </p:cNvGraphicFramePr>
          <p:nvPr>
            <p:custDataLst>
              <p:tags r:id="rId1"/>
            </p:custDataLst>
            <p:extLst>
              <p:ext uri="{D42A27DB-BD31-4B8C-83A1-F6EECF244321}">
                <p14:modId xmlns:p14="http://schemas.microsoft.com/office/powerpoint/2010/main" val="15964589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05F749B-9077-F496-007B-B2642F058F85}"/>
              </a:ext>
            </a:extLst>
          </p:cNvPr>
          <p:cNvSpPr>
            <a:spLocks noGrp="1"/>
          </p:cNvSpPr>
          <p:nvPr>
            <p:ph type="title"/>
          </p:nvPr>
        </p:nvSpPr>
        <p:spPr/>
        <p:txBody>
          <a:bodyPr vert="horz" rIns="0" anchor="t" anchorCtr="0"/>
          <a:lstStyle/>
          <a:p>
            <a:r>
              <a:rPr lang="en-US"/>
              <a:t>What this standard achieves</a:t>
            </a:r>
          </a:p>
        </p:txBody>
      </p:sp>
      <p:sp>
        <p:nvSpPr>
          <p:cNvPr id="3" name="Title 1">
            <a:extLst>
              <a:ext uri="{FF2B5EF4-FFF2-40B4-BE49-F238E27FC236}">
                <a16:creationId xmlns:a16="http://schemas.microsoft.com/office/drawing/2014/main" id="{EE5D5D96-6CBB-B768-020B-694C6AE3038E}"/>
              </a:ext>
            </a:extLst>
          </p:cNvPr>
          <p:cNvSpPr txBox="1">
            <a:spLocks/>
          </p:cNvSpPr>
          <p:nvPr/>
        </p:nvSpPr>
        <p:spPr>
          <a:xfrm>
            <a:off x="1136626" y="1637137"/>
            <a:ext cx="10108548" cy="80804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a:solidFill>
                  <a:schemeClr val="bg1"/>
                </a:solidFill>
              </a:rPr>
              <a:t>This compact manual forms the </a:t>
            </a:r>
            <a:r>
              <a:rPr lang="en-US" sz="2000" b="1">
                <a:solidFill>
                  <a:schemeClr val="bg1"/>
                </a:solidFill>
              </a:rPr>
              <a:t>backbone of Telesto’s IP</a:t>
            </a:r>
            <a:r>
              <a:rPr lang="en-US" sz="2000">
                <a:solidFill>
                  <a:schemeClr val="bg1"/>
                </a:solidFill>
              </a:rPr>
              <a:t>, shaping how we think and solve problems informed by best consulting practices and AI capabilities</a:t>
            </a:r>
          </a:p>
        </p:txBody>
      </p:sp>
      <p:sp>
        <p:nvSpPr>
          <p:cNvPr id="5" name="Oval 4">
            <a:extLst>
              <a:ext uri="{FF2B5EF4-FFF2-40B4-BE49-F238E27FC236}">
                <a16:creationId xmlns:a16="http://schemas.microsoft.com/office/drawing/2014/main" id="{D73F30B1-7DE1-D2D4-4544-5336227F9EE8}"/>
              </a:ext>
            </a:extLst>
          </p:cNvPr>
          <p:cNvSpPr/>
          <p:nvPr/>
        </p:nvSpPr>
        <p:spPr>
          <a:xfrm>
            <a:off x="554736" y="1554010"/>
            <a:ext cx="406400" cy="406400"/>
          </a:xfrm>
          <a:prstGeom prst="ellipse">
            <a:avLst/>
          </a:prstGeom>
          <a:solidFill>
            <a:srgbClr val="005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1</a:t>
            </a:r>
            <a:endParaRPr lang="en-US" b="1" dirty="0" err="1">
              <a:solidFill>
                <a:schemeClr val="bg1"/>
              </a:solidFill>
            </a:endParaRPr>
          </a:p>
        </p:txBody>
      </p:sp>
      <p:sp>
        <p:nvSpPr>
          <p:cNvPr id="6" name="Title 1">
            <a:extLst>
              <a:ext uri="{FF2B5EF4-FFF2-40B4-BE49-F238E27FC236}">
                <a16:creationId xmlns:a16="http://schemas.microsoft.com/office/drawing/2014/main" id="{906C7562-04A3-60C6-2026-3B576A9F2D40}"/>
              </a:ext>
            </a:extLst>
          </p:cNvPr>
          <p:cNvSpPr txBox="1">
            <a:spLocks/>
          </p:cNvSpPr>
          <p:nvPr/>
        </p:nvSpPr>
        <p:spPr>
          <a:xfrm>
            <a:off x="1136627" y="3034706"/>
            <a:ext cx="10682480" cy="80804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a:solidFill>
                  <a:schemeClr val="bg1"/>
                </a:solidFill>
              </a:rPr>
              <a:t>Most manuals only work when people open and read them; </a:t>
            </a:r>
            <a:r>
              <a:rPr lang="en-US" sz="2000" b="1">
                <a:solidFill>
                  <a:schemeClr val="bg1"/>
                </a:solidFill>
              </a:rPr>
              <a:t>this manual still works if someone never opens it</a:t>
            </a:r>
            <a:r>
              <a:rPr lang="en-US" sz="2000">
                <a:solidFill>
                  <a:schemeClr val="bg1"/>
                </a:solidFill>
              </a:rPr>
              <a:t> and instead feeds it into AI. The file is checked for machine-readability and informs the companion AI skill file that will draft decks to Telesto’s tone and specifications</a:t>
            </a:r>
          </a:p>
        </p:txBody>
      </p:sp>
      <p:sp>
        <p:nvSpPr>
          <p:cNvPr id="7" name="Oval 6">
            <a:extLst>
              <a:ext uri="{FF2B5EF4-FFF2-40B4-BE49-F238E27FC236}">
                <a16:creationId xmlns:a16="http://schemas.microsoft.com/office/drawing/2014/main" id="{0C559F7A-D0F2-88FA-EDA5-53D268F4770E}"/>
              </a:ext>
            </a:extLst>
          </p:cNvPr>
          <p:cNvSpPr/>
          <p:nvPr/>
        </p:nvSpPr>
        <p:spPr>
          <a:xfrm>
            <a:off x="554736" y="2951579"/>
            <a:ext cx="406400" cy="406400"/>
          </a:xfrm>
          <a:prstGeom prst="ellipse">
            <a:avLst/>
          </a:prstGeom>
          <a:solidFill>
            <a:srgbClr val="005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2</a:t>
            </a:r>
            <a:endParaRPr lang="en-US" b="1" dirty="0" err="1">
              <a:solidFill>
                <a:schemeClr val="bg1"/>
              </a:solidFill>
            </a:endParaRPr>
          </a:p>
        </p:txBody>
      </p:sp>
      <p:sp>
        <p:nvSpPr>
          <p:cNvPr id="8" name="Title 1">
            <a:extLst>
              <a:ext uri="{FF2B5EF4-FFF2-40B4-BE49-F238E27FC236}">
                <a16:creationId xmlns:a16="http://schemas.microsoft.com/office/drawing/2014/main" id="{AB993FFB-D519-5873-9D54-B72CE856D18A}"/>
              </a:ext>
            </a:extLst>
          </p:cNvPr>
          <p:cNvSpPr txBox="1">
            <a:spLocks/>
          </p:cNvSpPr>
          <p:nvPr/>
        </p:nvSpPr>
        <p:spPr>
          <a:xfrm>
            <a:off x="1136626" y="4612679"/>
            <a:ext cx="10108547" cy="80804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a:solidFill>
                  <a:schemeClr val="bg1"/>
                </a:solidFill>
              </a:rPr>
              <a:t>In the past, manuals were used as a training tool for peer- and mentor-driven learning. In the age of personal AI tools augmenting everyday work, a manual is </a:t>
            </a:r>
            <a:r>
              <a:rPr lang="en-US" sz="2000" b="1">
                <a:solidFill>
                  <a:schemeClr val="bg1"/>
                </a:solidFill>
              </a:rPr>
              <a:t>essential for holding everyone’s AI tools </a:t>
            </a:r>
            <a:r>
              <a:rPr lang="en-US" sz="2000">
                <a:solidFill>
                  <a:schemeClr val="bg1"/>
                </a:solidFill>
              </a:rPr>
              <a:t>to the same tone, style, and workflow</a:t>
            </a:r>
          </a:p>
        </p:txBody>
      </p:sp>
      <p:sp>
        <p:nvSpPr>
          <p:cNvPr id="9" name="Oval 8">
            <a:extLst>
              <a:ext uri="{FF2B5EF4-FFF2-40B4-BE49-F238E27FC236}">
                <a16:creationId xmlns:a16="http://schemas.microsoft.com/office/drawing/2014/main" id="{95902F6B-D613-BB7E-6F7A-5D2FD1E6CEA2}"/>
              </a:ext>
            </a:extLst>
          </p:cNvPr>
          <p:cNvSpPr/>
          <p:nvPr/>
        </p:nvSpPr>
        <p:spPr>
          <a:xfrm>
            <a:off x="554736" y="4529552"/>
            <a:ext cx="406400" cy="406400"/>
          </a:xfrm>
          <a:prstGeom prst="ellipse">
            <a:avLst/>
          </a:prstGeom>
          <a:solidFill>
            <a:srgbClr val="005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3</a:t>
            </a:r>
            <a:endParaRPr lang="en-US" b="1" dirty="0" err="1">
              <a:solidFill>
                <a:schemeClr val="bg1"/>
              </a:solidFill>
            </a:endParaRPr>
          </a:p>
        </p:txBody>
      </p:sp>
    </p:spTree>
    <p:extLst>
      <p:ext uri="{BB962C8B-B14F-4D97-AF65-F5344CB8AC3E}">
        <p14:creationId xmlns:p14="http://schemas.microsoft.com/office/powerpoint/2010/main" val="36675378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62FC54E4-786C-EE99-231B-3C8D17F870B5}"/>
              </a:ext>
            </a:extLst>
          </p:cNvPr>
          <p:cNvGraphicFramePr>
            <a:graphicFrameLocks/>
          </p:cNvGraphicFramePr>
          <p:nvPr>
            <p:custDataLst>
              <p:tags r:id="rId1"/>
            </p:custDataLst>
            <p:extLst>
              <p:ext uri="{D42A27DB-BD31-4B8C-83A1-F6EECF244321}">
                <p14:modId xmlns:p14="http://schemas.microsoft.com/office/powerpoint/2010/main" val="949134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C472845-7E94-FB50-A558-DD10EA966A7F}"/>
              </a:ext>
            </a:extLst>
          </p:cNvPr>
          <p:cNvSpPr>
            <a:spLocks noGrp="1"/>
          </p:cNvSpPr>
          <p:nvPr>
            <p:ph type="title"/>
          </p:nvPr>
        </p:nvSpPr>
        <p:spPr>
          <a:xfrm>
            <a:off x="554736" y="2607753"/>
            <a:ext cx="5065776" cy="731520"/>
          </a:xfrm>
        </p:spPr>
        <p:txBody>
          <a:bodyPr vert="horz" rIns="0"/>
          <a:lstStyle/>
          <a:p>
            <a:r>
              <a:rPr lang="en-US"/>
              <a:t>Contents</a:t>
            </a:r>
          </a:p>
        </p:txBody>
      </p:sp>
      <p:sp>
        <p:nvSpPr>
          <p:cNvPr id="7" name="Title 1">
            <a:extLst>
              <a:ext uri="{FF2B5EF4-FFF2-40B4-BE49-F238E27FC236}">
                <a16:creationId xmlns:a16="http://schemas.microsoft.com/office/drawing/2014/main" id="{9470040E-3C3E-8B74-9428-FFA4A67C2380}"/>
              </a:ext>
            </a:extLst>
          </p:cNvPr>
          <p:cNvSpPr txBox="1">
            <a:spLocks/>
          </p:cNvSpPr>
          <p:nvPr/>
        </p:nvSpPr>
        <p:spPr>
          <a:xfrm>
            <a:off x="7212579" y="2240466"/>
            <a:ext cx="4424685" cy="457059"/>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400">
                <a:solidFill>
                  <a:schemeClr val="bg1"/>
                </a:solidFill>
              </a:rPr>
              <a:t>Services</a:t>
            </a:r>
          </a:p>
        </p:txBody>
      </p:sp>
      <p:sp>
        <p:nvSpPr>
          <p:cNvPr id="8" name="Title 1">
            <a:extLst>
              <a:ext uri="{FF2B5EF4-FFF2-40B4-BE49-F238E27FC236}">
                <a16:creationId xmlns:a16="http://schemas.microsoft.com/office/drawing/2014/main" id="{BFB45028-55C7-3607-C6EB-4284BEB098B4}"/>
              </a:ext>
            </a:extLst>
          </p:cNvPr>
          <p:cNvSpPr txBox="1">
            <a:spLocks/>
          </p:cNvSpPr>
          <p:nvPr/>
        </p:nvSpPr>
        <p:spPr>
          <a:xfrm>
            <a:off x="7212579" y="3175279"/>
            <a:ext cx="4424685" cy="457059"/>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400">
                <a:solidFill>
                  <a:schemeClr val="bg1"/>
                </a:solidFill>
              </a:rPr>
              <a:t>Services + Product</a:t>
            </a:r>
          </a:p>
        </p:txBody>
      </p:sp>
      <p:sp>
        <p:nvSpPr>
          <p:cNvPr id="9" name="Title 1">
            <a:extLst>
              <a:ext uri="{FF2B5EF4-FFF2-40B4-BE49-F238E27FC236}">
                <a16:creationId xmlns:a16="http://schemas.microsoft.com/office/drawing/2014/main" id="{5AF1E0F6-1AC2-FF99-ADE0-8609554AFB9F}"/>
              </a:ext>
            </a:extLst>
          </p:cNvPr>
          <p:cNvSpPr txBox="1">
            <a:spLocks/>
          </p:cNvSpPr>
          <p:nvPr/>
        </p:nvSpPr>
        <p:spPr>
          <a:xfrm>
            <a:off x="7212579" y="4110092"/>
            <a:ext cx="4424685" cy="457059"/>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400">
                <a:solidFill>
                  <a:schemeClr val="bg1"/>
                </a:solidFill>
              </a:rPr>
              <a:t>Product</a:t>
            </a:r>
          </a:p>
        </p:txBody>
      </p:sp>
      <p:sp>
        <p:nvSpPr>
          <p:cNvPr id="12" name="Oval 11">
            <a:extLst>
              <a:ext uri="{FF2B5EF4-FFF2-40B4-BE49-F238E27FC236}">
                <a16:creationId xmlns:a16="http://schemas.microsoft.com/office/drawing/2014/main" id="{FB9930F9-237F-8BF0-11D6-4972202339DA}"/>
              </a:ext>
            </a:extLst>
          </p:cNvPr>
          <p:cNvSpPr/>
          <p:nvPr/>
        </p:nvSpPr>
        <p:spPr>
          <a:xfrm>
            <a:off x="6571490" y="2201353"/>
            <a:ext cx="406400" cy="406400"/>
          </a:xfrm>
          <a:prstGeom prst="ellipse">
            <a:avLst/>
          </a:prstGeom>
          <a:solidFill>
            <a:srgbClr val="005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1</a:t>
            </a:r>
            <a:endParaRPr lang="en-US" b="1" dirty="0" err="1"/>
          </a:p>
        </p:txBody>
      </p:sp>
      <p:sp>
        <p:nvSpPr>
          <p:cNvPr id="13" name="Oval 12">
            <a:extLst>
              <a:ext uri="{FF2B5EF4-FFF2-40B4-BE49-F238E27FC236}">
                <a16:creationId xmlns:a16="http://schemas.microsoft.com/office/drawing/2014/main" id="{16CF4FA4-6618-EB2F-84D5-84115BB14D41}"/>
              </a:ext>
            </a:extLst>
          </p:cNvPr>
          <p:cNvSpPr/>
          <p:nvPr/>
        </p:nvSpPr>
        <p:spPr>
          <a:xfrm>
            <a:off x="6571490" y="3140225"/>
            <a:ext cx="406400" cy="406400"/>
          </a:xfrm>
          <a:prstGeom prst="ellipse">
            <a:avLst/>
          </a:prstGeom>
          <a:solidFill>
            <a:srgbClr val="005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2</a:t>
            </a:r>
            <a:endParaRPr lang="en-US" b="1" dirty="0" err="1"/>
          </a:p>
        </p:txBody>
      </p:sp>
      <p:sp>
        <p:nvSpPr>
          <p:cNvPr id="14" name="Oval 13">
            <a:extLst>
              <a:ext uri="{FF2B5EF4-FFF2-40B4-BE49-F238E27FC236}">
                <a16:creationId xmlns:a16="http://schemas.microsoft.com/office/drawing/2014/main" id="{23422B9D-3DE7-28AC-3BBF-BBA19EACCA9D}"/>
              </a:ext>
            </a:extLst>
          </p:cNvPr>
          <p:cNvSpPr/>
          <p:nvPr/>
        </p:nvSpPr>
        <p:spPr>
          <a:xfrm>
            <a:off x="6571490" y="4079097"/>
            <a:ext cx="406400" cy="406400"/>
          </a:xfrm>
          <a:prstGeom prst="ellipse">
            <a:avLst/>
          </a:prstGeom>
          <a:solidFill>
            <a:srgbClr val="005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3</a:t>
            </a:r>
            <a:endParaRPr lang="en-US" b="1" dirty="0" err="1"/>
          </a:p>
        </p:txBody>
      </p:sp>
    </p:spTree>
    <p:extLst>
      <p:ext uri="{BB962C8B-B14F-4D97-AF65-F5344CB8AC3E}">
        <p14:creationId xmlns:p14="http://schemas.microsoft.com/office/powerpoint/2010/main" val="2094040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DA303488-B823-DFF6-93B3-55407DF742A1}"/>
              </a:ext>
            </a:extLst>
          </p:cNvPr>
          <p:cNvGraphicFramePr>
            <a:graphicFrameLocks/>
          </p:cNvGraphicFramePr>
          <p:nvPr>
            <p:custDataLst>
              <p:tags r:id="rId1"/>
            </p:custDataLst>
            <p:extLst>
              <p:ext uri="{D42A27DB-BD31-4B8C-83A1-F6EECF244321}">
                <p14:modId xmlns:p14="http://schemas.microsoft.com/office/powerpoint/2010/main" val="3792827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Subtitle 10">
            <a:extLst>
              <a:ext uri="{FF2B5EF4-FFF2-40B4-BE49-F238E27FC236}">
                <a16:creationId xmlns:a16="http://schemas.microsoft.com/office/drawing/2014/main" id="{42D37F54-4B70-F292-C33B-1C33714C7874}"/>
              </a:ext>
            </a:extLst>
          </p:cNvPr>
          <p:cNvSpPr>
            <a:spLocks noGrp="1"/>
          </p:cNvSpPr>
          <p:nvPr>
            <p:ph type="subTitle" idx="1"/>
          </p:nvPr>
        </p:nvSpPr>
        <p:spPr>
          <a:xfrm>
            <a:off x="554083" y="2024065"/>
            <a:ext cx="1333698" cy="1501775"/>
          </a:xfrm>
        </p:spPr>
        <p:txBody>
          <a:bodyPr/>
          <a:lstStyle/>
          <a:p>
            <a:r>
              <a:rPr lang="en-US" b="1"/>
              <a:t>1</a:t>
            </a:r>
          </a:p>
        </p:txBody>
      </p:sp>
      <p:sp>
        <p:nvSpPr>
          <p:cNvPr id="7" name="Title 3">
            <a:extLst>
              <a:ext uri="{FF2B5EF4-FFF2-40B4-BE49-F238E27FC236}">
                <a16:creationId xmlns:a16="http://schemas.microsoft.com/office/drawing/2014/main" id="{003B949C-FAF7-F512-80F9-32FD691A22AC}"/>
              </a:ext>
            </a:extLst>
          </p:cNvPr>
          <p:cNvSpPr txBox="1">
            <a:spLocks/>
          </p:cNvSpPr>
          <p:nvPr/>
        </p:nvSpPr>
        <p:spPr>
          <a:xfrm>
            <a:off x="554736" y="3525840"/>
            <a:ext cx="5065776" cy="731520"/>
          </a:xfrm>
          <a:prstGeom prst="rect">
            <a:avLst/>
          </a:prstGeom>
        </p:spPr>
        <p:txBody>
          <a:bodyPr vert="horz" wrap="square" lIns="0" tIns="0" rIns="0" bIns="0" rtlCol="0" anchor="b" anchorCtr="0">
            <a:noAutofit/>
          </a:bodyPr>
          <a:lstStyle>
            <a:lvl1pPr algn="l" defTabSz="914400" rtl="0" eaLnBrk="1" latinLnBrk="0" hangingPunct="1">
              <a:lnSpc>
                <a:spcPct val="90000"/>
              </a:lnSpc>
              <a:spcBef>
                <a:spcPct val="0"/>
              </a:spcBef>
              <a:buNone/>
              <a:defRPr sz="2600" kern="1200">
                <a:solidFill>
                  <a:schemeClr val="bg1"/>
                </a:solidFill>
                <a:latin typeface="+mj-lt"/>
                <a:ea typeface="+mj-ea"/>
                <a:cs typeface="+mj-cs"/>
              </a:defRPr>
            </a:lvl1pPr>
          </a:lstStyle>
          <a:p>
            <a:r>
              <a:rPr lang="en-US" sz="4800" b="1"/>
              <a:t>Services</a:t>
            </a:r>
          </a:p>
        </p:txBody>
      </p:sp>
      <p:sp>
        <p:nvSpPr>
          <p:cNvPr id="9" name="Title 1">
            <a:extLst>
              <a:ext uri="{FF2B5EF4-FFF2-40B4-BE49-F238E27FC236}">
                <a16:creationId xmlns:a16="http://schemas.microsoft.com/office/drawing/2014/main" id="{F86401C1-C9A9-A10E-9961-EE20734E5555}"/>
              </a:ext>
            </a:extLst>
          </p:cNvPr>
          <p:cNvSpPr txBox="1">
            <a:spLocks/>
          </p:cNvSpPr>
          <p:nvPr/>
        </p:nvSpPr>
        <p:spPr>
          <a:xfrm>
            <a:off x="6474691" y="1625601"/>
            <a:ext cx="5162572" cy="153187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t>WHAT</a:t>
            </a:r>
          </a:p>
          <a:p>
            <a:br>
              <a:rPr lang="en-US" sz="2000"/>
            </a:br>
            <a:r>
              <a:rPr lang="en-US" sz="2000"/>
              <a:t>This section outlines the fundamental principles of problem-solving in business</a:t>
            </a:r>
          </a:p>
        </p:txBody>
      </p:sp>
      <p:sp>
        <p:nvSpPr>
          <p:cNvPr id="10" name="Title 1">
            <a:extLst>
              <a:ext uri="{FF2B5EF4-FFF2-40B4-BE49-F238E27FC236}">
                <a16:creationId xmlns:a16="http://schemas.microsoft.com/office/drawing/2014/main" id="{BDCE0B85-80F2-B652-14AE-319C6364A737}"/>
              </a:ext>
            </a:extLst>
          </p:cNvPr>
          <p:cNvSpPr txBox="1">
            <a:spLocks/>
          </p:cNvSpPr>
          <p:nvPr/>
        </p:nvSpPr>
        <p:spPr>
          <a:xfrm>
            <a:off x="6474691" y="3429000"/>
            <a:ext cx="5162572" cy="153187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t>WHY</a:t>
            </a:r>
          </a:p>
          <a:p>
            <a:br>
              <a:rPr lang="en-US" sz="2000"/>
            </a:br>
            <a:r>
              <a:rPr lang="en-US" sz="2000"/>
              <a:t>Critical thinking is at the heart of all we do and defines what goes into a deck and what gets called out in a page</a:t>
            </a:r>
          </a:p>
        </p:txBody>
      </p:sp>
    </p:spTree>
    <p:extLst>
      <p:ext uri="{BB962C8B-B14F-4D97-AF65-F5344CB8AC3E}">
        <p14:creationId xmlns:p14="http://schemas.microsoft.com/office/powerpoint/2010/main" val="993000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2EF10F9-5F27-E4DB-281C-B96BA99DAE91}"/>
              </a:ext>
            </a:extLst>
          </p:cNvPr>
          <p:cNvGraphicFramePr>
            <a:graphicFrameLocks/>
          </p:cNvGraphicFramePr>
          <p:nvPr>
            <p:custDataLst>
              <p:tags r:id="rId1"/>
            </p:custDataLst>
            <p:extLst>
              <p:ext uri="{D42A27DB-BD31-4B8C-83A1-F6EECF244321}">
                <p14:modId xmlns:p14="http://schemas.microsoft.com/office/powerpoint/2010/main" val="15887610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5EF08E6-0B0A-2783-F523-FEA3AEFE0A70}"/>
              </a:ext>
            </a:extLst>
          </p:cNvPr>
          <p:cNvSpPr>
            <a:spLocks noGrp="1"/>
          </p:cNvSpPr>
          <p:nvPr>
            <p:ph type="title"/>
          </p:nvPr>
        </p:nvSpPr>
        <p:spPr/>
        <p:txBody>
          <a:bodyPr vert="horz" rIns="0"/>
          <a:lstStyle/>
          <a:p>
            <a:r>
              <a:rPr lang="en-US"/>
              <a:t>[Use slide format]</a:t>
            </a:r>
          </a:p>
        </p:txBody>
      </p:sp>
      <p:sp>
        <p:nvSpPr>
          <p:cNvPr id="5" name="Rectangle: Rounded Corners 4">
            <a:extLst>
              <a:ext uri="{FF2B5EF4-FFF2-40B4-BE49-F238E27FC236}">
                <a16:creationId xmlns:a16="http://schemas.microsoft.com/office/drawing/2014/main" id="{5C1F1C6C-6BD8-30EC-3F1D-F8C6C56ACE93}"/>
              </a:ext>
            </a:extLst>
          </p:cNvPr>
          <p:cNvSpPr/>
          <p:nvPr/>
        </p:nvSpPr>
        <p:spPr>
          <a:xfrm>
            <a:off x="554736" y="1695796"/>
            <a:ext cx="5248187" cy="3790604"/>
          </a:xfrm>
          <a:prstGeom prst="roundRect">
            <a:avLst>
              <a:gd name="adj" fmla="val 3071"/>
            </a:avLst>
          </a:prstGeom>
          <a:solidFill>
            <a:schemeClr val="tx1">
              <a:lumMod val="90000"/>
              <a:lumOff val="1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Box styles</a:t>
            </a:r>
            <a:endParaRPr lang="en-US" dirty="0" err="1"/>
          </a:p>
        </p:txBody>
      </p:sp>
      <p:sp>
        <p:nvSpPr>
          <p:cNvPr id="6" name="Rectangle: Rounded Corners 5">
            <a:extLst>
              <a:ext uri="{FF2B5EF4-FFF2-40B4-BE49-F238E27FC236}">
                <a16:creationId xmlns:a16="http://schemas.microsoft.com/office/drawing/2014/main" id="{8E7702A1-927C-3D17-0E4E-097E48535683}"/>
              </a:ext>
            </a:extLst>
          </p:cNvPr>
          <p:cNvSpPr/>
          <p:nvPr/>
        </p:nvSpPr>
        <p:spPr>
          <a:xfrm>
            <a:off x="6389077" y="1695796"/>
            <a:ext cx="5248187" cy="3790604"/>
          </a:xfrm>
          <a:prstGeom prst="roundRect">
            <a:avLst>
              <a:gd name="adj" fmla="val 3071"/>
            </a:avLst>
          </a:prstGeom>
          <a:solidFill>
            <a:schemeClr val="tx1">
              <a:lumMod val="90000"/>
              <a:lumOff val="1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err="1"/>
          </a:p>
        </p:txBody>
      </p:sp>
      <p:sp>
        <p:nvSpPr>
          <p:cNvPr id="7" name="Oval 6">
            <a:extLst>
              <a:ext uri="{FF2B5EF4-FFF2-40B4-BE49-F238E27FC236}">
                <a16:creationId xmlns:a16="http://schemas.microsoft.com/office/drawing/2014/main" id="{F9C1BFAA-A4FD-2A3E-A79A-9CCF5F71028C}"/>
              </a:ext>
            </a:extLst>
          </p:cNvPr>
          <p:cNvSpPr/>
          <p:nvPr/>
        </p:nvSpPr>
        <p:spPr>
          <a:xfrm>
            <a:off x="706315" y="1814091"/>
            <a:ext cx="668216" cy="668216"/>
          </a:xfrm>
          <a:prstGeom prst="ellipse">
            <a:avLst/>
          </a:prstGeom>
          <a:solidFill>
            <a:schemeClr val="accent5">
              <a:lumMod val="5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icons</a:t>
            </a:r>
            <a:endParaRPr lang="en-US" sz="1100" dirty="0" err="1"/>
          </a:p>
        </p:txBody>
      </p:sp>
      <p:sp>
        <p:nvSpPr>
          <p:cNvPr id="9" name="Title 1">
            <a:extLst>
              <a:ext uri="{FF2B5EF4-FFF2-40B4-BE49-F238E27FC236}">
                <a16:creationId xmlns:a16="http://schemas.microsoft.com/office/drawing/2014/main" id="{0BB02BD3-4066-738D-C144-43EA302347A4}"/>
              </a:ext>
            </a:extLst>
          </p:cNvPr>
          <p:cNvSpPr txBox="1">
            <a:spLocks/>
          </p:cNvSpPr>
          <p:nvPr/>
        </p:nvSpPr>
        <p:spPr>
          <a:xfrm>
            <a:off x="1591363" y="2010540"/>
            <a:ext cx="4424685" cy="457059"/>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400">
                <a:solidFill>
                  <a:schemeClr val="accent3">
                    <a:lumMod val="75000"/>
                  </a:schemeClr>
                </a:solidFill>
              </a:rPr>
              <a:t>Category</a:t>
            </a:r>
          </a:p>
        </p:txBody>
      </p:sp>
    </p:spTree>
    <p:extLst>
      <p:ext uri="{BB962C8B-B14F-4D97-AF65-F5344CB8AC3E}">
        <p14:creationId xmlns:p14="http://schemas.microsoft.com/office/powerpoint/2010/main" val="2882464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8FC6E-C905-445A-9F5D-7A71796F6C46}"/>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237DF0D-D566-D948-1066-F306074FF385}"/>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4" name="thinkcell data - do not delete" hidden="1">
                        <a:extLst>
                          <a:ext uri="{FF2B5EF4-FFF2-40B4-BE49-F238E27FC236}">
                            <a16:creationId xmlns:a16="http://schemas.microsoft.com/office/drawing/2014/main" id="{F2EF10F9-5F27-E4DB-281C-B96BA99DAE9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A7B9036-4CB1-8177-BAA9-98D7A7E0F7A2}"/>
              </a:ext>
            </a:extLst>
          </p:cNvPr>
          <p:cNvSpPr>
            <a:spLocks noGrp="1"/>
          </p:cNvSpPr>
          <p:nvPr>
            <p:ph type="title"/>
          </p:nvPr>
        </p:nvSpPr>
        <p:spPr/>
        <p:txBody>
          <a:bodyPr vert="horz" rIns="0"/>
          <a:lstStyle/>
          <a:p>
            <a:r>
              <a:rPr lang="en-US"/>
              <a:t>[Use for contrasting slides]</a:t>
            </a:r>
          </a:p>
        </p:txBody>
      </p:sp>
    </p:spTree>
    <p:extLst>
      <p:ext uri="{BB962C8B-B14F-4D97-AF65-F5344CB8AC3E}">
        <p14:creationId xmlns:p14="http://schemas.microsoft.com/office/powerpoint/2010/main" val="913074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25697-C7E2-938B-7A38-306467BE26FA}"/>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BE3F737-60D1-EF87-BD16-909BBC7C990F}"/>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4" name="thinkcell data - do not delete" hidden="1">
                        <a:extLst>
                          <a:ext uri="{FF2B5EF4-FFF2-40B4-BE49-F238E27FC236}">
                            <a16:creationId xmlns:a16="http://schemas.microsoft.com/office/drawing/2014/main" id="{2237DF0D-D566-D948-1066-F306074FF38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C6C601F-48AD-C7EF-6149-375191CFA6B6}"/>
              </a:ext>
            </a:extLst>
          </p:cNvPr>
          <p:cNvSpPr>
            <a:spLocks noGrp="1"/>
          </p:cNvSpPr>
          <p:nvPr>
            <p:ph type="title"/>
          </p:nvPr>
        </p:nvSpPr>
        <p:spPr/>
        <p:txBody>
          <a:bodyPr vert="horz" rIns="0"/>
          <a:lstStyle/>
          <a:p>
            <a:r>
              <a:rPr lang="en-US"/>
              <a:t>[Use occasionally]</a:t>
            </a:r>
          </a:p>
        </p:txBody>
      </p:sp>
    </p:spTree>
    <p:extLst>
      <p:ext uri="{BB962C8B-B14F-4D97-AF65-F5344CB8AC3E}">
        <p14:creationId xmlns:p14="http://schemas.microsoft.com/office/powerpoint/2010/main" val="3327011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FEF05646-23AB-7CBC-7EA1-516912729AC2}"/>
              </a:ext>
            </a:extLst>
          </p:cNvPr>
          <p:cNvGraphicFramePr>
            <a:graphicFrameLocks/>
          </p:cNvGraphicFramePr>
          <p:nvPr>
            <p:custDataLst>
              <p:tags r:id="rId1"/>
            </p:custDataLst>
            <p:extLst>
              <p:ext uri="{D42A27DB-BD31-4B8C-83A1-F6EECF244321}">
                <p14:modId xmlns:p14="http://schemas.microsoft.com/office/powerpoint/2010/main" val="10804886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0" name="Rectangle 29">
            <a:extLst>
              <a:ext uri="{FF2B5EF4-FFF2-40B4-BE49-F238E27FC236}">
                <a16:creationId xmlns:a16="http://schemas.microsoft.com/office/drawing/2014/main" id="{CEF8CE4B-9296-1CEB-1C30-7E7ADFC54183}"/>
              </a:ext>
            </a:extLst>
          </p:cNvPr>
          <p:cNvSpPr/>
          <p:nvPr/>
        </p:nvSpPr>
        <p:spPr>
          <a:xfrm>
            <a:off x="7052618" y="1450238"/>
            <a:ext cx="4229299" cy="461009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err="1"/>
          </a:p>
        </p:txBody>
      </p:sp>
      <p:sp>
        <p:nvSpPr>
          <p:cNvPr id="2" name="Title 1">
            <a:extLst>
              <a:ext uri="{FF2B5EF4-FFF2-40B4-BE49-F238E27FC236}">
                <a16:creationId xmlns:a16="http://schemas.microsoft.com/office/drawing/2014/main" id="{D76A094F-00AC-5BDB-FFDE-0441353444E6}"/>
              </a:ext>
            </a:extLst>
          </p:cNvPr>
          <p:cNvSpPr>
            <a:spLocks noGrp="1"/>
          </p:cNvSpPr>
          <p:nvPr>
            <p:ph type="title"/>
          </p:nvPr>
        </p:nvSpPr>
        <p:spPr>
          <a:xfrm>
            <a:off x="558800" y="635000"/>
            <a:ext cx="11087100" cy="838200"/>
          </a:xfrm>
        </p:spPr>
        <p:txBody>
          <a:bodyPr vert="horz" rIns="0" anchor="t" anchorCtr="0"/>
          <a:lstStyle/>
          <a:p>
            <a:r>
              <a:rPr lang="en-US"/>
              <a:t>Solving the problem starts with defining the problem in the SMART way  </a:t>
            </a:r>
          </a:p>
        </p:txBody>
      </p:sp>
      <p:sp>
        <p:nvSpPr>
          <p:cNvPr id="5" name="Rectangle 4">
            <a:extLst>
              <a:ext uri="{FF2B5EF4-FFF2-40B4-BE49-F238E27FC236}">
                <a16:creationId xmlns:a16="http://schemas.microsoft.com/office/drawing/2014/main" id="{A7CFE3DE-9DFB-1481-584E-3FC897983FBA}"/>
              </a:ext>
            </a:extLst>
          </p:cNvPr>
          <p:cNvSpPr/>
          <p:nvPr/>
        </p:nvSpPr>
        <p:spPr>
          <a:xfrm>
            <a:off x="0" y="-1"/>
            <a:ext cx="2438400" cy="29198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THINK</a:t>
            </a:r>
            <a:endParaRPr lang="en-US" sz="1100" dirty="0"/>
          </a:p>
        </p:txBody>
      </p:sp>
      <p:sp>
        <p:nvSpPr>
          <p:cNvPr id="6" name="Rectangle 5">
            <a:extLst>
              <a:ext uri="{FF2B5EF4-FFF2-40B4-BE49-F238E27FC236}">
                <a16:creationId xmlns:a16="http://schemas.microsoft.com/office/drawing/2014/main" id="{E740FC92-01C8-BD4B-B76C-E2D1FB598553}"/>
              </a:ext>
            </a:extLst>
          </p:cNvPr>
          <p:cNvSpPr/>
          <p:nvPr/>
        </p:nvSpPr>
        <p:spPr>
          <a:xfrm>
            <a:off x="24384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DECK</a:t>
            </a:r>
            <a:endParaRPr lang="en-US" sz="1100" dirty="0"/>
          </a:p>
        </p:txBody>
      </p:sp>
      <p:sp>
        <p:nvSpPr>
          <p:cNvPr id="7" name="Rectangle 6">
            <a:extLst>
              <a:ext uri="{FF2B5EF4-FFF2-40B4-BE49-F238E27FC236}">
                <a16:creationId xmlns:a16="http://schemas.microsoft.com/office/drawing/2014/main" id="{F90B7616-F2F4-BBB4-5DCA-9FB7F2B7CCE5}"/>
              </a:ext>
            </a:extLst>
          </p:cNvPr>
          <p:cNvSpPr/>
          <p:nvPr/>
        </p:nvSpPr>
        <p:spPr>
          <a:xfrm>
            <a:off x="48768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PAGE</a:t>
            </a:r>
            <a:endParaRPr lang="en-US" sz="1100" dirty="0"/>
          </a:p>
        </p:txBody>
      </p:sp>
      <p:sp>
        <p:nvSpPr>
          <p:cNvPr id="8" name="Rectangle 7">
            <a:extLst>
              <a:ext uri="{FF2B5EF4-FFF2-40B4-BE49-F238E27FC236}">
                <a16:creationId xmlns:a16="http://schemas.microsoft.com/office/drawing/2014/main" id="{5ECEBB65-3A2E-3F16-EF01-07A6F6E85DEB}"/>
              </a:ext>
            </a:extLst>
          </p:cNvPr>
          <p:cNvSpPr/>
          <p:nvPr/>
        </p:nvSpPr>
        <p:spPr>
          <a:xfrm>
            <a:off x="73152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AI WORKFLOW</a:t>
            </a:r>
            <a:endParaRPr lang="en-US" sz="1100" dirty="0"/>
          </a:p>
        </p:txBody>
      </p:sp>
      <p:sp>
        <p:nvSpPr>
          <p:cNvPr id="40" name="Rectangle 39"/>
          <p:cNvSpPr/>
          <p:nvPr/>
        </p:nvSpPr>
        <p:spPr>
          <a:xfrm>
            <a:off x="97536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QUALITY &amp; DATA</a:t>
            </a:r>
            <a:endParaRPr lang="en-US" sz="1100" dirty="0"/>
          </a:p>
        </p:txBody>
      </p:sp>
      <p:sp>
        <p:nvSpPr>
          <p:cNvPr id="9" name="Title 1">
            <a:extLst>
              <a:ext uri="{FF2B5EF4-FFF2-40B4-BE49-F238E27FC236}">
                <a16:creationId xmlns:a16="http://schemas.microsoft.com/office/drawing/2014/main" id="{608EBF0B-4B0A-5C06-D15D-A2D1355BEFF1}"/>
              </a:ext>
            </a:extLst>
          </p:cNvPr>
          <p:cNvSpPr txBox="1">
            <a:spLocks/>
          </p:cNvSpPr>
          <p:nvPr/>
        </p:nvSpPr>
        <p:spPr>
          <a:xfrm>
            <a:off x="554736" y="1555285"/>
            <a:ext cx="3278355"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solidFill>
                  <a:srgbClr val="009999"/>
                </a:solidFill>
              </a:rPr>
              <a:t>SMART stands for…</a:t>
            </a:r>
          </a:p>
        </p:txBody>
      </p:sp>
      <p:sp>
        <p:nvSpPr>
          <p:cNvPr id="13" name="Title 1">
            <a:extLst>
              <a:ext uri="{FF2B5EF4-FFF2-40B4-BE49-F238E27FC236}">
                <a16:creationId xmlns:a16="http://schemas.microsoft.com/office/drawing/2014/main" id="{C543B4E2-23F4-7879-BFB0-7CD5B1C161B1}"/>
              </a:ext>
            </a:extLst>
          </p:cNvPr>
          <p:cNvSpPr txBox="1">
            <a:spLocks/>
          </p:cNvSpPr>
          <p:nvPr/>
        </p:nvSpPr>
        <p:spPr>
          <a:xfrm>
            <a:off x="1225484" y="2220593"/>
            <a:ext cx="5657453" cy="875143"/>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b="1">
                <a:solidFill>
                  <a:srgbClr val="009999"/>
                </a:solidFill>
              </a:rPr>
              <a:t>Specific</a:t>
            </a:r>
            <a:r>
              <a:rPr lang="en-US" sz="1600"/>
              <a:t>. Targets a particular area and issue, not generalized</a:t>
            </a:r>
          </a:p>
        </p:txBody>
      </p:sp>
      <p:sp>
        <p:nvSpPr>
          <p:cNvPr id="14" name="Title 1">
            <a:extLst>
              <a:ext uri="{FF2B5EF4-FFF2-40B4-BE49-F238E27FC236}">
                <a16:creationId xmlns:a16="http://schemas.microsoft.com/office/drawing/2014/main" id="{346CE355-FB81-27AA-0488-19FEE371E6F8}"/>
              </a:ext>
            </a:extLst>
          </p:cNvPr>
          <p:cNvSpPr txBox="1">
            <a:spLocks/>
          </p:cNvSpPr>
          <p:nvPr/>
        </p:nvSpPr>
        <p:spPr>
          <a:xfrm>
            <a:off x="7190751" y="1555285"/>
            <a:ext cx="3829234"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solidFill>
                  <a:srgbClr val="009999"/>
                </a:solidFill>
              </a:rPr>
              <a:t>Example SMART statements</a:t>
            </a:r>
          </a:p>
        </p:txBody>
      </p:sp>
      <p:sp>
        <p:nvSpPr>
          <p:cNvPr id="3" name="Title 1">
            <a:extLst>
              <a:ext uri="{FF2B5EF4-FFF2-40B4-BE49-F238E27FC236}">
                <a16:creationId xmlns:a16="http://schemas.microsoft.com/office/drawing/2014/main" id="{4146E616-84B5-4E17-F957-A42CA1D92EDA}"/>
              </a:ext>
            </a:extLst>
          </p:cNvPr>
          <p:cNvSpPr txBox="1">
            <a:spLocks/>
          </p:cNvSpPr>
          <p:nvPr/>
        </p:nvSpPr>
        <p:spPr>
          <a:xfrm>
            <a:off x="1225484" y="2926052"/>
            <a:ext cx="5137609" cy="875143"/>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b="1">
                <a:solidFill>
                  <a:srgbClr val="009999"/>
                </a:solidFill>
              </a:rPr>
              <a:t>Measurable</a:t>
            </a:r>
            <a:r>
              <a:rPr lang="en-US" sz="1600"/>
              <a:t>. Includes defined metrics for how progress and success is tracked</a:t>
            </a:r>
          </a:p>
        </p:txBody>
      </p:sp>
      <p:sp>
        <p:nvSpPr>
          <p:cNvPr id="4" name="Title 1">
            <a:extLst>
              <a:ext uri="{FF2B5EF4-FFF2-40B4-BE49-F238E27FC236}">
                <a16:creationId xmlns:a16="http://schemas.microsoft.com/office/drawing/2014/main" id="{FB2534ED-F0CB-363C-0852-F5E9EBB9699B}"/>
              </a:ext>
            </a:extLst>
          </p:cNvPr>
          <p:cNvSpPr txBox="1">
            <a:spLocks/>
          </p:cNvSpPr>
          <p:nvPr/>
        </p:nvSpPr>
        <p:spPr>
          <a:xfrm>
            <a:off x="1225484" y="3801195"/>
            <a:ext cx="5307291" cy="875143"/>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b="1">
                <a:solidFill>
                  <a:srgbClr val="009999"/>
                </a:solidFill>
              </a:rPr>
              <a:t>Achievable</a:t>
            </a:r>
            <a:r>
              <a:rPr lang="en-US" sz="1600"/>
              <a:t>. The problem is solvable with available resources and time</a:t>
            </a:r>
          </a:p>
        </p:txBody>
      </p:sp>
      <p:sp>
        <p:nvSpPr>
          <p:cNvPr id="10" name="Title 1">
            <a:extLst>
              <a:ext uri="{FF2B5EF4-FFF2-40B4-BE49-F238E27FC236}">
                <a16:creationId xmlns:a16="http://schemas.microsoft.com/office/drawing/2014/main" id="{952409F8-7B6F-B6A7-D502-F052F1F416C0}"/>
              </a:ext>
            </a:extLst>
          </p:cNvPr>
          <p:cNvSpPr txBox="1">
            <a:spLocks/>
          </p:cNvSpPr>
          <p:nvPr/>
        </p:nvSpPr>
        <p:spPr>
          <a:xfrm>
            <a:off x="1225485" y="4637610"/>
            <a:ext cx="5222450" cy="875143"/>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b="1">
                <a:solidFill>
                  <a:srgbClr val="009999"/>
                </a:solidFill>
              </a:rPr>
              <a:t>Relevant</a:t>
            </a:r>
            <a:r>
              <a:rPr lang="en-US" sz="1600"/>
              <a:t>. The recommendations are within the client’s control and actionable</a:t>
            </a:r>
          </a:p>
        </p:txBody>
      </p:sp>
      <p:sp>
        <p:nvSpPr>
          <p:cNvPr id="11" name="Title 1">
            <a:extLst>
              <a:ext uri="{FF2B5EF4-FFF2-40B4-BE49-F238E27FC236}">
                <a16:creationId xmlns:a16="http://schemas.microsoft.com/office/drawing/2014/main" id="{4C48E06B-1927-08B2-9A3C-7CB9D7789744}"/>
              </a:ext>
            </a:extLst>
          </p:cNvPr>
          <p:cNvSpPr txBox="1">
            <a:spLocks/>
          </p:cNvSpPr>
          <p:nvPr/>
        </p:nvSpPr>
        <p:spPr>
          <a:xfrm>
            <a:off x="1225484" y="5428930"/>
            <a:ext cx="5137609" cy="875143"/>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b="1">
                <a:solidFill>
                  <a:srgbClr val="009999"/>
                </a:solidFill>
              </a:rPr>
              <a:t>Time-bound</a:t>
            </a:r>
            <a:r>
              <a:rPr lang="en-US" sz="1600"/>
              <a:t>. The steps are tied to days, weeks, quarters, and years</a:t>
            </a:r>
          </a:p>
        </p:txBody>
      </p:sp>
      <p:sp>
        <p:nvSpPr>
          <p:cNvPr id="15" name="Title 1">
            <a:extLst>
              <a:ext uri="{FF2B5EF4-FFF2-40B4-BE49-F238E27FC236}">
                <a16:creationId xmlns:a16="http://schemas.microsoft.com/office/drawing/2014/main" id="{1A006083-7C4D-1046-8035-25B0EABB8760}"/>
              </a:ext>
            </a:extLst>
          </p:cNvPr>
          <p:cNvSpPr txBox="1">
            <a:spLocks/>
          </p:cNvSpPr>
          <p:nvPr/>
        </p:nvSpPr>
        <p:spPr>
          <a:xfrm>
            <a:off x="7190751" y="2247513"/>
            <a:ext cx="3829234" cy="875143"/>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a:t>Increase service line revenue by </a:t>
            </a:r>
            <a:r>
              <a:rPr lang="en-US" sz="1600" b="1">
                <a:solidFill>
                  <a:srgbClr val="009999"/>
                </a:solidFill>
              </a:rPr>
              <a:t>15%</a:t>
            </a:r>
            <a:r>
              <a:rPr lang="en-US" sz="1600"/>
              <a:t> by </a:t>
            </a:r>
            <a:r>
              <a:rPr lang="en-US" sz="1600" b="1">
                <a:solidFill>
                  <a:srgbClr val="009999"/>
                </a:solidFill>
              </a:rPr>
              <a:t>Q4</a:t>
            </a:r>
            <a:r>
              <a:rPr lang="en-US" sz="1600"/>
              <a:t> through </a:t>
            </a:r>
            <a:r>
              <a:rPr lang="en-US" sz="1600" b="1">
                <a:solidFill>
                  <a:srgbClr val="009999"/>
                </a:solidFill>
              </a:rPr>
              <a:t>new market expansion</a:t>
            </a:r>
          </a:p>
        </p:txBody>
      </p:sp>
      <p:sp>
        <p:nvSpPr>
          <p:cNvPr id="16" name="Title 1">
            <a:extLst>
              <a:ext uri="{FF2B5EF4-FFF2-40B4-BE49-F238E27FC236}">
                <a16:creationId xmlns:a16="http://schemas.microsoft.com/office/drawing/2014/main" id="{BC3CD46C-591A-352B-96FE-8C53B9A933DB}"/>
              </a:ext>
            </a:extLst>
          </p:cNvPr>
          <p:cNvSpPr txBox="1">
            <a:spLocks/>
          </p:cNvSpPr>
          <p:nvPr/>
        </p:nvSpPr>
        <p:spPr>
          <a:xfrm>
            <a:off x="7190751" y="3423784"/>
            <a:ext cx="3966776" cy="875143"/>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a:t>Improve marketing by elevating our </a:t>
            </a:r>
            <a:r>
              <a:rPr lang="en-US" sz="1600" b="1">
                <a:solidFill>
                  <a:srgbClr val="009999"/>
                </a:solidFill>
              </a:rPr>
              <a:t>click-through rate (CTR) </a:t>
            </a:r>
            <a:r>
              <a:rPr lang="en-US" sz="1600"/>
              <a:t>above market average in the next </a:t>
            </a:r>
            <a:r>
              <a:rPr lang="en-US" sz="1600" b="1">
                <a:solidFill>
                  <a:srgbClr val="009999"/>
                </a:solidFill>
              </a:rPr>
              <a:t>6 months </a:t>
            </a:r>
            <a:r>
              <a:rPr lang="en-US" sz="1600"/>
              <a:t>through paid media</a:t>
            </a:r>
            <a:endParaRPr lang="en-US" sz="1600" b="1"/>
          </a:p>
        </p:txBody>
      </p:sp>
      <p:sp>
        <p:nvSpPr>
          <p:cNvPr id="17" name="Title 1">
            <a:extLst>
              <a:ext uri="{FF2B5EF4-FFF2-40B4-BE49-F238E27FC236}">
                <a16:creationId xmlns:a16="http://schemas.microsoft.com/office/drawing/2014/main" id="{ECABE5F5-8DD2-46F3-B6B1-ACA5912B7FBE}"/>
              </a:ext>
            </a:extLst>
          </p:cNvPr>
          <p:cNvSpPr txBox="1">
            <a:spLocks/>
          </p:cNvSpPr>
          <p:nvPr/>
        </p:nvSpPr>
        <p:spPr>
          <a:xfrm>
            <a:off x="7190751" y="4752908"/>
            <a:ext cx="3966776" cy="875143"/>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b="1">
                <a:solidFill>
                  <a:srgbClr val="009999"/>
                </a:solidFill>
              </a:rPr>
              <a:t>Win</a:t>
            </a:r>
            <a:r>
              <a:rPr lang="en-US" sz="1600"/>
              <a:t> two new clients, </a:t>
            </a:r>
            <a:r>
              <a:rPr lang="en-US" sz="1600" b="1">
                <a:solidFill>
                  <a:srgbClr val="009999"/>
                </a:solidFill>
              </a:rPr>
              <a:t>reactivate</a:t>
            </a:r>
            <a:r>
              <a:rPr lang="en-US" sz="1600"/>
              <a:t> three, and </a:t>
            </a:r>
            <a:r>
              <a:rPr lang="en-US" sz="1600" b="1">
                <a:solidFill>
                  <a:srgbClr val="009999"/>
                </a:solidFill>
              </a:rPr>
              <a:t>deprioritize</a:t>
            </a:r>
            <a:r>
              <a:rPr lang="en-US" sz="1600"/>
              <a:t> lapsed ones every 3 months</a:t>
            </a:r>
          </a:p>
        </p:txBody>
      </p:sp>
      <p:pic>
        <p:nvPicPr>
          <p:cNvPr id="19" name="Graphic 18" descr="Clock outline">
            <a:extLst>
              <a:ext uri="{FF2B5EF4-FFF2-40B4-BE49-F238E27FC236}">
                <a16:creationId xmlns:a16="http://schemas.microsoft.com/office/drawing/2014/main" id="{75A7DDBC-4F46-04D8-70B4-836E7FDE6F1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9444" y="5397874"/>
            <a:ext cx="546358" cy="546358"/>
          </a:xfrm>
          <a:prstGeom prst="rect">
            <a:avLst/>
          </a:prstGeom>
        </p:spPr>
      </p:pic>
      <p:pic>
        <p:nvPicPr>
          <p:cNvPr id="21" name="Graphic 20" descr="Clipboard Partially Checked outline">
            <a:extLst>
              <a:ext uri="{FF2B5EF4-FFF2-40B4-BE49-F238E27FC236}">
                <a16:creationId xmlns:a16="http://schemas.microsoft.com/office/drawing/2014/main" id="{C42B83AB-B2F6-E0BF-CEA6-43F773A2302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9444" y="4558733"/>
            <a:ext cx="546358" cy="546358"/>
          </a:xfrm>
          <a:prstGeom prst="rect">
            <a:avLst/>
          </a:prstGeom>
        </p:spPr>
      </p:pic>
      <p:pic>
        <p:nvPicPr>
          <p:cNvPr id="23" name="Graphic 22" descr="Checkbox Checked outline">
            <a:extLst>
              <a:ext uri="{FF2B5EF4-FFF2-40B4-BE49-F238E27FC236}">
                <a16:creationId xmlns:a16="http://schemas.microsoft.com/office/drawing/2014/main" id="{C87987A2-93EB-BFBC-A8D5-235966EF4FD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9444" y="3689319"/>
            <a:ext cx="546358" cy="546358"/>
          </a:xfrm>
          <a:prstGeom prst="rect">
            <a:avLst/>
          </a:prstGeom>
        </p:spPr>
      </p:pic>
      <p:pic>
        <p:nvPicPr>
          <p:cNvPr id="25" name="Graphic 24" descr="Ruler outline">
            <a:extLst>
              <a:ext uri="{FF2B5EF4-FFF2-40B4-BE49-F238E27FC236}">
                <a16:creationId xmlns:a16="http://schemas.microsoft.com/office/drawing/2014/main" id="{F0C0817F-412C-32FC-5699-783A402915E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54736" y="2817265"/>
            <a:ext cx="546358" cy="546358"/>
          </a:xfrm>
          <a:prstGeom prst="rect">
            <a:avLst/>
          </a:prstGeom>
        </p:spPr>
      </p:pic>
      <p:pic>
        <p:nvPicPr>
          <p:cNvPr id="27" name="Graphic 26" descr="Bullseye outline">
            <a:extLst>
              <a:ext uri="{FF2B5EF4-FFF2-40B4-BE49-F238E27FC236}">
                <a16:creationId xmlns:a16="http://schemas.microsoft.com/office/drawing/2014/main" id="{374A566D-2A59-F9F8-1E74-7793B9B89B5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09445" y="2039436"/>
            <a:ext cx="546358" cy="546358"/>
          </a:xfrm>
          <a:prstGeom prst="rect">
            <a:avLst/>
          </a:prstGeom>
        </p:spPr>
      </p:pic>
      <p:cxnSp>
        <p:nvCxnSpPr>
          <p:cNvPr id="28" name="Straight Connector 27">
            <a:extLst>
              <a:ext uri="{FF2B5EF4-FFF2-40B4-BE49-F238E27FC236}">
                <a16:creationId xmlns:a16="http://schemas.microsoft.com/office/drawing/2014/main" id="{26A0251B-B2D1-BE59-CA8A-D4107878A1B9}"/>
              </a:ext>
            </a:extLst>
          </p:cNvPr>
          <p:cNvCxnSpPr>
            <a:cxnSpLocks/>
          </p:cNvCxnSpPr>
          <p:nvPr/>
        </p:nvCxnSpPr>
        <p:spPr>
          <a:xfrm>
            <a:off x="554735" y="1863140"/>
            <a:ext cx="10602792" cy="0"/>
          </a:xfrm>
          <a:prstGeom prst="line">
            <a:avLst/>
          </a:prstGeom>
          <a:ln w="12700">
            <a:solidFill>
              <a:schemeClr val="accent5"/>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4507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A05B7-7C3B-146B-72F6-8FFA9C6FB941}"/>
            </a:ext>
          </a:extLst>
        </p:cNvPr>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D4EB5C6E-C5F9-1C38-16F6-E964B6844652}"/>
              </a:ext>
            </a:extLst>
          </p:cNvPr>
          <p:cNvGraphicFramePr>
            <a:graphicFrameLocks/>
          </p:cNvGraphicFramePr>
          <p:nvPr>
            <p:custDataLst>
              <p:tags r:id="rId1"/>
            </p:custDataLst>
            <p:extLst>
              <p:ext uri="{D42A27DB-BD31-4B8C-83A1-F6EECF244321}">
                <p14:modId xmlns:p14="http://schemas.microsoft.com/office/powerpoint/2010/main" val="29949461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 name="think-cell data - do not delete" hidden="1">
            <a:extLst>
              <a:ext uri="{FF2B5EF4-FFF2-40B4-BE49-F238E27FC236}">
                <a16:creationId xmlns:a16="http://schemas.microsoft.com/office/drawing/2014/main" id="{99C2EFEF-01DD-A9EF-1AF3-8BC7D3DD39C1}"/>
              </a:ext>
            </a:extLst>
          </p:cNvPr>
          <p:cNvGraphicFramePr>
            <a:graphicFrameLocks noChangeAspect="1"/>
          </p:cNvGraphicFramePr>
          <p:nvPr>
            <p:custDataLst>
              <p:tags r:id="rId2"/>
            </p:custDataLst>
            <p:extLst>
              <p:ext uri="{D42A27DB-BD31-4B8C-83A1-F6EECF244321}">
                <p14:modId xmlns:p14="http://schemas.microsoft.com/office/powerpoint/2010/main" val="8313997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7" imgH="348" progId="TCLayout.ActiveDocument.1">
                  <p:embed/>
                </p:oleObj>
              </mc:Choice>
              <mc:Fallback>
                <p:oleObj name="think-cell Slide" r:id="rId6"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68BA856-8639-7860-4087-703C6238B986}"/>
              </a:ext>
            </a:extLst>
          </p:cNvPr>
          <p:cNvSpPr>
            <a:spLocks noGrp="1"/>
          </p:cNvSpPr>
          <p:nvPr>
            <p:ph type="title"/>
          </p:nvPr>
        </p:nvSpPr>
        <p:spPr>
          <a:xfrm>
            <a:off x="558800" y="635000"/>
            <a:ext cx="11087100" cy="838200"/>
          </a:xfrm>
        </p:spPr>
        <p:txBody>
          <a:bodyPr vert="horz" rIns="0" anchor="t" anchorCtr="0"/>
          <a:lstStyle/>
          <a:p>
            <a:r>
              <a:rPr lang="en-US"/>
              <a:t>MECE is a defining element of why consultants sound structured, and used constantly to set up frameworks</a:t>
            </a:r>
          </a:p>
        </p:txBody>
      </p:sp>
      <p:sp>
        <p:nvSpPr>
          <p:cNvPr id="5" name="Rectangle 4">
            <a:extLst>
              <a:ext uri="{FF2B5EF4-FFF2-40B4-BE49-F238E27FC236}">
                <a16:creationId xmlns:a16="http://schemas.microsoft.com/office/drawing/2014/main" id="{7CE3F298-9266-0E15-960C-C7185BBB6D40}"/>
              </a:ext>
            </a:extLst>
          </p:cNvPr>
          <p:cNvSpPr/>
          <p:nvPr/>
        </p:nvSpPr>
        <p:spPr>
          <a:xfrm>
            <a:off x="0" y="-1"/>
            <a:ext cx="2438400" cy="29198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THINK</a:t>
            </a:r>
            <a:endParaRPr lang="en-US" sz="1100" dirty="0"/>
          </a:p>
        </p:txBody>
      </p:sp>
      <p:sp>
        <p:nvSpPr>
          <p:cNvPr id="6" name="Rectangle 5">
            <a:extLst>
              <a:ext uri="{FF2B5EF4-FFF2-40B4-BE49-F238E27FC236}">
                <a16:creationId xmlns:a16="http://schemas.microsoft.com/office/drawing/2014/main" id="{2F4A3F01-8D8C-E0C5-D2C7-3EC0710FA4A8}"/>
              </a:ext>
            </a:extLst>
          </p:cNvPr>
          <p:cNvSpPr/>
          <p:nvPr/>
        </p:nvSpPr>
        <p:spPr>
          <a:xfrm>
            <a:off x="24384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DECK</a:t>
            </a:r>
            <a:endParaRPr lang="en-US" sz="1100" dirty="0"/>
          </a:p>
        </p:txBody>
      </p:sp>
      <p:sp>
        <p:nvSpPr>
          <p:cNvPr id="7" name="Rectangle 6">
            <a:extLst>
              <a:ext uri="{FF2B5EF4-FFF2-40B4-BE49-F238E27FC236}">
                <a16:creationId xmlns:a16="http://schemas.microsoft.com/office/drawing/2014/main" id="{AF8EB8DB-CD5E-0BB1-A655-283885563BE3}"/>
              </a:ext>
            </a:extLst>
          </p:cNvPr>
          <p:cNvSpPr/>
          <p:nvPr/>
        </p:nvSpPr>
        <p:spPr>
          <a:xfrm>
            <a:off x="48768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PAGE</a:t>
            </a:r>
            <a:endParaRPr lang="en-US" sz="1100" dirty="0"/>
          </a:p>
        </p:txBody>
      </p:sp>
      <p:sp>
        <p:nvSpPr>
          <p:cNvPr id="8" name="Rectangle 7">
            <a:extLst>
              <a:ext uri="{FF2B5EF4-FFF2-40B4-BE49-F238E27FC236}">
                <a16:creationId xmlns:a16="http://schemas.microsoft.com/office/drawing/2014/main" id="{97E2A416-7979-BDF1-3122-91D8EABB696E}"/>
              </a:ext>
            </a:extLst>
          </p:cNvPr>
          <p:cNvSpPr/>
          <p:nvPr/>
        </p:nvSpPr>
        <p:spPr>
          <a:xfrm>
            <a:off x="73152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AI WORKFLOW</a:t>
            </a:r>
            <a:endParaRPr lang="en-US" sz="1100" dirty="0"/>
          </a:p>
        </p:txBody>
      </p:sp>
      <p:sp>
        <p:nvSpPr>
          <p:cNvPr id="25" name="Rectangle 25"/>
          <p:cNvSpPr/>
          <p:nvPr/>
        </p:nvSpPr>
        <p:spPr>
          <a:xfrm>
            <a:off x="97536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QUALITY &amp; DATA</a:t>
            </a:r>
            <a:endParaRPr lang="en-US" sz="1100" dirty="0"/>
          </a:p>
        </p:txBody>
      </p:sp>
      <p:sp>
        <p:nvSpPr>
          <p:cNvPr id="9" name="Title 1">
            <a:extLst>
              <a:ext uri="{FF2B5EF4-FFF2-40B4-BE49-F238E27FC236}">
                <a16:creationId xmlns:a16="http://schemas.microsoft.com/office/drawing/2014/main" id="{51FA8425-2AA8-3D35-C908-F7D026B7224C}"/>
              </a:ext>
            </a:extLst>
          </p:cNvPr>
          <p:cNvSpPr txBox="1">
            <a:spLocks/>
          </p:cNvSpPr>
          <p:nvPr/>
        </p:nvSpPr>
        <p:spPr>
          <a:xfrm>
            <a:off x="554736" y="1901578"/>
            <a:ext cx="3278355"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solidFill>
                  <a:schemeClr val="accent5"/>
                </a:solidFill>
              </a:rPr>
              <a:t>MECE stands for…</a:t>
            </a:r>
          </a:p>
        </p:txBody>
      </p:sp>
      <p:sp>
        <p:nvSpPr>
          <p:cNvPr id="13" name="Title 1">
            <a:extLst>
              <a:ext uri="{FF2B5EF4-FFF2-40B4-BE49-F238E27FC236}">
                <a16:creationId xmlns:a16="http://schemas.microsoft.com/office/drawing/2014/main" id="{E833956F-15DD-C145-E755-223D5B3997ED}"/>
              </a:ext>
            </a:extLst>
          </p:cNvPr>
          <p:cNvSpPr txBox="1">
            <a:spLocks/>
          </p:cNvSpPr>
          <p:nvPr/>
        </p:nvSpPr>
        <p:spPr>
          <a:xfrm>
            <a:off x="1543316" y="2417157"/>
            <a:ext cx="3622573" cy="1153619"/>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b="1">
                <a:solidFill>
                  <a:srgbClr val="009999"/>
                </a:solidFill>
              </a:rPr>
              <a:t>Mutually Exclusive </a:t>
            </a:r>
            <a:r>
              <a:rPr lang="en-US" sz="1600"/>
              <a:t>(ME): All identified subcomponents of the problem or solution do not overlap with each other</a:t>
            </a:r>
          </a:p>
          <a:p>
            <a:endParaRPr lang="en-US" sz="1600"/>
          </a:p>
        </p:txBody>
      </p:sp>
      <p:sp>
        <p:nvSpPr>
          <p:cNvPr id="14" name="Title 1">
            <a:extLst>
              <a:ext uri="{FF2B5EF4-FFF2-40B4-BE49-F238E27FC236}">
                <a16:creationId xmlns:a16="http://schemas.microsoft.com/office/drawing/2014/main" id="{9CF36445-C777-20D5-5776-CF9FF8A13EE5}"/>
              </a:ext>
            </a:extLst>
          </p:cNvPr>
          <p:cNvSpPr txBox="1">
            <a:spLocks/>
          </p:cNvSpPr>
          <p:nvPr/>
        </p:nvSpPr>
        <p:spPr>
          <a:xfrm>
            <a:off x="6173264" y="1901578"/>
            <a:ext cx="3946023"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solidFill>
                  <a:schemeClr val="accent5"/>
                </a:solidFill>
              </a:rPr>
              <a:t>MECE frameworks in business</a:t>
            </a:r>
          </a:p>
        </p:txBody>
      </p:sp>
      <p:sp>
        <p:nvSpPr>
          <p:cNvPr id="4" name="TextBox 3">
            <a:extLst>
              <a:ext uri="{FF2B5EF4-FFF2-40B4-BE49-F238E27FC236}">
                <a16:creationId xmlns:a16="http://schemas.microsoft.com/office/drawing/2014/main" id="{050311AF-37B6-9AB5-F48A-AA9DD5AFCCFD}"/>
              </a:ext>
            </a:extLst>
          </p:cNvPr>
          <p:cNvSpPr txBox="1"/>
          <p:nvPr/>
        </p:nvSpPr>
        <p:spPr>
          <a:xfrm>
            <a:off x="1543316" y="4411371"/>
            <a:ext cx="3811109" cy="528794"/>
          </a:xfrm>
          <a:prstGeom prst="rect">
            <a:avLst/>
          </a:prstGeom>
          <a:noFill/>
        </p:spPr>
        <p:txBody>
          <a:bodyPr wrap="square" lIns="18000" tIns="18000" rIns="18000" bIns="18000">
            <a:spAutoFit/>
          </a:bodyPr>
          <a:lstStyle/>
          <a:p>
            <a:r>
              <a:rPr lang="en-US" sz="1600" b="1">
                <a:solidFill>
                  <a:srgbClr val="009999"/>
                </a:solidFill>
              </a:rPr>
              <a:t>Collectively Exhaustive </a:t>
            </a:r>
            <a:r>
              <a:rPr lang="en-US" sz="1600"/>
              <a:t>(CE): There are no subcomponents missing from the list</a:t>
            </a:r>
          </a:p>
        </p:txBody>
      </p:sp>
      <p:sp>
        <p:nvSpPr>
          <p:cNvPr id="10" name="Title 1">
            <a:extLst>
              <a:ext uri="{FF2B5EF4-FFF2-40B4-BE49-F238E27FC236}">
                <a16:creationId xmlns:a16="http://schemas.microsoft.com/office/drawing/2014/main" id="{62AC879D-EEDA-0BA1-C3CF-EBC690C1A27A}"/>
              </a:ext>
            </a:extLst>
          </p:cNvPr>
          <p:cNvSpPr txBox="1">
            <a:spLocks/>
          </p:cNvSpPr>
          <p:nvPr/>
        </p:nvSpPr>
        <p:spPr>
          <a:xfrm>
            <a:off x="6173264" y="2370558"/>
            <a:ext cx="5464000" cy="1483438"/>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227013" indent="-227013">
              <a:lnSpc>
                <a:spcPct val="100000"/>
              </a:lnSpc>
              <a:buFont typeface="Arial" panose="020B0604020202020204" pitchFamily="34" charset="0"/>
              <a:buChar char="•"/>
            </a:pPr>
            <a:r>
              <a:rPr lang="en-US" sz="1600" b="1">
                <a:solidFill>
                  <a:srgbClr val="009999"/>
                </a:solidFill>
              </a:rPr>
              <a:t>Algebraic</a:t>
            </a:r>
            <a:r>
              <a:rPr lang="en-US" sz="1600"/>
              <a:t>: Revenue – cost = profit</a:t>
            </a:r>
          </a:p>
          <a:p>
            <a:pPr marL="227013" indent="-227013">
              <a:lnSpc>
                <a:spcPct val="100000"/>
              </a:lnSpc>
              <a:buFont typeface="Arial" panose="020B0604020202020204" pitchFamily="34" charset="0"/>
              <a:buChar char="•"/>
            </a:pPr>
            <a:r>
              <a:rPr lang="en-US" sz="1600" b="1">
                <a:solidFill>
                  <a:srgbClr val="009999"/>
                </a:solidFill>
              </a:rPr>
              <a:t>Conceptual</a:t>
            </a:r>
            <a:r>
              <a:rPr lang="en-US" sz="1600"/>
              <a:t>: Build vs. partner vs. buy</a:t>
            </a:r>
          </a:p>
          <a:p>
            <a:pPr marL="227013" indent="-227013">
              <a:lnSpc>
                <a:spcPct val="100000"/>
              </a:lnSpc>
              <a:buFont typeface="Arial" panose="020B0604020202020204" pitchFamily="34" charset="0"/>
              <a:buChar char="•"/>
            </a:pPr>
            <a:r>
              <a:rPr lang="en-US" sz="1600" b="1">
                <a:solidFill>
                  <a:srgbClr val="009999"/>
                </a:solidFill>
              </a:rPr>
              <a:t>Process</a:t>
            </a:r>
            <a:r>
              <a:rPr lang="en-US" sz="1600"/>
              <a:t>: Awareness -&gt; consideration -&gt; conversion</a:t>
            </a:r>
          </a:p>
          <a:p>
            <a:pPr marL="227013" indent="-227013">
              <a:lnSpc>
                <a:spcPct val="100000"/>
              </a:lnSpc>
              <a:buFont typeface="Arial" panose="020B0604020202020204" pitchFamily="34" charset="0"/>
              <a:buChar char="•"/>
            </a:pPr>
            <a:r>
              <a:rPr lang="en-US" sz="1600" b="1">
                <a:solidFill>
                  <a:srgbClr val="009999"/>
                </a:solidFill>
              </a:rPr>
              <a:t>Segmentation</a:t>
            </a:r>
            <a:r>
              <a:rPr lang="en-US" sz="1600"/>
              <a:t>: Age, gender, race, income, geography</a:t>
            </a:r>
          </a:p>
          <a:p>
            <a:pPr marL="227013" indent="-227013">
              <a:lnSpc>
                <a:spcPct val="100000"/>
              </a:lnSpc>
              <a:buFont typeface="Arial" panose="020B0604020202020204" pitchFamily="34" charset="0"/>
              <a:buChar char="•"/>
            </a:pPr>
            <a:r>
              <a:rPr lang="en-US" sz="1600" b="1">
                <a:solidFill>
                  <a:srgbClr val="009999"/>
                </a:solidFill>
              </a:rPr>
              <a:t>Opposites</a:t>
            </a:r>
            <a:r>
              <a:rPr lang="en-US" sz="1600"/>
              <a:t>: Internal vs. external, organic vs. inorganic</a:t>
            </a:r>
          </a:p>
        </p:txBody>
      </p:sp>
      <p:sp>
        <p:nvSpPr>
          <p:cNvPr id="15" name="Title 1">
            <a:extLst>
              <a:ext uri="{FF2B5EF4-FFF2-40B4-BE49-F238E27FC236}">
                <a16:creationId xmlns:a16="http://schemas.microsoft.com/office/drawing/2014/main" id="{134EA9B6-0B5F-C227-894E-EAB4D56A4E2C}"/>
              </a:ext>
            </a:extLst>
          </p:cNvPr>
          <p:cNvSpPr txBox="1">
            <a:spLocks/>
          </p:cNvSpPr>
          <p:nvPr/>
        </p:nvSpPr>
        <p:spPr>
          <a:xfrm>
            <a:off x="6173264" y="4727020"/>
            <a:ext cx="5180536" cy="1315247"/>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227013" indent="-227013">
              <a:lnSpc>
                <a:spcPct val="100000"/>
              </a:lnSpc>
              <a:buFont typeface="Arial" panose="020B0604020202020204" pitchFamily="34" charset="0"/>
              <a:buChar char="•"/>
            </a:pPr>
            <a:r>
              <a:rPr lang="en-US" sz="1600"/>
              <a:t>Do now, schedule, delegate, eliminate</a:t>
            </a:r>
          </a:p>
          <a:p>
            <a:pPr marL="227013" indent="-227013">
              <a:lnSpc>
                <a:spcPct val="100000"/>
              </a:lnSpc>
              <a:buFont typeface="Arial" panose="020B0604020202020204" pitchFamily="34" charset="0"/>
              <a:buChar char="•"/>
            </a:pPr>
            <a:r>
              <a:rPr lang="en-US" sz="1600"/>
              <a:t>Cook, eat out, takeout, delivery</a:t>
            </a:r>
          </a:p>
          <a:p>
            <a:pPr marL="227013" indent="-227013">
              <a:lnSpc>
                <a:spcPct val="100000"/>
              </a:lnSpc>
              <a:buFont typeface="Arial" panose="020B0604020202020204" pitchFamily="34" charset="0"/>
              <a:buChar char="•"/>
            </a:pPr>
            <a:r>
              <a:rPr lang="en-US" sz="1600"/>
              <a:t>Health, wealth, professional development, personal development, relationships</a:t>
            </a:r>
          </a:p>
          <a:p>
            <a:pPr marL="227013" indent="-227013">
              <a:lnSpc>
                <a:spcPct val="100000"/>
              </a:lnSpc>
              <a:buFont typeface="Arial" panose="020B0604020202020204" pitchFamily="34" charset="0"/>
              <a:buChar char="•"/>
            </a:pPr>
            <a:endParaRPr lang="en-US" sz="1600"/>
          </a:p>
        </p:txBody>
      </p:sp>
      <p:cxnSp>
        <p:nvCxnSpPr>
          <p:cNvPr id="16" name="Straight Connector 15">
            <a:extLst>
              <a:ext uri="{FF2B5EF4-FFF2-40B4-BE49-F238E27FC236}">
                <a16:creationId xmlns:a16="http://schemas.microsoft.com/office/drawing/2014/main" id="{59126D1C-9947-4C75-62FB-FA1CE65951E8}"/>
              </a:ext>
            </a:extLst>
          </p:cNvPr>
          <p:cNvCxnSpPr>
            <a:cxnSpLocks/>
          </p:cNvCxnSpPr>
          <p:nvPr/>
        </p:nvCxnSpPr>
        <p:spPr>
          <a:xfrm>
            <a:off x="554735" y="2217142"/>
            <a:ext cx="10602792" cy="0"/>
          </a:xfrm>
          <a:prstGeom prst="line">
            <a:avLst/>
          </a:prstGeom>
          <a:ln w="12700">
            <a:solidFill>
              <a:schemeClr val="accent5"/>
            </a:solidFill>
          </a:ln>
        </p:spPr>
        <p:style>
          <a:lnRef idx="1">
            <a:schemeClr val="dk1"/>
          </a:lnRef>
          <a:fillRef idx="0">
            <a:schemeClr val="dk1"/>
          </a:fillRef>
          <a:effectRef idx="0">
            <a:schemeClr val="dk1"/>
          </a:effectRef>
          <a:fontRef idx="minor">
            <a:schemeClr val="tx1"/>
          </a:fontRef>
        </p:style>
      </p:cxnSp>
      <p:pic>
        <p:nvPicPr>
          <p:cNvPr id="18" name="Graphic 17" descr="Table outline">
            <a:extLst>
              <a:ext uri="{FF2B5EF4-FFF2-40B4-BE49-F238E27FC236}">
                <a16:creationId xmlns:a16="http://schemas.microsoft.com/office/drawing/2014/main" id="{9F4AE8D3-5DC4-8CDB-216C-8EA9F6D1584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2935" y="4200407"/>
            <a:ext cx="968246" cy="968246"/>
          </a:xfrm>
          <a:prstGeom prst="rect">
            <a:avLst/>
          </a:prstGeom>
        </p:spPr>
      </p:pic>
      <p:sp>
        <p:nvSpPr>
          <p:cNvPr id="19" name="Rectangle 18">
            <a:extLst>
              <a:ext uri="{FF2B5EF4-FFF2-40B4-BE49-F238E27FC236}">
                <a16:creationId xmlns:a16="http://schemas.microsoft.com/office/drawing/2014/main" id="{0E3592B3-6510-0C96-6F30-4A3C5915C760}"/>
              </a:ext>
            </a:extLst>
          </p:cNvPr>
          <p:cNvSpPr/>
          <p:nvPr/>
        </p:nvSpPr>
        <p:spPr>
          <a:xfrm>
            <a:off x="569985" y="2430011"/>
            <a:ext cx="339365" cy="274707"/>
          </a:xfrm>
          <a:prstGeom prst="rect">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err="1"/>
          </a:p>
        </p:txBody>
      </p:sp>
      <p:sp>
        <p:nvSpPr>
          <p:cNvPr id="20" name="Rectangle 19">
            <a:extLst>
              <a:ext uri="{FF2B5EF4-FFF2-40B4-BE49-F238E27FC236}">
                <a16:creationId xmlns:a16="http://schemas.microsoft.com/office/drawing/2014/main" id="{435D0929-C8B4-CD90-FEAF-DAF08A93EF6E}"/>
              </a:ext>
            </a:extLst>
          </p:cNvPr>
          <p:cNvSpPr/>
          <p:nvPr/>
        </p:nvSpPr>
        <p:spPr>
          <a:xfrm>
            <a:off x="956485" y="2430011"/>
            <a:ext cx="339365" cy="274707"/>
          </a:xfrm>
          <a:prstGeom prst="rect">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err="1"/>
          </a:p>
        </p:txBody>
      </p:sp>
      <p:sp>
        <p:nvSpPr>
          <p:cNvPr id="21" name="Rectangle 20">
            <a:extLst>
              <a:ext uri="{FF2B5EF4-FFF2-40B4-BE49-F238E27FC236}">
                <a16:creationId xmlns:a16="http://schemas.microsoft.com/office/drawing/2014/main" id="{74CFC5A6-DE34-7D14-7A03-F2FD2088AB65}"/>
              </a:ext>
            </a:extLst>
          </p:cNvPr>
          <p:cNvSpPr/>
          <p:nvPr/>
        </p:nvSpPr>
        <p:spPr>
          <a:xfrm>
            <a:off x="569985" y="2756948"/>
            <a:ext cx="339365" cy="274707"/>
          </a:xfrm>
          <a:prstGeom prst="rect">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err="1"/>
          </a:p>
        </p:txBody>
      </p:sp>
      <p:sp>
        <p:nvSpPr>
          <p:cNvPr id="22" name="Rectangle 21">
            <a:extLst>
              <a:ext uri="{FF2B5EF4-FFF2-40B4-BE49-F238E27FC236}">
                <a16:creationId xmlns:a16="http://schemas.microsoft.com/office/drawing/2014/main" id="{7A887406-B314-10F7-E638-DA21C0A1C5B0}"/>
              </a:ext>
            </a:extLst>
          </p:cNvPr>
          <p:cNvSpPr/>
          <p:nvPr/>
        </p:nvSpPr>
        <p:spPr>
          <a:xfrm>
            <a:off x="956485" y="2756948"/>
            <a:ext cx="339365" cy="274707"/>
          </a:xfrm>
          <a:prstGeom prst="rect">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err="1"/>
          </a:p>
        </p:txBody>
      </p:sp>
      <p:sp>
        <p:nvSpPr>
          <p:cNvPr id="23" name="Title 1">
            <a:extLst>
              <a:ext uri="{FF2B5EF4-FFF2-40B4-BE49-F238E27FC236}">
                <a16:creationId xmlns:a16="http://schemas.microsoft.com/office/drawing/2014/main" id="{0C94365E-688E-06E7-729A-5056A4F13FDD}"/>
              </a:ext>
            </a:extLst>
          </p:cNvPr>
          <p:cNvSpPr txBox="1">
            <a:spLocks/>
          </p:cNvSpPr>
          <p:nvPr/>
        </p:nvSpPr>
        <p:spPr>
          <a:xfrm>
            <a:off x="6173264" y="4273988"/>
            <a:ext cx="3946023"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solidFill>
                  <a:schemeClr val="accent5"/>
                </a:solidFill>
              </a:rPr>
              <a:t>MECE frameworks in real life</a:t>
            </a:r>
          </a:p>
        </p:txBody>
      </p:sp>
      <p:cxnSp>
        <p:nvCxnSpPr>
          <p:cNvPr id="24" name="Straight Connector 23">
            <a:extLst>
              <a:ext uri="{FF2B5EF4-FFF2-40B4-BE49-F238E27FC236}">
                <a16:creationId xmlns:a16="http://schemas.microsoft.com/office/drawing/2014/main" id="{0795D7EB-C020-EA47-9F7C-2C6321D58379}"/>
              </a:ext>
            </a:extLst>
          </p:cNvPr>
          <p:cNvCxnSpPr>
            <a:cxnSpLocks/>
          </p:cNvCxnSpPr>
          <p:nvPr/>
        </p:nvCxnSpPr>
        <p:spPr>
          <a:xfrm>
            <a:off x="6173264" y="4583266"/>
            <a:ext cx="4984263" cy="0"/>
          </a:xfrm>
          <a:prstGeom prst="line">
            <a:avLst/>
          </a:prstGeom>
          <a:ln w="12700">
            <a:solidFill>
              <a:schemeClr val="accent5"/>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3470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05D84-C6B1-4DBD-8D76-01B477A03FB6}"/>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F83D2D09-6E22-8B46-9F21-E596B2310843}"/>
              </a:ext>
            </a:extLst>
          </p:cNvPr>
          <p:cNvGraphicFramePr>
            <a:graphicFrameLocks/>
          </p:cNvGraphicFramePr>
          <p:nvPr>
            <p:custDataLst>
              <p:tags r:id="rId1"/>
            </p:custDataLst>
            <p:extLst>
              <p:ext uri="{D42A27DB-BD31-4B8C-83A1-F6EECF244321}">
                <p14:modId xmlns:p14="http://schemas.microsoft.com/office/powerpoint/2010/main" val="32083806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 name="think-cell data - do not delete" hidden="1">
            <a:extLst>
              <a:ext uri="{FF2B5EF4-FFF2-40B4-BE49-F238E27FC236}">
                <a16:creationId xmlns:a16="http://schemas.microsoft.com/office/drawing/2014/main" id="{6EDE1684-A461-00E9-CD21-10DB2DC11634}"/>
              </a:ext>
            </a:extLst>
          </p:cNvPr>
          <p:cNvGraphicFramePr>
            <a:graphicFrameLocks noChangeAspect="1"/>
          </p:cNvGraphicFramePr>
          <p:nvPr>
            <p:custDataLst>
              <p:tags r:id="rId2"/>
            </p:custDataLst>
            <p:extLst>
              <p:ext uri="{D42A27DB-BD31-4B8C-83A1-F6EECF244321}">
                <p14:modId xmlns:p14="http://schemas.microsoft.com/office/powerpoint/2010/main" val="1975330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7" imgH="348" progId="TCLayout.ActiveDocument.1">
                  <p:embed/>
                </p:oleObj>
              </mc:Choice>
              <mc:Fallback>
                <p:oleObj name="think-cell Slide" r:id="rId6"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8EAB16E4-4D18-A347-3583-9201BFFAF2E6}"/>
              </a:ext>
            </a:extLst>
          </p:cNvPr>
          <p:cNvSpPr/>
          <p:nvPr/>
        </p:nvSpPr>
        <p:spPr>
          <a:xfrm>
            <a:off x="554736" y="1693857"/>
            <a:ext cx="3395095" cy="4092460"/>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err="1"/>
          </a:p>
        </p:txBody>
      </p:sp>
      <p:sp>
        <p:nvSpPr>
          <p:cNvPr id="13" name="Rectangle 12">
            <a:extLst>
              <a:ext uri="{FF2B5EF4-FFF2-40B4-BE49-F238E27FC236}">
                <a16:creationId xmlns:a16="http://schemas.microsoft.com/office/drawing/2014/main" id="{1E952265-380D-2589-1B1A-772E4E77D259}"/>
              </a:ext>
            </a:extLst>
          </p:cNvPr>
          <p:cNvSpPr/>
          <p:nvPr/>
        </p:nvSpPr>
        <p:spPr>
          <a:xfrm>
            <a:off x="4270521" y="1693857"/>
            <a:ext cx="3395095" cy="4092460"/>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err="1"/>
          </a:p>
        </p:txBody>
      </p:sp>
      <p:sp>
        <p:nvSpPr>
          <p:cNvPr id="14" name="Rectangle 13">
            <a:extLst>
              <a:ext uri="{FF2B5EF4-FFF2-40B4-BE49-F238E27FC236}">
                <a16:creationId xmlns:a16="http://schemas.microsoft.com/office/drawing/2014/main" id="{9F03419C-EA68-5C9A-BE70-0D744F21E801}"/>
              </a:ext>
            </a:extLst>
          </p:cNvPr>
          <p:cNvSpPr/>
          <p:nvPr/>
        </p:nvSpPr>
        <p:spPr>
          <a:xfrm>
            <a:off x="7986306" y="1693857"/>
            <a:ext cx="3395095" cy="4092460"/>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err="1"/>
          </a:p>
        </p:txBody>
      </p:sp>
      <p:sp>
        <p:nvSpPr>
          <p:cNvPr id="2" name="Title 1">
            <a:extLst>
              <a:ext uri="{FF2B5EF4-FFF2-40B4-BE49-F238E27FC236}">
                <a16:creationId xmlns:a16="http://schemas.microsoft.com/office/drawing/2014/main" id="{7DEF2A5D-1ED9-C18D-6458-B13A8020E7D1}"/>
              </a:ext>
            </a:extLst>
          </p:cNvPr>
          <p:cNvSpPr>
            <a:spLocks noGrp="1"/>
          </p:cNvSpPr>
          <p:nvPr>
            <p:ph type="title"/>
          </p:nvPr>
        </p:nvSpPr>
        <p:spPr>
          <a:xfrm>
            <a:off x="558800" y="635000"/>
            <a:ext cx="11087100" cy="838200"/>
          </a:xfrm>
        </p:spPr>
        <p:txBody>
          <a:bodyPr vert="horz" rIns="0" anchor="t" anchorCtr="0"/>
          <a:lstStyle/>
          <a:p>
            <a:r>
              <a:rPr lang="en-US"/>
              <a:t>Consultants work with senior leaders, so they must think like one</a:t>
            </a:r>
          </a:p>
        </p:txBody>
      </p:sp>
      <p:sp>
        <p:nvSpPr>
          <p:cNvPr id="5" name="Rectangle 4">
            <a:extLst>
              <a:ext uri="{FF2B5EF4-FFF2-40B4-BE49-F238E27FC236}">
                <a16:creationId xmlns:a16="http://schemas.microsoft.com/office/drawing/2014/main" id="{F57C5B27-CDFB-92A9-DA04-E444977F4D9E}"/>
              </a:ext>
            </a:extLst>
          </p:cNvPr>
          <p:cNvSpPr/>
          <p:nvPr/>
        </p:nvSpPr>
        <p:spPr>
          <a:xfrm>
            <a:off x="0" y="-1"/>
            <a:ext cx="2438400" cy="29198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THINK</a:t>
            </a:r>
            <a:endParaRPr lang="en-US" sz="1100" dirty="0"/>
          </a:p>
        </p:txBody>
      </p:sp>
      <p:sp>
        <p:nvSpPr>
          <p:cNvPr id="6" name="Rectangle 5">
            <a:extLst>
              <a:ext uri="{FF2B5EF4-FFF2-40B4-BE49-F238E27FC236}">
                <a16:creationId xmlns:a16="http://schemas.microsoft.com/office/drawing/2014/main" id="{EC454352-589E-B4AC-3C87-0BF41F7BF8E8}"/>
              </a:ext>
            </a:extLst>
          </p:cNvPr>
          <p:cNvSpPr/>
          <p:nvPr/>
        </p:nvSpPr>
        <p:spPr>
          <a:xfrm>
            <a:off x="24384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DECK</a:t>
            </a:r>
            <a:endParaRPr lang="en-US" sz="1100" dirty="0"/>
          </a:p>
        </p:txBody>
      </p:sp>
      <p:sp>
        <p:nvSpPr>
          <p:cNvPr id="7" name="Rectangle 6">
            <a:extLst>
              <a:ext uri="{FF2B5EF4-FFF2-40B4-BE49-F238E27FC236}">
                <a16:creationId xmlns:a16="http://schemas.microsoft.com/office/drawing/2014/main" id="{948EA1ED-3D66-FAC0-2F6A-C106D18DDCCC}"/>
              </a:ext>
            </a:extLst>
          </p:cNvPr>
          <p:cNvSpPr/>
          <p:nvPr/>
        </p:nvSpPr>
        <p:spPr>
          <a:xfrm>
            <a:off x="48768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PAGE</a:t>
            </a:r>
            <a:endParaRPr lang="en-US" sz="1100" dirty="0"/>
          </a:p>
        </p:txBody>
      </p:sp>
      <p:sp>
        <p:nvSpPr>
          <p:cNvPr id="8" name="Rectangle 7">
            <a:extLst>
              <a:ext uri="{FF2B5EF4-FFF2-40B4-BE49-F238E27FC236}">
                <a16:creationId xmlns:a16="http://schemas.microsoft.com/office/drawing/2014/main" id="{47D36073-1297-27AD-8BF1-DD33D54BC7D5}"/>
              </a:ext>
            </a:extLst>
          </p:cNvPr>
          <p:cNvSpPr/>
          <p:nvPr/>
        </p:nvSpPr>
        <p:spPr>
          <a:xfrm>
            <a:off x="73152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AI WORKFLOW</a:t>
            </a:r>
            <a:endParaRPr lang="en-US" sz="1100" dirty="0"/>
          </a:p>
        </p:txBody>
      </p:sp>
      <p:sp>
        <p:nvSpPr>
          <p:cNvPr id="24" name="Rectangle 24"/>
          <p:cNvSpPr/>
          <p:nvPr/>
        </p:nvSpPr>
        <p:spPr>
          <a:xfrm>
            <a:off x="97536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QUALITY &amp; DATA</a:t>
            </a:r>
            <a:endParaRPr lang="en-US" sz="1100" dirty="0"/>
          </a:p>
        </p:txBody>
      </p:sp>
      <p:sp>
        <p:nvSpPr>
          <p:cNvPr id="9" name="Title 1">
            <a:extLst>
              <a:ext uri="{FF2B5EF4-FFF2-40B4-BE49-F238E27FC236}">
                <a16:creationId xmlns:a16="http://schemas.microsoft.com/office/drawing/2014/main" id="{236DCEF3-6DD7-6044-ACF0-C035F06BDFD6}"/>
              </a:ext>
            </a:extLst>
          </p:cNvPr>
          <p:cNvSpPr txBox="1">
            <a:spLocks/>
          </p:cNvSpPr>
          <p:nvPr/>
        </p:nvSpPr>
        <p:spPr>
          <a:xfrm>
            <a:off x="601871" y="2003060"/>
            <a:ext cx="3278355" cy="31593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n-US" sz="2000" b="1">
                <a:solidFill>
                  <a:schemeClr val="accent5"/>
                </a:solidFill>
              </a:rPr>
              <a:t>Hypothesis-driven</a:t>
            </a:r>
          </a:p>
        </p:txBody>
      </p:sp>
      <p:sp>
        <p:nvSpPr>
          <p:cNvPr id="10" name="Title 1">
            <a:extLst>
              <a:ext uri="{FF2B5EF4-FFF2-40B4-BE49-F238E27FC236}">
                <a16:creationId xmlns:a16="http://schemas.microsoft.com/office/drawing/2014/main" id="{75B3ABF4-92F5-3BBC-A498-F96CD8E606C5}"/>
              </a:ext>
            </a:extLst>
          </p:cNvPr>
          <p:cNvSpPr txBox="1">
            <a:spLocks/>
          </p:cNvSpPr>
          <p:nvPr/>
        </p:nvSpPr>
        <p:spPr>
          <a:xfrm>
            <a:off x="4296417" y="2003060"/>
            <a:ext cx="3278355" cy="31593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n-US" sz="2000" b="1">
                <a:solidFill>
                  <a:schemeClr val="accent5"/>
                </a:solidFill>
              </a:rPr>
              <a:t>80/20 rule</a:t>
            </a:r>
          </a:p>
        </p:txBody>
      </p:sp>
      <p:sp>
        <p:nvSpPr>
          <p:cNvPr id="11" name="Title 1">
            <a:extLst>
              <a:ext uri="{FF2B5EF4-FFF2-40B4-BE49-F238E27FC236}">
                <a16:creationId xmlns:a16="http://schemas.microsoft.com/office/drawing/2014/main" id="{5EA1B230-ACEB-CF35-95B1-344B629A3003}"/>
              </a:ext>
            </a:extLst>
          </p:cNvPr>
          <p:cNvSpPr txBox="1">
            <a:spLocks/>
          </p:cNvSpPr>
          <p:nvPr/>
        </p:nvSpPr>
        <p:spPr>
          <a:xfrm>
            <a:off x="7990963" y="2003060"/>
            <a:ext cx="3278355" cy="31593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n-US" sz="2000" b="1">
                <a:solidFill>
                  <a:schemeClr val="accent5"/>
                </a:solidFill>
              </a:rPr>
              <a:t>So What</a:t>
            </a:r>
          </a:p>
        </p:txBody>
      </p:sp>
      <p:sp>
        <p:nvSpPr>
          <p:cNvPr id="15" name="Title 1">
            <a:extLst>
              <a:ext uri="{FF2B5EF4-FFF2-40B4-BE49-F238E27FC236}">
                <a16:creationId xmlns:a16="http://schemas.microsoft.com/office/drawing/2014/main" id="{C8EC0303-4661-0D33-A3DA-CA6685B2FA99}"/>
              </a:ext>
            </a:extLst>
          </p:cNvPr>
          <p:cNvSpPr txBox="1">
            <a:spLocks/>
          </p:cNvSpPr>
          <p:nvPr/>
        </p:nvSpPr>
        <p:spPr>
          <a:xfrm>
            <a:off x="729132" y="3619895"/>
            <a:ext cx="3046302" cy="2166422"/>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n-US" sz="1800"/>
              <a:t>Leaders expect estimates and answers from day 1</a:t>
            </a:r>
          </a:p>
          <a:p>
            <a:pPr algn="ctr"/>
            <a:endParaRPr lang="en-US" sz="1800"/>
          </a:p>
          <a:p>
            <a:pPr algn="ctr"/>
            <a:r>
              <a:rPr lang="en-US" sz="1800" b="1"/>
              <a:t>Stay ahead of the problem </a:t>
            </a:r>
            <a:r>
              <a:rPr lang="en-US" sz="1800"/>
              <a:t>and ask yourself what you expect to find</a:t>
            </a:r>
          </a:p>
        </p:txBody>
      </p:sp>
      <p:sp>
        <p:nvSpPr>
          <p:cNvPr id="16" name="Title 1">
            <a:extLst>
              <a:ext uri="{FF2B5EF4-FFF2-40B4-BE49-F238E27FC236}">
                <a16:creationId xmlns:a16="http://schemas.microsoft.com/office/drawing/2014/main" id="{40A3E32B-F5C9-DA66-CC0C-D32621509A59}"/>
              </a:ext>
            </a:extLst>
          </p:cNvPr>
          <p:cNvSpPr txBox="1">
            <a:spLocks/>
          </p:cNvSpPr>
          <p:nvPr/>
        </p:nvSpPr>
        <p:spPr>
          <a:xfrm>
            <a:off x="4412443" y="3619895"/>
            <a:ext cx="3046302" cy="2166422"/>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n-US" sz="1800"/>
              <a:t>Leaders only have time for the 80% and the top 3</a:t>
            </a:r>
          </a:p>
          <a:p>
            <a:pPr algn="ctr"/>
            <a:endParaRPr lang="en-US" sz="1800"/>
          </a:p>
          <a:p>
            <a:pPr algn="ctr"/>
            <a:r>
              <a:rPr lang="en-US" sz="1800"/>
              <a:t>Focus your time and effort most on the </a:t>
            </a:r>
            <a:r>
              <a:rPr lang="en-US" sz="1800" b="1"/>
              <a:t>key drivers and dominant trends</a:t>
            </a:r>
          </a:p>
        </p:txBody>
      </p:sp>
      <p:sp>
        <p:nvSpPr>
          <p:cNvPr id="17" name="Title 1">
            <a:extLst>
              <a:ext uri="{FF2B5EF4-FFF2-40B4-BE49-F238E27FC236}">
                <a16:creationId xmlns:a16="http://schemas.microsoft.com/office/drawing/2014/main" id="{E86F843D-2E4D-6A46-BA31-1D3EB35F3E3C}"/>
              </a:ext>
            </a:extLst>
          </p:cNvPr>
          <p:cNvSpPr txBox="1">
            <a:spLocks/>
          </p:cNvSpPr>
          <p:nvPr/>
        </p:nvSpPr>
        <p:spPr>
          <a:xfrm>
            <a:off x="8160702" y="3619895"/>
            <a:ext cx="3046302" cy="2166422"/>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n-US" sz="1800"/>
              <a:t>Leaders are trained to ask why this matters to them</a:t>
            </a:r>
          </a:p>
          <a:p>
            <a:pPr algn="ctr"/>
            <a:endParaRPr lang="en-US" sz="1800"/>
          </a:p>
          <a:p>
            <a:pPr algn="ctr"/>
            <a:r>
              <a:rPr lang="en-US" sz="1800"/>
              <a:t>Everything we create should have a </a:t>
            </a:r>
            <a:r>
              <a:rPr lang="en-US" sz="1800" b="1"/>
              <a:t>clear “so what” labeled</a:t>
            </a:r>
            <a:r>
              <a:rPr lang="en-US" sz="1800"/>
              <a:t>; don’t make them read everything</a:t>
            </a:r>
          </a:p>
        </p:txBody>
      </p:sp>
      <p:pic>
        <p:nvPicPr>
          <p:cNvPr id="19" name="Graphic 18" descr="Checkbox Checked outline">
            <a:extLst>
              <a:ext uri="{FF2B5EF4-FFF2-40B4-BE49-F238E27FC236}">
                <a16:creationId xmlns:a16="http://schemas.microsoft.com/office/drawing/2014/main" id="{AC10A6A9-47DD-1BAD-F5D3-35ABBAEAB37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234171" y="2450000"/>
            <a:ext cx="791938" cy="791938"/>
          </a:xfrm>
          <a:prstGeom prst="rect">
            <a:avLst/>
          </a:prstGeom>
        </p:spPr>
      </p:pic>
      <p:pic>
        <p:nvPicPr>
          <p:cNvPr id="21" name="Graphic 20" descr="Pie chart outline">
            <a:extLst>
              <a:ext uri="{FF2B5EF4-FFF2-40B4-BE49-F238E27FC236}">
                <a16:creationId xmlns:a16="http://schemas.microsoft.com/office/drawing/2014/main" id="{0D9F4340-68F9-FE57-1305-E348F05E0F0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539625" y="2450000"/>
            <a:ext cx="791938" cy="791938"/>
          </a:xfrm>
          <a:prstGeom prst="rect">
            <a:avLst/>
          </a:prstGeom>
        </p:spPr>
      </p:pic>
      <p:pic>
        <p:nvPicPr>
          <p:cNvPr id="23" name="Graphic 22" descr="Idea outline">
            <a:extLst>
              <a:ext uri="{FF2B5EF4-FFF2-40B4-BE49-F238E27FC236}">
                <a16:creationId xmlns:a16="http://schemas.microsoft.com/office/drawing/2014/main" id="{C4B6E731-D8AD-F069-B348-6B2ACDB9478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845079" y="2450000"/>
            <a:ext cx="791938" cy="791938"/>
          </a:xfrm>
          <a:prstGeom prst="rect">
            <a:avLst/>
          </a:prstGeom>
        </p:spPr>
      </p:pic>
    </p:spTree>
    <p:extLst>
      <p:ext uri="{BB962C8B-B14F-4D97-AF65-F5344CB8AC3E}">
        <p14:creationId xmlns:p14="http://schemas.microsoft.com/office/powerpoint/2010/main" val="2186010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8B2D1C4-F928-C713-D79A-0FE6D1DD4814}"/>
              </a:ext>
            </a:extLst>
          </p:cNvPr>
          <p:cNvGraphicFramePr>
            <a:graphicFrameLocks/>
          </p:cNvGraphicFramePr>
          <p:nvPr>
            <p:custDataLst>
              <p:tags r:id="rId1"/>
            </p:custDataLst>
            <p:extLst>
              <p:ext uri="{D42A27DB-BD31-4B8C-83A1-F6EECF244321}">
                <p14:modId xmlns:p14="http://schemas.microsoft.com/office/powerpoint/2010/main" val="28445501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DA3D1E5-CB5C-144E-6044-7B9B1F702FE3}"/>
              </a:ext>
            </a:extLst>
          </p:cNvPr>
          <p:cNvSpPr>
            <a:spLocks noGrp="1"/>
          </p:cNvSpPr>
          <p:nvPr>
            <p:ph type="title"/>
          </p:nvPr>
        </p:nvSpPr>
        <p:spPr>
          <a:xfrm>
            <a:off x="558800" y="635000"/>
            <a:ext cx="11087100" cy="838200"/>
          </a:xfrm>
        </p:spPr>
        <p:txBody>
          <a:bodyPr vert="horz" rIns="0" anchor="t" anchorCtr="0"/>
          <a:lstStyle/>
          <a:p>
            <a:r>
              <a:rPr lang="en-US"/>
              <a:t>Critical thinking | Key takeaways</a:t>
            </a:r>
          </a:p>
        </p:txBody>
      </p:sp>
      <p:sp>
        <p:nvSpPr>
          <p:cNvPr id="5" name="Title 1">
            <a:extLst>
              <a:ext uri="{FF2B5EF4-FFF2-40B4-BE49-F238E27FC236}">
                <a16:creationId xmlns:a16="http://schemas.microsoft.com/office/drawing/2014/main" id="{98106161-2931-4856-E63A-92DD5111A240}"/>
              </a:ext>
            </a:extLst>
          </p:cNvPr>
          <p:cNvSpPr txBox="1">
            <a:spLocks/>
          </p:cNvSpPr>
          <p:nvPr/>
        </p:nvSpPr>
        <p:spPr>
          <a:xfrm>
            <a:off x="1071418" y="1815263"/>
            <a:ext cx="9910618" cy="73152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bg1"/>
                </a:solidFill>
                <a:latin typeface="+mj-lt"/>
                <a:ea typeface="+mj-ea"/>
                <a:cs typeface="+mj-cs"/>
              </a:defRPr>
            </a:lvl1pPr>
          </a:lstStyle>
          <a:p>
            <a:r>
              <a:rPr lang="en-US"/>
              <a:t>The “so what” business implication is what strategy consultants are hired for. Therefore it should form the basis of all outputs </a:t>
            </a:r>
          </a:p>
        </p:txBody>
      </p:sp>
      <p:sp>
        <p:nvSpPr>
          <p:cNvPr id="6" name="Title 1">
            <a:extLst>
              <a:ext uri="{FF2B5EF4-FFF2-40B4-BE49-F238E27FC236}">
                <a16:creationId xmlns:a16="http://schemas.microsoft.com/office/drawing/2014/main" id="{F379052C-BCD3-F77C-22A6-B033E453DB68}"/>
              </a:ext>
            </a:extLst>
          </p:cNvPr>
          <p:cNvSpPr txBox="1">
            <a:spLocks/>
          </p:cNvSpPr>
          <p:nvPr/>
        </p:nvSpPr>
        <p:spPr>
          <a:xfrm>
            <a:off x="1071417" y="3270075"/>
            <a:ext cx="10344444" cy="83820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bg1"/>
                </a:solidFill>
                <a:latin typeface="+mj-lt"/>
                <a:ea typeface="+mj-ea"/>
                <a:cs typeface="+mj-cs"/>
              </a:defRPr>
            </a:lvl1pPr>
          </a:lstStyle>
          <a:p>
            <a:r>
              <a:rPr lang="en-US"/>
              <a:t>Prioritize the top 3, the 80% and the general trend; but be prepared to speak to the edge cases, exceptions, and unique client situations</a:t>
            </a:r>
          </a:p>
        </p:txBody>
      </p:sp>
      <p:sp>
        <p:nvSpPr>
          <p:cNvPr id="7" name="Title 1">
            <a:extLst>
              <a:ext uri="{FF2B5EF4-FFF2-40B4-BE49-F238E27FC236}">
                <a16:creationId xmlns:a16="http://schemas.microsoft.com/office/drawing/2014/main" id="{183A0587-E3F4-B715-740F-BA51FF1E3719}"/>
              </a:ext>
            </a:extLst>
          </p:cNvPr>
          <p:cNvSpPr txBox="1">
            <a:spLocks/>
          </p:cNvSpPr>
          <p:nvPr/>
        </p:nvSpPr>
        <p:spPr>
          <a:xfrm>
            <a:off x="1071418" y="4719002"/>
            <a:ext cx="10127625" cy="73152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bg1"/>
                </a:solidFill>
                <a:latin typeface="+mj-lt"/>
                <a:ea typeface="+mj-ea"/>
                <a:cs typeface="+mj-cs"/>
              </a:defRPr>
            </a:lvl1pPr>
          </a:lstStyle>
          <a:p>
            <a:r>
              <a:rPr lang="en-US"/>
              <a:t>Business leaders think in measurable terms. Always ask “by when” “by how much” “using which lever”</a:t>
            </a:r>
          </a:p>
        </p:txBody>
      </p:sp>
      <p:sp>
        <p:nvSpPr>
          <p:cNvPr id="9" name="Oval 8">
            <a:extLst>
              <a:ext uri="{FF2B5EF4-FFF2-40B4-BE49-F238E27FC236}">
                <a16:creationId xmlns:a16="http://schemas.microsoft.com/office/drawing/2014/main" id="{83DD10D8-DC46-5093-7B07-4C33BE66F6F5}"/>
              </a:ext>
            </a:extLst>
          </p:cNvPr>
          <p:cNvSpPr/>
          <p:nvPr/>
        </p:nvSpPr>
        <p:spPr>
          <a:xfrm>
            <a:off x="554736" y="1774623"/>
            <a:ext cx="406400" cy="406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2"/>
                </a:solidFill>
              </a:rPr>
              <a:t>1</a:t>
            </a:r>
            <a:endParaRPr lang="en-US" b="1" dirty="0" err="1">
              <a:solidFill>
                <a:schemeClr val="bg2"/>
              </a:solidFill>
            </a:endParaRPr>
          </a:p>
        </p:txBody>
      </p:sp>
      <p:sp>
        <p:nvSpPr>
          <p:cNvPr id="10" name="Oval 9">
            <a:extLst>
              <a:ext uri="{FF2B5EF4-FFF2-40B4-BE49-F238E27FC236}">
                <a16:creationId xmlns:a16="http://schemas.microsoft.com/office/drawing/2014/main" id="{F22F0F0F-15F9-179B-A502-2FEA89E54F2D}"/>
              </a:ext>
            </a:extLst>
          </p:cNvPr>
          <p:cNvSpPr/>
          <p:nvPr/>
        </p:nvSpPr>
        <p:spPr>
          <a:xfrm>
            <a:off x="554736" y="3226493"/>
            <a:ext cx="406400" cy="406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2"/>
                </a:solidFill>
              </a:rPr>
              <a:t>2</a:t>
            </a:r>
            <a:endParaRPr lang="en-US" b="1" dirty="0" err="1">
              <a:solidFill>
                <a:schemeClr val="bg2"/>
              </a:solidFill>
            </a:endParaRPr>
          </a:p>
        </p:txBody>
      </p:sp>
      <p:sp>
        <p:nvSpPr>
          <p:cNvPr id="11" name="Oval 10">
            <a:extLst>
              <a:ext uri="{FF2B5EF4-FFF2-40B4-BE49-F238E27FC236}">
                <a16:creationId xmlns:a16="http://schemas.microsoft.com/office/drawing/2014/main" id="{A6045032-FBDC-AEF4-33A9-93D6A6633397}"/>
              </a:ext>
            </a:extLst>
          </p:cNvPr>
          <p:cNvSpPr/>
          <p:nvPr/>
        </p:nvSpPr>
        <p:spPr>
          <a:xfrm>
            <a:off x="554736" y="4678362"/>
            <a:ext cx="406400" cy="406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2"/>
                </a:solidFill>
              </a:rPr>
              <a:t>3</a:t>
            </a:r>
            <a:endParaRPr lang="en-US" b="1" dirty="0" err="1">
              <a:solidFill>
                <a:schemeClr val="bg2"/>
              </a:solidFill>
            </a:endParaRPr>
          </a:p>
        </p:txBody>
      </p:sp>
    </p:spTree>
    <p:extLst>
      <p:ext uri="{BB962C8B-B14F-4D97-AF65-F5344CB8AC3E}">
        <p14:creationId xmlns:p14="http://schemas.microsoft.com/office/powerpoint/2010/main" val="1799468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A74FE-A9B4-D050-B673-6A2092388944}"/>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A139B48-0A25-768D-093A-9F773DE639CF}"/>
              </a:ext>
            </a:extLst>
          </p:cNvPr>
          <p:cNvGraphicFramePr>
            <a:graphicFrameLocks/>
          </p:cNvGraphicFramePr>
          <p:nvPr>
            <p:custDataLst>
              <p:tags r:id="rId1"/>
            </p:custDataLst>
            <p:extLst>
              <p:ext uri="{D42A27DB-BD31-4B8C-83A1-F6EECF244321}">
                <p14:modId xmlns:p14="http://schemas.microsoft.com/office/powerpoint/2010/main" val="27042964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67C5DF29-B8F9-F9F1-CC57-8465145F0CEC}"/>
              </a:ext>
            </a:extLst>
          </p:cNvPr>
          <p:cNvSpPr>
            <a:spLocks noGrp="1"/>
          </p:cNvSpPr>
          <p:nvPr>
            <p:ph type="title"/>
          </p:nvPr>
        </p:nvSpPr>
        <p:spPr>
          <a:xfrm>
            <a:off x="554736" y="1921164"/>
            <a:ext cx="1384900" cy="1780167"/>
          </a:xfrm>
        </p:spPr>
        <p:txBody>
          <a:bodyPr vert="horz" rIns="0"/>
          <a:lstStyle/>
          <a:p>
            <a:r>
              <a:rPr lang="en-US" sz="11500" b="1"/>
              <a:t>2</a:t>
            </a:r>
          </a:p>
        </p:txBody>
      </p:sp>
      <p:sp>
        <p:nvSpPr>
          <p:cNvPr id="7" name="Title 3">
            <a:extLst>
              <a:ext uri="{FF2B5EF4-FFF2-40B4-BE49-F238E27FC236}">
                <a16:creationId xmlns:a16="http://schemas.microsoft.com/office/drawing/2014/main" id="{2A186147-45D5-06FA-008C-13CE4D44D9FB}"/>
              </a:ext>
            </a:extLst>
          </p:cNvPr>
          <p:cNvSpPr txBox="1">
            <a:spLocks/>
          </p:cNvSpPr>
          <p:nvPr/>
        </p:nvSpPr>
        <p:spPr>
          <a:xfrm>
            <a:off x="554736" y="3525840"/>
            <a:ext cx="5065776" cy="1341724"/>
          </a:xfrm>
          <a:prstGeom prst="rect">
            <a:avLst/>
          </a:prstGeom>
        </p:spPr>
        <p:txBody>
          <a:bodyPr vert="horz" wrap="square" lIns="0" tIns="0" rIns="0" bIns="0" rtlCol="0" anchor="b" anchorCtr="0">
            <a:noAutofit/>
          </a:bodyPr>
          <a:lstStyle>
            <a:lvl1pPr algn="l" defTabSz="914400" rtl="0" eaLnBrk="1" latinLnBrk="0" hangingPunct="1">
              <a:lnSpc>
                <a:spcPct val="90000"/>
              </a:lnSpc>
              <a:spcBef>
                <a:spcPct val="0"/>
              </a:spcBef>
              <a:buNone/>
              <a:defRPr sz="2600" kern="1200">
                <a:solidFill>
                  <a:schemeClr val="bg1"/>
                </a:solidFill>
                <a:latin typeface="+mj-lt"/>
                <a:ea typeface="+mj-ea"/>
                <a:cs typeface="+mj-cs"/>
              </a:defRPr>
            </a:lvl1pPr>
          </a:lstStyle>
          <a:p>
            <a:r>
              <a:rPr lang="en-US" sz="4800" b="1"/>
              <a:t>How we structure a deck</a:t>
            </a:r>
          </a:p>
        </p:txBody>
      </p:sp>
      <p:sp>
        <p:nvSpPr>
          <p:cNvPr id="9" name="Title 1">
            <a:extLst>
              <a:ext uri="{FF2B5EF4-FFF2-40B4-BE49-F238E27FC236}">
                <a16:creationId xmlns:a16="http://schemas.microsoft.com/office/drawing/2014/main" id="{0EBE7379-7133-EA53-C5D0-4FA3DC5F96A7}"/>
              </a:ext>
            </a:extLst>
          </p:cNvPr>
          <p:cNvSpPr txBox="1">
            <a:spLocks/>
          </p:cNvSpPr>
          <p:nvPr/>
        </p:nvSpPr>
        <p:spPr>
          <a:xfrm>
            <a:off x="6474690" y="1625601"/>
            <a:ext cx="5359347" cy="153187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t>WHAT</a:t>
            </a:r>
          </a:p>
          <a:p>
            <a:br>
              <a:rPr lang="en-US" sz="2000"/>
            </a:br>
            <a:r>
              <a:rPr lang="en-US" sz="2000"/>
              <a:t>This section shows best practices to structure a deck in a way that’s logical and easy to follow</a:t>
            </a:r>
          </a:p>
        </p:txBody>
      </p:sp>
      <p:sp>
        <p:nvSpPr>
          <p:cNvPr id="10" name="Title 1">
            <a:extLst>
              <a:ext uri="{FF2B5EF4-FFF2-40B4-BE49-F238E27FC236}">
                <a16:creationId xmlns:a16="http://schemas.microsoft.com/office/drawing/2014/main" id="{3FABFFB2-F146-6B89-8851-91D207D0F2A2}"/>
              </a:ext>
            </a:extLst>
          </p:cNvPr>
          <p:cNvSpPr txBox="1">
            <a:spLocks/>
          </p:cNvSpPr>
          <p:nvPr/>
        </p:nvSpPr>
        <p:spPr>
          <a:xfrm>
            <a:off x="6474691" y="3429000"/>
            <a:ext cx="5162572" cy="153187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t>WHY</a:t>
            </a:r>
          </a:p>
          <a:p>
            <a:br>
              <a:rPr lang="en-US" sz="2000"/>
            </a:br>
            <a:r>
              <a:rPr lang="en-US" sz="2000"/>
              <a:t>Understanding the kind of deck required for a project allows consultants to align quickly on an outline and execute with precision</a:t>
            </a:r>
          </a:p>
        </p:txBody>
      </p:sp>
    </p:spTree>
    <p:extLst>
      <p:ext uri="{BB962C8B-B14F-4D97-AF65-F5344CB8AC3E}">
        <p14:creationId xmlns:p14="http://schemas.microsoft.com/office/powerpoint/2010/main" val="3133451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33345A3-015D-2002-9D63-75D7046D08C9}"/>
              </a:ext>
            </a:extLst>
          </p:cNvPr>
          <p:cNvGraphicFramePr>
            <a:graphicFrameLocks/>
          </p:cNvGraphicFramePr>
          <p:nvPr>
            <p:custDataLst>
              <p:tags r:id="rId1"/>
            </p:custDataLst>
            <p:extLst>
              <p:ext uri="{D42A27DB-BD31-4B8C-83A1-F6EECF244321}">
                <p14:modId xmlns:p14="http://schemas.microsoft.com/office/powerpoint/2010/main" val="17571191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2" name="think-cell data - do not delete" hidden="1">
            <a:extLst>
              <a:ext uri="{FF2B5EF4-FFF2-40B4-BE49-F238E27FC236}">
                <a16:creationId xmlns:a16="http://schemas.microsoft.com/office/drawing/2014/main" id="{0BFE4AD5-323D-6808-58B5-4FF625DE8E1F}"/>
              </a:ext>
            </a:extLst>
          </p:cNvPr>
          <p:cNvGraphicFramePr>
            <a:graphicFrameLocks noChangeAspect="1"/>
          </p:cNvGraphicFramePr>
          <p:nvPr>
            <p:custDataLst>
              <p:tags r:id="rId2"/>
            </p:custDataLst>
            <p:extLst>
              <p:ext uri="{D42A27DB-BD31-4B8C-83A1-F6EECF244321}">
                <p14:modId xmlns:p14="http://schemas.microsoft.com/office/powerpoint/2010/main" val="15427979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7" imgH="348" progId="TCLayout.ActiveDocument.1">
                  <p:embed/>
                </p:oleObj>
              </mc:Choice>
              <mc:Fallback>
                <p:oleObj name="think-cell Slide" r:id="rId6"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70757825-893C-6A74-379E-1AC39CC94723}"/>
              </a:ext>
            </a:extLst>
          </p:cNvPr>
          <p:cNvSpPr>
            <a:spLocks noGrp="1"/>
          </p:cNvSpPr>
          <p:nvPr>
            <p:ph type="title"/>
          </p:nvPr>
        </p:nvSpPr>
        <p:spPr>
          <a:xfrm>
            <a:off x="554736" y="2693238"/>
            <a:ext cx="5065776" cy="1136873"/>
          </a:xfrm>
        </p:spPr>
        <p:txBody>
          <a:bodyPr vert="horz" rIns="0"/>
          <a:lstStyle/>
          <a:p>
            <a:r>
              <a:rPr lang="en-US"/>
              <a:t>Before you write a single sentence or compose a slide, ask yourself in your client’s voice…</a:t>
            </a:r>
          </a:p>
        </p:txBody>
      </p:sp>
      <p:sp>
        <p:nvSpPr>
          <p:cNvPr id="7" name="Title 3">
            <a:extLst>
              <a:ext uri="{FF2B5EF4-FFF2-40B4-BE49-F238E27FC236}">
                <a16:creationId xmlns:a16="http://schemas.microsoft.com/office/drawing/2014/main" id="{9F610F4D-CA9C-E06F-040F-A00AFCA5EB37}"/>
              </a:ext>
            </a:extLst>
          </p:cNvPr>
          <p:cNvSpPr txBox="1">
            <a:spLocks/>
          </p:cNvSpPr>
          <p:nvPr/>
        </p:nvSpPr>
        <p:spPr>
          <a:xfrm>
            <a:off x="6733244" y="1630837"/>
            <a:ext cx="3657600" cy="471340"/>
          </a:xfrm>
          <a:prstGeom prst="rect">
            <a:avLst/>
          </a:prstGeom>
        </p:spPr>
        <p:txBody>
          <a:bodyPr vert="horz" wrap="square" lIns="0" tIns="0" rIns="0" bIns="0" rtlCol="0" anchor="b"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a:solidFill>
                  <a:schemeClr val="bg1"/>
                </a:solidFill>
              </a:rPr>
              <a:t>Why should we do this?</a:t>
            </a:r>
          </a:p>
        </p:txBody>
      </p:sp>
      <p:sp>
        <p:nvSpPr>
          <p:cNvPr id="8" name="Title 3">
            <a:extLst>
              <a:ext uri="{FF2B5EF4-FFF2-40B4-BE49-F238E27FC236}">
                <a16:creationId xmlns:a16="http://schemas.microsoft.com/office/drawing/2014/main" id="{93B09B67-5914-2786-29E9-43D36F92DB38}"/>
              </a:ext>
            </a:extLst>
          </p:cNvPr>
          <p:cNvSpPr txBox="1">
            <a:spLocks/>
          </p:cNvSpPr>
          <p:nvPr/>
        </p:nvSpPr>
        <p:spPr>
          <a:xfrm>
            <a:off x="6733244" y="3026005"/>
            <a:ext cx="3657600" cy="471340"/>
          </a:xfrm>
          <a:prstGeom prst="rect">
            <a:avLst/>
          </a:prstGeom>
        </p:spPr>
        <p:txBody>
          <a:bodyPr vert="horz" wrap="square" lIns="0" tIns="0" rIns="0" bIns="0" rtlCol="0" anchor="b"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a:solidFill>
                  <a:schemeClr val="bg1"/>
                </a:solidFill>
              </a:rPr>
              <a:t>Why now?</a:t>
            </a:r>
          </a:p>
        </p:txBody>
      </p:sp>
      <p:sp>
        <p:nvSpPr>
          <p:cNvPr id="9" name="Title 3">
            <a:extLst>
              <a:ext uri="{FF2B5EF4-FFF2-40B4-BE49-F238E27FC236}">
                <a16:creationId xmlns:a16="http://schemas.microsoft.com/office/drawing/2014/main" id="{8A7DA0A6-45A8-AA1E-FBC9-DE26C7422080}"/>
              </a:ext>
            </a:extLst>
          </p:cNvPr>
          <p:cNvSpPr txBox="1">
            <a:spLocks/>
          </p:cNvSpPr>
          <p:nvPr/>
        </p:nvSpPr>
        <p:spPr>
          <a:xfrm>
            <a:off x="6733243" y="4421172"/>
            <a:ext cx="4973204" cy="471340"/>
          </a:xfrm>
          <a:prstGeom prst="rect">
            <a:avLst/>
          </a:prstGeom>
        </p:spPr>
        <p:txBody>
          <a:bodyPr vert="horz" wrap="square" lIns="0" tIns="0" rIns="0" bIns="0" rtlCol="0" anchor="b"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a:solidFill>
                  <a:schemeClr val="bg1"/>
                </a:solidFill>
              </a:rPr>
              <a:t>Why can’t we do this ourselves?</a:t>
            </a:r>
          </a:p>
        </p:txBody>
      </p:sp>
    </p:spTree>
    <p:extLst>
      <p:ext uri="{BB962C8B-B14F-4D97-AF65-F5344CB8AC3E}">
        <p14:creationId xmlns:p14="http://schemas.microsoft.com/office/powerpoint/2010/main" val="2543279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F84F5-8D9C-019B-FCCC-42931CD5BCD0}"/>
            </a:ext>
          </a:extLst>
        </p:cNvPr>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2FD3C433-A28D-F625-4C5F-4F30AD687EC2}"/>
              </a:ext>
            </a:extLst>
          </p:cNvPr>
          <p:cNvGraphicFramePr>
            <a:graphicFrameLocks/>
          </p:cNvGraphicFramePr>
          <p:nvPr>
            <p:custDataLst>
              <p:tags r:id="rId1"/>
            </p:custDataLst>
            <p:extLst>
              <p:ext uri="{D42A27DB-BD31-4B8C-83A1-F6EECF244321}">
                <p14:modId xmlns:p14="http://schemas.microsoft.com/office/powerpoint/2010/main" val="9225625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1B5BEBB-F096-6DDE-53A2-45B33F434FD2}"/>
              </a:ext>
            </a:extLst>
          </p:cNvPr>
          <p:cNvSpPr>
            <a:spLocks noGrp="1"/>
          </p:cNvSpPr>
          <p:nvPr>
            <p:ph type="title"/>
          </p:nvPr>
        </p:nvSpPr>
        <p:spPr>
          <a:xfrm>
            <a:off x="558800" y="635000"/>
            <a:ext cx="10791072" cy="838200"/>
          </a:xfrm>
        </p:spPr>
        <p:txBody>
          <a:bodyPr vert="horz" rIns="0" anchor="t" anchorCtr="0"/>
          <a:lstStyle/>
          <a:p>
            <a:r>
              <a:rPr lang="en-US"/>
              <a:t>Consulting decks follow top-down logic: takeaways and recommendations first, details below</a:t>
            </a:r>
          </a:p>
        </p:txBody>
      </p:sp>
      <p:sp>
        <p:nvSpPr>
          <p:cNvPr id="5" name="Rectangle 4">
            <a:extLst>
              <a:ext uri="{FF2B5EF4-FFF2-40B4-BE49-F238E27FC236}">
                <a16:creationId xmlns:a16="http://schemas.microsoft.com/office/drawing/2014/main" id="{81BD38ED-618C-F072-9619-AD5267C88747}"/>
              </a:ext>
            </a:extLst>
          </p:cNvPr>
          <p:cNvSpPr/>
          <p:nvPr/>
        </p:nvSpPr>
        <p:spPr>
          <a:xfrm>
            <a:off x="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THINK</a:t>
            </a:r>
            <a:endParaRPr lang="en-US" sz="1100" dirty="0"/>
          </a:p>
        </p:txBody>
      </p:sp>
      <p:sp>
        <p:nvSpPr>
          <p:cNvPr id="6" name="Rectangle 5">
            <a:extLst>
              <a:ext uri="{FF2B5EF4-FFF2-40B4-BE49-F238E27FC236}">
                <a16:creationId xmlns:a16="http://schemas.microsoft.com/office/drawing/2014/main" id="{45EABB78-5168-C58E-1A33-CB21B7723389}"/>
              </a:ext>
            </a:extLst>
          </p:cNvPr>
          <p:cNvSpPr/>
          <p:nvPr/>
        </p:nvSpPr>
        <p:spPr>
          <a:xfrm>
            <a:off x="2438400" y="-1"/>
            <a:ext cx="2438400" cy="29198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DECK</a:t>
            </a:r>
            <a:endParaRPr lang="en-US" sz="1100" dirty="0"/>
          </a:p>
        </p:txBody>
      </p:sp>
      <p:sp>
        <p:nvSpPr>
          <p:cNvPr id="7" name="Rectangle 6">
            <a:extLst>
              <a:ext uri="{FF2B5EF4-FFF2-40B4-BE49-F238E27FC236}">
                <a16:creationId xmlns:a16="http://schemas.microsoft.com/office/drawing/2014/main" id="{703D44E3-5B8A-128D-4402-1E4FE29ED29F}"/>
              </a:ext>
            </a:extLst>
          </p:cNvPr>
          <p:cNvSpPr/>
          <p:nvPr/>
        </p:nvSpPr>
        <p:spPr>
          <a:xfrm>
            <a:off x="48768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PAGE</a:t>
            </a:r>
            <a:endParaRPr lang="en-US" sz="1100" dirty="0"/>
          </a:p>
        </p:txBody>
      </p:sp>
      <p:sp>
        <p:nvSpPr>
          <p:cNvPr id="8" name="Rectangle 7">
            <a:extLst>
              <a:ext uri="{FF2B5EF4-FFF2-40B4-BE49-F238E27FC236}">
                <a16:creationId xmlns:a16="http://schemas.microsoft.com/office/drawing/2014/main" id="{CD8E4EF8-90C0-71A9-B908-94678F27D8E5}"/>
              </a:ext>
            </a:extLst>
          </p:cNvPr>
          <p:cNvSpPr/>
          <p:nvPr/>
        </p:nvSpPr>
        <p:spPr>
          <a:xfrm>
            <a:off x="73152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AI WORKFLOW</a:t>
            </a:r>
            <a:endParaRPr lang="en-US" sz="1100" dirty="0"/>
          </a:p>
        </p:txBody>
      </p:sp>
      <p:sp>
        <p:nvSpPr>
          <p:cNvPr id="23" name="Rectangle 23"/>
          <p:cNvSpPr/>
          <p:nvPr/>
        </p:nvSpPr>
        <p:spPr>
          <a:xfrm>
            <a:off x="97536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QUALITY &amp; DATA</a:t>
            </a:r>
            <a:endParaRPr lang="en-US" sz="1100" dirty="0"/>
          </a:p>
        </p:txBody>
      </p:sp>
      <p:sp>
        <p:nvSpPr>
          <p:cNvPr id="9" name="Title 1">
            <a:extLst>
              <a:ext uri="{FF2B5EF4-FFF2-40B4-BE49-F238E27FC236}">
                <a16:creationId xmlns:a16="http://schemas.microsoft.com/office/drawing/2014/main" id="{13425095-A372-B1C7-99A1-BC62670A9081}"/>
              </a:ext>
            </a:extLst>
          </p:cNvPr>
          <p:cNvSpPr txBox="1">
            <a:spLocks/>
          </p:cNvSpPr>
          <p:nvPr/>
        </p:nvSpPr>
        <p:spPr>
          <a:xfrm>
            <a:off x="554736" y="2304474"/>
            <a:ext cx="3278355"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solidFill>
                  <a:schemeClr val="accent5"/>
                </a:solidFill>
              </a:rPr>
              <a:t>Summary of findings and recommendations</a:t>
            </a:r>
          </a:p>
        </p:txBody>
      </p:sp>
      <p:sp>
        <p:nvSpPr>
          <p:cNvPr id="3" name="Rectangle 2">
            <a:extLst>
              <a:ext uri="{FF2B5EF4-FFF2-40B4-BE49-F238E27FC236}">
                <a16:creationId xmlns:a16="http://schemas.microsoft.com/office/drawing/2014/main" id="{18F61CDB-80F0-52D8-90F7-E2E1A2AD9693}"/>
              </a:ext>
            </a:extLst>
          </p:cNvPr>
          <p:cNvSpPr/>
          <p:nvPr/>
        </p:nvSpPr>
        <p:spPr>
          <a:xfrm>
            <a:off x="7416801" y="1944257"/>
            <a:ext cx="2061664" cy="103908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Exec sum</a:t>
            </a:r>
          </a:p>
        </p:txBody>
      </p:sp>
      <p:sp>
        <p:nvSpPr>
          <p:cNvPr id="4" name="Rectangle 3">
            <a:extLst>
              <a:ext uri="{FF2B5EF4-FFF2-40B4-BE49-F238E27FC236}">
                <a16:creationId xmlns:a16="http://schemas.microsoft.com/office/drawing/2014/main" id="{0EC5A2AD-2C78-6F2B-6FF4-26443854E7E7}"/>
              </a:ext>
            </a:extLst>
          </p:cNvPr>
          <p:cNvSpPr/>
          <p:nvPr/>
        </p:nvSpPr>
        <p:spPr>
          <a:xfrm>
            <a:off x="5041100" y="3292765"/>
            <a:ext cx="2061664" cy="103908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Point #1</a:t>
            </a:r>
            <a:endParaRPr lang="en-US" sz="1400" b="1" dirty="0" err="1">
              <a:solidFill>
                <a:schemeClr val="bg1"/>
              </a:solidFill>
            </a:endParaRPr>
          </a:p>
        </p:txBody>
      </p:sp>
      <p:sp>
        <p:nvSpPr>
          <p:cNvPr id="10" name="Rectangle 9">
            <a:extLst>
              <a:ext uri="{FF2B5EF4-FFF2-40B4-BE49-F238E27FC236}">
                <a16:creationId xmlns:a16="http://schemas.microsoft.com/office/drawing/2014/main" id="{BF3EBA1E-8924-04F7-DAE1-67C449DD0EE5}"/>
              </a:ext>
            </a:extLst>
          </p:cNvPr>
          <p:cNvSpPr/>
          <p:nvPr/>
        </p:nvSpPr>
        <p:spPr>
          <a:xfrm>
            <a:off x="7416801" y="3292765"/>
            <a:ext cx="2061664" cy="103908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Point #2</a:t>
            </a:r>
          </a:p>
        </p:txBody>
      </p:sp>
      <p:sp>
        <p:nvSpPr>
          <p:cNvPr id="11" name="Rectangle 10">
            <a:extLst>
              <a:ext uri="{FF2B5EF4-FFF2-40B4-BE49-F238E27FC236}">
                <a16:creationId xmlns:a16="http://schemas.microsoft.com/office/drawing/2014/main" id="{59ECA613-DFDD-278C-0D10-B54AA564DDD6}"/>
              </a:ext>
            </a:extLst>
          </p:cNvPr>
          <p:cNvSpPr/>
          <p:nvPr/>
        </p:nvSpPr>
        <p:spPr>
          <a:xfrm>
            <a:off x="9779354" y="3292765"/>
            <a:ext cx="2061664" cy="103908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Point #3</a:t>
            </a:r>
            <a:endParaRPr lang="en-US" sz="1400" b="1" dirty="0" err="1">
              <a:solidFill>
                <a:schemeClr val="bg1"/>
              </a:solidFill>
            </a:endParaRPr>
          </a:p>
        </p:txBody>
      </p:sp>
      <p:sp>
        <p:nvSpPr>
          <p:cNvPr id="15" name="Rectangle 14">
            <a:extLst>
              <a:ext uri="{FF2B5EF4-FFF2-40B4-BE49-F238E27FC236}">
                <a16:creationId xmlns:a16="http://schemas.microsoft.com/office/drawing/2014/main" id="{2F5671F8-36EE-1A01-3795-89F7C6032535}"/>
              </a:ext>
            </a:extLst>
          </p:cNvPr>
          <p:cNvSpPr/>
          <p:nvPr/>
        </p:nvSpPr>
        <p:spPr>
          <a:xfrm>
            <a:off x="5041100" y="4641273"/>
            <a:ext cx="1583436" cy="103908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Methodology</a:t>
            </a:r>
            <a:endParaRPr lang="en-US" sz="1400" b="1" dirty="0" err="1">
              <a:solidFill>
                <a:schemeClr val="bg1"/>
              </a:solidFill>
            </a:endParaRPr>
          </a:p>
        </p:txBody>
      </p:sp>
      <p:sp>
        <p:nvSpPr>
          <p:cNvPr id="16" name="Rectangle 15">
            <a:extLst>
              <a:ext uri="{FF2B5EF4-FFF2-40B4-BE49-F238E27FC236}">
                <a16:creationId xmlns:a16="http://schemas.microsoft.com/office/drawing/2014/main" id="{E2B822BD-0D94-959F-0D6A-BC621D29D4DD}"/>
              </a:ext>
            </a:extLst>
          </p:cNvPr>
          <p:cNvSpPr/>
          <p:nvPr/>
        </p:nvSpPr>
        <p:spPr>
          <a:xfrm>
            <a:off x="6785257" y="4641273"/>
            <a:ext cx="1583436" cy="103908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Framework</a:t>
            </a:r>
            <a:endParaRPr lang="en-US" sz="1400" b="1" dirty="0" err="1">
              <a:solidFill>
                <a:schemeClr val="bg1"/>
              </a:solidFill>
            </a:endParaRPr>
          </a:p>
        </p:txBody>
      </p:sp>
      <p:sp>
        <p:nvSpPr>
          <p:cNvPr id="17" name="Rectangle 16">
            <a:extLst>
              <a:ext uri="{FF2B5EF4-FFF2-40B4-BE49-F238E27FC236}">
                <a16:creationId xmlns:a16="http://schemas.microsoft.com/office/drawing/2014/main" id="{DF5D940D-ED0B-9513-79E1-F57E5C6BB84D}"/>
              </a:ext>
            </a:extLst>
          </p:cNvPr>
          <p:cNvSpPr/>
          <p:nvPr/>
        </p:nvSpPr>
        <p:spPr>
          <a:xfrm>
            <a:off x="8529414" y="4641273"/>
            <a:ext cx="1583436" cy="103908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Charts</a:t>
            </a:r>
            <a:endParaRPr lang="en-US" sz="1400" b="1" dirty="0" err="1">
              <a:solidFill>
                <a:schemeClr val="bg1"/>
              </a:solidFill>
            </a:endParaRPr>
          </a:p>
        </p:txBody>
      </p:sp>
      <p:sp>
        <p:nvSpPr>
          <p:cNvPr id="18" name="Title 1">
            <a:extLst>
              <a:ext uri="{FF2B5EF4-FFF2-40B4-BE49-F238E27FC236}">
                <a16:creationId xmlns:a16="http://schemas.microsoft.com/office/drawing/2014/main" id="{1EE16376-3B42-76B7-33FA-D474B56A8534}"/>
              </a:ext>
            </a:extLst>
          </p:cNvPr>
          <p:cNvSpPr txBox="1">
            <a:spLocks/>
          </p:cNvSpPr>
          <p:nvPr/>
        </p:nvSpPr>
        <p:spPr>
          <a:xfrm>
            <a:off x="554736" y="3667994"/>
            <a:ext cx="4017264"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solidFill>
                  <a:schemeClr val="accent5"/>
                </a:solidFill>
              </a:rPr>
              <a:t>Key findings or “double-clicks” </a:t>
            </a:r>
          </a:p>
        </p:txBody>
      </p:sp>
      <p:sp>
        <p:nvSpPr>
          <p:cNvPr id="19" name="Title 1">
            <a:extLst>
              <a:ext uri="{FF2B5EF4-FFF2-40B4-BE49-F238E27FC236}">
                <a16:creationId xmlns:a16="http://schemas.microsoft.com/office/drawing/2014/main" id="{A44FD409-A04B-3B8F-2D07-C7C17414AD75}"/>
              </a:ext>
            </a:extLst>
          </p:cNvPr>
          <p:cNvSpPr txBox="1">
            <a:spLocks/>
          </p:cNvSpPr>
          <p:nvPr/>
        </p:nvSpPr>
        <p:spPr>
          <a:xfrm>
            <a:off x="554736" y="5044211"/>
            <a:ext cx="3278355"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solidFill>
                  <a:schemeClr val="accent5"/>
                </a:solidFill>
              </a:rPr>
              <a:t>Supporting details</a:t>
            </a:r>
          </a:p>
        </p:txBody>
      </p:sp>
      <p:cxnSp>
        <p:nvCxnSpPr>
          <p:cNvPr id="20" name="Straight Connector 19">
            <a:extLst>
              <a:ext uri="{FF2B5EF4-FFF2-40B4-BE49-F238E27FC236}">
                <a16:creationId xmlns:a16="http://schemas.microsoft.com/office/drawing/2014/main" id="{0F963D84-528C-8BDA-BF21-635A74D22A51}"/>
              </a:ext>
            </a:extLst>
          </p:cNvPr>
          <p:cNvCxnSpPr>
            <a:cxnSpLocks/>
          </p:cNvCxnSpPr>
          <p:nvPr/>
        </p:nvCxnSpPr>
        <p:spPr>
          <a:xfrm>
            <a:off x="554735" y="3124200"/>
            <a:ext cx="11286283" cy="0"/>
          </a:xfrm>
          <a:prstGeom prst="line">
            <a:avLst/>
          </a:prstGeom>
          <a:ln w="9525">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7EF017A4-3EFB-E39A-ED29-59A6BD572C30}"/>
              </a:ext>
            </a:extLst>
          </p:cNvPr>
          <p:cNvCxnSpPr>
            <a:cxnSpLocks/>
          </p:cNvCxnSpPr>
          <p:nvPr/>
        </p:nvCxnSpPr>
        <p:spPr>
          <a:xfrm>
            <a:off x="554735" y="4500418"/>
            <a:ext cx="11286283" cy="0"/>
          </a:xfrm>
          <a:prstGeom prst="line">
            <a:avLst/>
          </a:prstGeom>
          <a:ln w="9525">
            <a:solidFill>
              <a:schemeClr val="tx1"/>
            </a:solidFill>
            <a:prstDash val="dash"/>
          </a:ln>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EC213640-31C8-1441-2ABE-687E2F8499ED}"/>
              </a:ext>
            </a:extLst>
          </p:cNvPr>
          <p:cNvSpPr/>
          <p:nvPr/>
        </p:nvSpPr>
        <p:spPr>
          <a:xfrm>
            <a:off x="10273572" y="4641273"/>
            <a:ext cx="1583436" cy="103908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Quotes</a:t>
            </a:r>
            <a:endParaRPr lang="en-US" sz="1400" b="1" dirty="0" err="1">
              <a:solidFill>
                <a:schemeClr val="bg1"/>
              </a:solidFill>
            </a:endParaRPr>
          </a:p>
        </p:txBody>
      </p:sp>
    </p:spTree>
    <p:extLst>
      <p:ext uri="{BB962C8B-B14F-4D97-AF65-F5344CB8AC3E}">
        <p14:creationId xmlns:p14="http://schemas.microsoft.com/office/powerpoint/2010/main" val="12809007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04356-7D88-6FF2-0AA0-C5C5C2831121}"/>
            </a:ext>
          </a:extLst>
        </p:cNvPr>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9C69F5A8-6099-0D85-CE01-5F9E2A982652}"/>
              </a:ext>
            </a:extLst>
          </p:cNvPr>
          <p:cNvGraphicFramePr>
            <a:graphicFrameLocks/>
          </p:cNvGraphicFramePr>
          <p:nvPr>
            <p:custDataLst>
              <p:tags r:id="rId1"/>
            </p:custDataLst>
            <p:extLst>
              <p:ext uri="{D42A27DB-BD31-4B8C-83A1-F6EECF244321}">
                <p14:modId xmlns:p14="http://schemas.microsoft.com/office/powerpoint/2010/main" val="21549475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15" name="think-cell data - do not delete" hidden="1">
            <a:extLst>
              <a:ext uri="{FF2B5EF4-FFF2-40B4-BE49-F238E27FC236}">
                <a16:creationId xmlns:a16="http://schemas.microsoft.com/office/drawing/2014/main" id="{368A6202-8F14-FDEB-721B-BFAA26106281}"/>
              </a:ext>
            </a:extLst>
          </p:cNvPr>
          <p:cNvGraphicFramePr>
            <a:graphicFrameLocks noChangeAspect="1"/>
          </p:cNvGraphicFramePr>
          <p:nvPr>
            <p:custDataLst>
              <p:tags r:id="rId2"/>
            </p:custDataLst>
            <p:extLst>
              <p:ext uri="{D42A27DB-BD31-4B8C-83A1-F6EECF244321}">
                <p14:modId xmlns:p14="http://schemas.microsoft.com/office/powerpoint/2010/main" val="24541562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7" imgH="348" progId="TCLayout.ActiveDocument.1">
                  <p:embed/>
                </p:oleObj>
              </mc:Choice>
              <mc:Fallback>
                <p:oleObj name="think-cell Slide" r:id="rId6"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DF99F906-7B68-0B87-801A-B51559AFC42A}"/>
              </a:ext>
            </a:extLst>
          </p:cNvPr>
          <p:cNvSpPr/>
          <p:nvPr/>
        </p:nvSpPr>
        <p:spPr>
          <a:xfrm>
            <a:off x="4051580" y="1941969"/>
            <a:ext cx="2932708" cy="278951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err="1"/>
          </a:p>
        </p:txBody>
      </p:sp>
      <p:grpSp>
        <p:nvGrpSpPr>
          <p:cNvPr id="37" name="Group 36">
            <a:extLst>
              <a:ext uri="{FF2B5EF4-FFF2-40B4-BE49-F238E27FC236}">
                <a16:creationId xmlns:a16="http://schemas.microsoft.com/office/drawing/2014/main" id="{53F310CA-3163-171A-2BCB-DEAB537941F4}"/>
              </a:ext>
            </a:extLst>
          </p:cNvPr>
          <p:cNvGrpSpPr/>
          <p:nvPr/>
        </p:nvGrpSpPr>
        <p:grpSpPr>
          <a:xfrm>
            <a:off x="743902" y="5129444"/>
            <a:ext cx="10040306" cy="974953"/>
            <a:chOff x="743902" y="5218027"/>
            <a:chExt cx="9757843" cy="974953"/>
          </a:xfrm>
        </p:grpSpPr>
        <p:sp>
          <p:nvSpPr>
            <p:cNvPr id="30" name="Rectangle 29">
              <a:extLst>
                <a:ext uri="{FF2B5EF4-FFF2-40B4-BE49-F238E27FC236}">
                  <a16:creationId xmlns:a16="http://schemas.microsoft.com/office/drawing/2014/main" id="{DE5E3881-32C3-15C8-A0B8-B96B7FA2459E}"/>
                </a:ext>
              </a:extLst>
            </p:cNvPr>
            <p:cNvSpPr/>
            <p:nvPr/>
          </p:nvSpPr>
          <p:spPr>
            <a:xfrm>
              <a:off x="783628" y="5218027"/>
              <a:ext cx="9718117" cy="9749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p>
          </p:txBody>
        </p:sp>
        <p:sp>
          <p:nvSpPr>
            <p:cNvPr id="31" name="Rectangle 30">
              <a:extLst>
                <a:ext uri="{FF2B5EF4-FFF2-40B4-BE49-F238E27FC236}">
                  <a16:creationId xmlns:a16="http://schemas.microsoft.com/office/drawing/2014/main" id="{396757AA-8B70-C983-FA01-01C4708E6B68}"/>
                </a:ext>
              </a:extLst>
            </p:cNvPr>
            <p:cNvSpPr/>
            <p:nvPr/>
          </p:nvSpPr>
          <p:spPr>
            <a:xfrm>
              <a:off x="743902" y="5218027"/>
              <a:ext cx="79451" cy="97495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p>
          </p:txBody>
        </p:sp>
      </p:grpSp>
      <p:sp>
        <p:nvSpPr>
          <p:cNvPr id="2" name="Title 1">
            <a:extLst>
              <a:ext uri="{FF2B5EF4-FFF2-40B4-BE49-F238E27FC236}">
                <a16:creationId xmlns:a16="http://schemas.microsoft.com/office/drawing/2014/main" id="{B868B430-7FFE-0841-10F4-EE08CF1A9068}"/>
              </a:ext>
            </a:extLst>
          </p:cNvPr>
          <p:cNvSpPr>
            <a:spLocks noGrp="1"/>
          </p:cNvSpPr>
          <p:nvPr>
            <p:ph type="title"/>
          </p:nvPr>
        </p:nvSpPr>
        <p:spPr>
          <a:xfrm>
            <a:off x="558800" y="635000"/>
            <a:ext cx="11087100" cy="838200"/>
          </a:xfrm>
        </p:spPr>
        <p:txBody>
          <a:bodyPr vert="horz" rIns="0" anchor="t" anchorCtr="0"/>
          <a:lstStyle/>
          <a:p>
            <a:r>
              <a:rPr lang="en-US"/>
              <a:t>The storyline is at the heart of our deliverables and determines what is elevated above vs. below in a deck</a:t>
            </a:r>
          </a:p>
        </p:txBody>
      </p:sp>
      <p:sp>
        <p:nvSpPr>
          <p:cNvPr id="5" name="Rectangle 4">
            <a:extLst>
              <a:ext uri="{FF2B5EF4-FFF2-40B4-BE49-F238E27FC236}">
                <a16:creationId xmlns:a16="http://schemas.microsoft.com/office/drawing/2014/main" id="{7973D126-EA2F-D361-3214-186BA6AC31E2}"/>
              </a:ext>
            </a:extLst>
          </p:cNvPr>
          <p:cNvSpPr/>
          <p:nvPr/>
        </p:nvSpPr>
        <p:spPr>
          <a:xfrm>
            <a:off x="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THINK</a:t>
            </a:r>
            <a:endParaRPr lang="en-US" sz="1100" dirty="0"/>
          </a:p>
        </p:txBody>
      </p:sp>
      <p:sp>
        <p:nvSpPr>
          <p:cNvPr id="6" name="Rectangle 5">
            <a:extLst>
              <a:ext uri="{FF2B5EF4-FFF2-40B4-BE49-F238E27FC236}">
                <a16:creationId xmlns:a16="http://schemas.microsoft.com/office/drawing/2014/main" id="{661651A7-B059-AA64-BB56-14EE5B84C4B9}"/>
              </a:ext>
            </a:extLst>
          </p:cNvPr>
          <p:cNvSpPr/>
          <p:nvPr/>
        </p:nvSpPr>
        <p:spPr>
          <a:xfrm>
            <a:off x="2438400" y="-1"/>
            <a:ext cx="2438400" cy="29198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DECK</a:t>
            </a:r>
            <a:endParaRPr lang="en-US" sz="1100" dirty="0"/>
          </a:p>
        </p:txBody>
      </p:sp>
      <p:sp>
        <p:nvSpPr>
          <p:cNvPr id="7" name="Rectangle 6">
            <a:extLst>
              <a:ext uri="{FF2B5EF4-FFF2-40B4-BE49-F238E27FC236}">
                <a16:creationId xmlns:a16="http://schemas.microsoft.com/office/drawing/2014/main" id="{26E419AF-ABEA-DDEA-EFE0-93B165BDFF95}"/>
              </a:ext>
            </a:extLst>
          </p:cNvPr>
          <p:cNvSpPr/>
          <p:nvPr/>
        </p:nvSpPr>
        <p:spPr>
          <a:xfrm>
            <a:off x="48768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PAGE</a:t>
            </a:r>
            <a:endParaRPr lang="en-US" sz="1100" dirty="0"/>
          </a:p>
        </p:txBody>
      </p:sp>
      <p:sp>
        <p:nvSpPr>
          <p:cNvPr id="8" name="Rectangle 7">
            <a:extLst>
              <a:ext uri="{FF2B5EF4-FFF2-40B4-BE49-F238E27FC236}">
                <a16:creationId xmlns:a16="http://schemas.microsoft.com/office/drawing/2014/main" id="{B3E459DB-A332-E1AC-1359-96B2161031B2}"/>
              </a:ext>
            </a:extLst>
          </p:cNvPr>
          <p:cNvSpPr/>
          <p:nvPr/>
        </p:nvSpPr>
        <p:spPr>
          <a:xfrm>
            <a:off x="73152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AI WORKFLOW</a:t>
            </a:r>
            <a:endParaRPr lang="en-US" sz="1100" dirty="0"/>
          </a:p>
        </p:txBody>
      </p:sp>
      <p:sp>
        <p:nvSpPr>
          <p:cNvPr id="41" name="Rectangle 41"/>
          <p:cNvSpPr/>
          <p:nvPr/>
        </p:nvSpPr>
        <p:spPr>
          <a:xfrm>
            <a:off x="97536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QUALITY &amp; DATA</a:t>
            </a:r>
            <a:endParaRPr lang="en-US" sz="1100" dirty="0"/>
          </a:p>
        </p:txBody>
      </p:sp>
      <p:sp>
        <p:nvSpPr>
          <p:cNvPr id="9" name="Title 1">
            <a:extLst>
              <a:ext uri="{FF2B5EF4-FFF2-40B4-BE49-F238E27FC236}">
                <a16:creationId xmlns:a16="http://schemas.microsoft.com/office/drawing/2014/main" id="{562AB7EB-81E2-DA45-7BEA-B06C3776D8B2}"/>
              </a:ext>
            </a:extLst>
          </p:cNvPr>
          <p:cNvSpPr txBox="1">
            <a:spLocks/>
          </p:cNvSpPr>
          <p:nvPr/>
        </p:nvSpPr>
        <p:spPr>
          <a:xfrm>
            <a:off x="4173655" y="2055092"/>
            <a:ext cx="1532682"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solidFill>
                  <a:srgbClr val="009999"/>
                </a:solidFill>
              </a:rPr>
              <a:t>Storyline</a:t>
            </a:r>
          </a:p>
        </p:txBody>
      </p:sp>
      <p:sp>
        <p:nvSpPr>
          <p:cNvPr id="13" name="Title 1">
            <a:extLst>
              <a:ext uri="{FF2B5EF4-FFF2-40B4-BE49-F238E27FC236}">
                <a16:creationId xmlns:a16="http://schemas.microsoft.com/office/drawing/2014/main" id="{2ED42937-9538-B3D6-AEE0-A18D0AAE11E4}"/>
              </a:ext>
            </a:extLst>
          </p:cNvPr>
          <p:cNvSpPr txBox="1">
            <a:spLocks/>
          </p:cNvSpPr>
          <p:nvPr/>
        </p:nvSpPr>
        <p:spPr>
          <a:xfrm>
            <a:off x="7952509" y="2055092"/>
            <a:ext cx="3047999"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solidFill>
                  <a:srgbClr val="009999"/>
                </a:solidFill>
              </a:rPr>
              <a:t>Final deliverable</a:t>
            </a:r>
          </a:p>
        </p:txBody>
      </p:sp>
      <p:sp>
        <p:nvSpPr>
          <p:cNvPr id="14" name="Title 1">
            <a:extLst>
              <a:ext uri="{FF2B5EF4-FFF2-40B4-BE49-F238E27FC236}">
                <a16:creationId xmlns:a16="http://schemas.microsoft.com/office/drawing/2014/main" id="{68A82E4F-2728-E161-64E7-5985792244B5}"/>
              </a:ext>
            </a:extLst>
          </p:cNvPr>
          <p:cNvSpPr txBox="1">
            <a:spLocks/>
          </p:cNvSpPr>
          <p:nvPr/>
        </p:nvSpPr>
        <p:spPr>
          <a:xfrm>
            <a:off x="554736" y="2055092"/>
            <a:ext cx="1532682"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solidFill>
                  <a:srgbClr val="009999"/>
                </a:solidFill>
              </a:rPr>
              <a:t>Findings</a:t>
            </a:r>
          </a:p>
        </p:txBody>
      </p:sp>
      <p:sp>
        <p:nvSpPr>
          <p:cNvPr id="20" name="Title 1">
            <a:extLst>
              <a:ext uri="{FF2B5EF4-FFF2-40B4-BE49-F238E27FC236}">
                <a16:creationId xmlns:a16="http://schemas.microsoft.com/office/drawing/2014/main" id="{FB66E1A4-6EE0-4095-7251-D585F23CDADC}"/>
              </a:ext>
            </a:extLst>
          </p:cNvPr>
          <p:cNvSpPr txBox="1">
            <a:spLocks/>
          </p:cNvSpPr>
          <p:nvPr/>
        </p:nvSpPr>
        <p:spPr>
          <a:xfrm>
            <a:off x="1630003" y="5377591"/>
            <a:ext cx="9154205" cy="595746"/>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a:t>The storyline is not set in stone and may change in the course of internal discussion or client meetings; </a:t>
            </a:r>
            <a:r>
              <a:rPr lang="en-US" sz="1600" b="1">
                <a:solidFill>
                  <a:srgbClr val="009999"/>
                </a:solidFill>
              </a:rPr>
              <a:t>expect it to be refined </a:t>
            </a:r>
            <a:r>
              <a:rPr lang="en-US" sz="1600"/>
              <a:t>to better reflect client priorities </a:t>
            </a:r>
          </a:p>
        </p:txBody>
      </p:sp>
      <p:sp>
        <p:nvSpPr>
          <p:cNvPr id="21" name="Title 1">
            <a:extLst>
              <a:ext uri="{FF2B5EF4-FFF2-40B4-BE49-F238E27FC236}">
                <a16:creationId xmlns:a16="http://schemas.microsoft.com/office/drawing/2014/main" id="{346B63F6-5B10-9EE0-C910-AF7940140BC2}"/>
              </a:ext>
            </a:extLst>
          </p:cNvPr>
          <p:cNvSpPr txBox="1">
            <a:spLocks/>
          </p:cNvSpPr>
          <p:nvPr/>
        </p:nvSpPr>
        <p:spPr>
          <a:xfrm>
            <a:off x="554737" y="2516390"/>
            <a:ext cx="2500904" cy="2623127"/>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227013" indent="-227013">
              <a:buFont typeface="Arial" panose="020B0604020202020204" pitchFamily="34" charset="0"/>
              <a:buChar char="•"/>
            </a:pPr>
            <a:r>
              <a:rPr lang="en-US" sz="1600"/>
              <a:t>Everything you found from the data, research, survey, etc.</a:t>
            </a:r>
          </a:p>
          <a:p>
            <a:pPr marL="227013" indent="-227013">
              <a:buFont typeface="Arial" panose="020B0604020202020204" pitchFamily="34" charset="0"/>
              <a:buChar char="•"/>
            </a:pPr>
            <a:endParaRPr lang="en-US" sz="1600"/>
          </a:p>
          <a:p>
            <a:pPr marL="227013" indent="-227013"/>
            <a:endParaRPr lang="en-US" sz="1600"/>
          </a:p>
          <a:p>
            <a:pPr marL="227013" indent="-227013">
              <a:buFont typeface="Arial" panose="020B0604020202020204" pitchFamily="34" charset="0"/>
              <a:buChar char="•"/>
            </a:pPr>
            <a:r>
              <a:rPr lang="en-US" sz="1600"/>
              <a:t>Forms the supporting slides and appendix; not actionable on its own</a:t>
            </a:r>
          </a:p>
        </p:txBody>
      </p:sp>
      <p:grpSp>
        <p:nvGrpSpPr>
          <p:cNvPr id="39" name="Group 38">
            <a:extLst>
              <a:ext uri="{FF2B5EF4-FFF2-40B4-BE49-F238E27FC236}">
                <a16:creationId xmlns:a16="http://schemas.microsoft.com/office/drawing/2014/main" id="{BF310EC4-17A9-0987-85F7-2C88DC135692}"/>
              </a:ext>
            </a:extLst>
          </p:cNvPr>
          <p:cNvGrpSpPr/>
          <p:nvPr/>
        </p:nvGrpSpPr>
        <p:grpSpPr>
          <a:xfrm>
            <a:off x="3387079" y="3215777"/>
            <a:ext cx="382721" cy="295973"/>
            <a:chOff x="3086632" y="3215892"/>
            <a:chExt cx="551138" cy="426216"/>
          </a:xfrm>
        </p:grpSpPr>
        <p:sp>
          <p:nvSpPr>
            <p:cNvPr id="24" name="Isosceles Triangle 23">
              <a:extLst>
                <a:ext uri="{FF2B5EF4-FFF2-40B4-BE49-F238E27FC236}">
                  <a16:creationId xmlns:a16="http://schemas.microsoft.com/office/drawing/2014/main" id="{C1EDB0EA-28A3-3669-3F6E-C631FB64EE94}"/>
                </a:ext>
              </a:extLst>
            </p:cNvPr>
            <p:cNvSpPr/>
            <p:nvPr/>
          </p:nvSpPr>
          <p:spPr>
            <a:xfrm rot="5400000">
              <a:off x="3057237" y="3245287"/>
              <a:ext cx="426215" cy="367426"/>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err="1"/>
            </a:p>
          </p:txBody>
        </p:sp>
        <p:sp>
          <p:nvSpPr>
            <p:cNvPr id="25" name="Isosceles Triangle 24">
              <a:extLst>
                <a:ext uri="{FF2B5EF4-FFF2-40B4-BE49-F238E27FC236}">
                  <a16:creationId xmlns:a16="http://schemas.microsoft.com/office/drawing/2014/main" id="{F9FCA6AE-BB82-09DA-69C7-F0752C2AE03A}"/>
                </a:ext>
              </a:extLst>
            </p:cNvPr>
            <p:cNvSpPr/>
            <p:nvPr/>
          </p:nvSpPr>
          <p:spPr>
            <a:xfrm rot="5400000">
              <a:off x="3240949" y="3245288"/>
              <a:ext cx="426215" cy="367426"/>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err="1"/>
            </a:p>
          </p:txBody>
        </p:sp>
      </p:grpSp>
      <p:sp>
        <p:nvSpPr>
          <p:cNvPr id="28" name="Title 1">
            <a:extLst>
              <a:ext uri="{FF2B5EF4-FFF2-40B4-BE49-F238E27FC236}">
                <a16:creationId xmlns:a16="http://schemas.microsoft.com/office/drawing/2014/main" id="{71B22055-7438-8E60-9E8F-84ABA4E2A2BC}"/>
              </a:ext>
            </a:extLst>
          </p:cNvPr>
          <p:cNvSpPr txBox="1">
            <a:spLocks/>
          </p:cNvSpPr>
          <p:nvPr/>
        </p:nvSpPr>
        <p:spPr>
          <a:xfrm>
            <a:off x="4173654" y="2516390"/>
            <a:ext cx="2597695" cy="2623127"/>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227013" indent="-227013">
              <a:buFont typeface="Arial" panose="020B0604020202020204" pitchFamily="34" charset="0"/>
              <a:buChar char="•"/>
            </a:pPr>
            <a:r>
              <a:rPr lang="en-US" sz="1600"/>
              <a:t>The synthesis of findings and implications in text or bullet point format, the “big picture”</a:t>
            </a:r>
          </a:p>
          <a:p>
            <a:pPr marL="227013" indent="-227013">
              <a:buFont typeface="Arial" panose="020B0604020202020204" pitchFamily="34" charset="0"/>
              <a:buChar char="•"/>
            </a:pPr>
            <a:endParaRPr lang="en-US" sz="1600"/>
          </a:p>
          <a:p>
            <a:pPr marL="227013" indent="-227013">
              <a:buFont typeface="Arial" panose="020B0604020202020204" pitchFamily="34" charset="0"/>
              <a:buChar char="•"/>
            </a:pPr>
            <a:r>
              <a:rPr lang="en-US" sz="1600"/>
              <a:t>Forms the executive summary; not presentable on its own</a:t>
            </a:r>
          </a:p>
        </p:txBody>
      </p:sp>
      <p:sp>
        <p:nvSpPr>
          <p:cNvPr id="29" name="Title 1">
            <a:extLst>
              <a:ext uri="{FF2B5EF4-FFF2-40B4-BE49-F238E27FC236}">
                <a16:creationId xmlns:a16="http://schemas.microsoft.com/office/drawing/2014/main" id="{9AD32084-5A4B-EBFF-1DFD-0E7F8CF70FD2}"/>
              </a:ext>
            </a:extLst>
          </p:cNvPr>
          <p:cNvSpPr txBox="1">
            <a:spLocks/>
          </p:cNvSpPr>
          <p:nvPr/>
        </p:nvSpPr>
        <p:spPr>
          <a:xfrm>
            <a:off x="7952510" y="2613891"/>
            <a:ext cx="2336799" cy="2623127"/>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342900" indent="-342900">
              <a:buFont typeface="Arial" panose="020B0604020202020204" pitchFamily="34" charset="0"/>
              <a:buChar char="•"/>
            </a:pPr>
            <a:endParaRPr lang="en-US" sz="1600"/>
          </a:p>
        </p:txBody>
      </p:sp>
      <p:pic>
        <p:nvPicPr>
          <p:cNvPr id="36" name="Graphic 35" descr="Pencil outline">
            <a:extLst>
              <a:ext uri="{FF2B5EF4-FFF2-40B4-BE49-F238E27FC236}">
                <a16:creationId xmlns:a16="http://schemas.microsoft.com/office/drawing/2014/main" id="{662B876D-AF69-515D-B75D-0CD7954FD0B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88310" y="5377591"/>
            <a:ext cx="462327" cy="462327"/>
          </a:xfrm>
          <a:prstGeom prst="rect">
            <a:avLst/>
          </a:prstGeom>
        </p:spPr>
      </p:pic>
      <p:sp>
        <p:nvSpPr>
          <p:cNvPr id="38" name="Title 1">
            <a:extLst>
              <a:ext uri="{FF2B5EF4-FFF2-40B4-BE49-F238E27FC236}">
                <a16:creationId xmlns:a16="http://schemas.microsoft.com/office/drawing/2014/main" id="{0D7FAF11-CA92-CFE9-73C6-A339F96B608E}"/>
              </a:ext>
            </a:extLst>
          </p:cNvPr>
          <p:cNvSpPr txBox="1">
            <a:spLocks/>
          </p:cNvSpPr>
          <p:nvPr/>
        </p:nvSpPr>
        <p:spPr>
          <a:xfrm>
            <a:off x="7952509" y="2516390"/>
            <a:ext cx="3163136" cy="2623127"/>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227013" indent="-227013">
              <a:buFont typeface="Arial" panose="020B0604020202020204" pitchFamily="34" charset="0"/>
              <a:buChar char="•"/>
            </a:pPr>
            <a:r>
              <a:rPr lang="en-US" sz="1600"/>
              <a:t>The complete PDF, PPT, or file that contains our research and suggested actions</a:t>
            </a:r>
          </a:p>
          <a:p>
            <a:pPr marL="227013" indent="-227013">
              <a:buFont typeface="Arial" panose="020B0604020202020204" pitchFamily="34" charset="0"/>
              <a:buChar char="•"/>
            </a:pPr>
            <a:endParaRPr lang="en-US" sz="1600"/>
          </a:p>
          <a:p>
            <a:pPr marL="227013" indent="-227013">
              <a:buFont typeface="Arial" panose="020B0604020202020204" pitchFamily="34" charset="0"/>
              <a:buChar char="•"/>
            </a:pPr>
            <a:endParaRPr lang="en-US" sz="1600"/>
          </a:p>
          <a:p>
            <a:pPr marL="227013" indent="-227013">
              <a:buFont typeface="Arial" panose="020B0604020202020204" pitchFamily="34" charset="0"/>
              <a:buChar char="•"/>
            </a:pPr>
            <a:r>
              <a:rPr lang="en-US" sz="1600"/>
              <a:t>Presented to the client with full context and supporting data</a:t>
            </a:r>
          </a:p>
        </p:txBody>
      </p:sp>
      <p:cxnSp>
        <p:nvCxnSpPr>
          <p:cNvPr id="40" name="Straight Connector 39">
            <a:extLst>
              <a:ext uri="{FF2B5EF4-FFF2-40B4-BE49-F238E27FC236}">
                <a16:creationId xmlns:a16="http://schemas.microsoft.com/office/drawing/2014/main" id="{1362F888-5364-ED02-0E03-0095B61D3A4D}"/>
              </a:ext>
            </a:extLst>
          </p:cNvPr>
          <p:cNvCxnSpPr>
            <a:cxnSpLocks/>
          </p:cNvCxnSpPr>
          <p:nvPr/>
        </p:nvCxnSpPr>
        <p:spPr>
          <a:xfrm>
            <a:off x="554735" y="2367973"/>
            <a:ext cx="10602792" cy="0"/>
          </a:xfrm>
          <a:prstGeom prst="line">
            <a:avLst/>
          </a:prstGeom>
          <a:ln w="12700">
            <a:solidFill>
              <a:schemeClr val="accent5"/>
            </a:solidFill>
          </a:ln>
        </p:spPr>
        <p:style>
          <a:lnRef idx="1">
            <a:schemeClr val="dk1"/>
          </a:lnRef>
          <a:fillRef idx="0">
            <a:schemeClr val="dk1"/>
          </a:fillRef>
          <a:effectRef idx="0">
            <a:schemeClr val="dk1"/>
          </a:effectRef>
          <a:fontRef idx="minor">
            <a:schemeClr val="tx1"/>
          </a:fontRef>
        </p:style>
      </p:cxnSp>
      <p:grpSp>
        <p:nvGrpSpPr>
          <p:cNvPr id="3" name="Group 2">
            <a:extLst>
              <a:ext uri="{FF2B5EF4-FFF2-40B4-BE49-F238E27FC236}">
                <a16:creationId xmlns:a16="http://schemas.microsoft.com/office/drawing/2014/main" id="{8F1623F1-7A22-42FA-78BD-7E13EA4E4678}"/>
              </a:ext>
            </a:extLst>
          </p:cNvPr>
          <p:cNvGrpSpPr/>
          <p:nvPr/>
        </p:nvGrpSpPr>
        <p:grpSpPr>
          <a:xfrm>
            <a:off x="7266249" y="3215777"/>
            <a:ext cx="382721" cy="295973"/>
            <a:chOff x="3086632" y="3215892"/>
            <a:chExt cx="551138" cy="426216"/>
          </a:xfrm>
        </p:grpSpPr>
        <p:sp>
          <p:nvSpPr>
            <p:cNvPr id="10" name="Isosceles Triangle 9">
              <a:extLst>
                <a:ext uri="{FF2B5EF4-FFF2-40B4-BE49-F238E27FC236}">
                  <a16:creationId xmlns:a16="http://schemas.microsoft.com/office/drawing/2014/main" id="{0E0D6393-1728-2470-27CA-B58457600181}"/>
                </a:ext>
              </a:extLst>
            </p:cNvPr>
            <p:cNvSpPr/>
            <p:nvPr/>
          </p:nvSpPr>
          <p:spPr>
            <a:xfrm rot="5400000">
              <a:off x="3057237" y="3245287"/>
              <a:ext cx="426215" cy="367426"/>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err="1"/>
            </a:p>
          </p:txBody>
        </p:sp>
        <p:sp>
          <p:nvSpPr>
            <p:cNvPr id="11" name="Isosceles Triangle 10">
              <a:extLst>
                <a:ext uri="{FF2B5EF4-FFF2-40B4-BE49-F238E27FC236}">
                  <a16:creationId xmlns:a16="http://schemas.microsoft.com/office/drawing/2014/main" id="{A387E655-2219-ACF8-4BE9-CFA83E408668}"/>
                </a:ext>
              </a:extLst>
            </p:cNvPr>
            <p:cNvSpPr/>
            <p:nvPr/>
          </p:nvSpPr>
          <p:spPr>
            <a:xfrm rot="5400000">
              <a:off x="3240949" y="3245288"/>
              <a:ext cx="426215" cy="367426"/>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err="1"/>
            </a:p>
          </p:txBody>
        </p:sp>
      </p:grpSp>
    </p:spTree>
    <p:extLst>
      <p:ext uri="{BB962C8B-B14F-4D97-AF65-F5344CB8AC3E}">
        <p14:creationId xmlns:p14="http://schemas.microsoft.com/office/powerpoint/2010/main" val="13009855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61E27-C385-E545-A4A3-D1001883B54D}"/>
            </a:ext>
          </a:extLst>
        </p:cNvPr>
        <p:cNvGrpSpPr/>
        <p:nvPr/>
      </p:nvGrpSpPr>
      <p:grpSpPr>
        <a:xfrm>
          <a:off x="0" y="0"/>
          <a:ext cx="0" cy="0"/>
          <a:chOff x="0" y="0"/>
          <a:chExt cx="0" cy="0"/>
        </a:xfrm>
      </p:grpSpPr>
      <p:graphicFrame>
        <p:nvGraphicFramePr>
          <p:cNvPr id="19" name="think-cell data - do not delete" hidden="1">
            <a:extLst>
              <a:ext uri="{FF2B5EF4-FFF2-40B4-BE49-F238E27FC236}">
                <a16:creationId xmlns:a16="http://schemas.microsoft.com/office/drawing/2014/main" id="{75937E4B-4C3E-4D6A-6814-DF6821947687}"/>
              </a:ext>
            </a:extLst>
          </p:cNvPr>
          <p:cNvGraphicFramePr>
            <a:graphicFrameLocks/>
          </p:cNvGraphicFramePr>
          <p:nvPr>
            <p:custDataLst>
              <p:tags r:id="rId1"/>
            </p:custDataLst>
            <p:extLst>
              <p:ext uri="{D42A27DB-BD31-4B8C-83A1-F6EECF244321}">
                <p14:modId xmlns:p14="http://schemas.microsoft.com/office/powerpoint/2010/main" val="35155448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18" name="think-cell data - do not delete" hidden="1">
            <a:extLst>
              <a:ext uri="{FF2B5EF4-FFF2-40B4-BE49-F238E27FC236}">
                <a16:creationId xmlns:a16="http://schemas.microsoft.com/office/drawing/2014/main" id="{C3F922B3-1CAF-C237-5CBE-86A5F5255353}"/>
              </a:ext>
            </a:extLst>
          </p:cNvPr>
          <p:cNvGraphicFramePr>
            <a:graphicFrameLocks noChangeAspect="1"/>
          </p:cNvGraphicFramePr>
          <p:nvPr>
            <p:custDataLst>
              <p:tags r:id="rId2"/>
            </p:custDataLst>
            <p:extLst>
              <p:ext uri="{D42A27DB-BD31-4B8C-83A1-F6EECF244321}">
                <p14:modId xmlns:p14="http://schemas.microsoft.com/office/powerpoint/2010/main" val="1715349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7" imgH="348" progId="TCLayout.ActiveDocument.1">
                  <p:embed/>
                </p:oleObj>
              </mc:Choice>
              <mc:Fallback>
                <p:oleObj name="think-cell Slide" r:id="rId6"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68C02E1-8D42-D3E2-AE73-E12A435CBC36}"/>
              </a:ext>
            </a:extLst>
          </p:cNvPr>
          <p:cNvSpPr>
            <a:spLocks noGrp="1"/>
          </p:cNvSpPr>
          <p:nvPr>
            <p:ph type="title"/>
          </p:nvPr>
        </p:nvSpPr>
        <p:spPr>
          <a:xfrm>
            <a:off x="558800" y="635000"/>
            <a:ext cx="11087100" cy="838200"/>
          </a:xfrm>
        </p:spPr>
        <p:txBody>
          <a:bodyPr vert="horz" rIns="0" anchor="t" anchorCtr="0"/>
          <a:lstStyle/>
          <a:p>
            <a:r>
              <a:rPr lang="en-US"/>
              <a:t>Consultants use “ghost” pages as scaffolding; this allows the team to align quickly on the structure and what slides can be built new vs. reused</a:t>
            </a:r>
          </a:p>
        </p:txBody>
      </p:sp>
      <p:sp>
        <p:nvSpPr>
          <p:cNvPr id="5" name="Rectangle 4">
            <a:extLst>
              <a:ext uri="{FF2B5EF4-FFF2-40B4-BE49-F238E27FC236}">
                <a16:creationId xmlns:a16="http://schemas.microsoft.com/office/drawing/2014/main" id="{B56B8192-5C0E-01D8-776E-7879DC4195E8}"/>
              </a:ext>
            </a:extLst>
          </p:cNvPr>
          <p:cNvSpPr/>
          <p:nvPr/>
        </p:nvSpPr>
        <p:spPr>
          <a:xfrm>
            <a:off x="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THINK</a:t>
            </a:r>
            <a:endParaRPr lang="en-US" sz="1100" dirty="0"/>
          </a:p>
        </p:txBody>
      </p:sp>
      <p:sp>
        <p:nvSpPr>
          <p:cNvPr id="6" name="Rectangle 5">
            <a:extLst>
              <a:ext uri="{FF2B5EF4-FFF2-40B4-BE49-F238E27FC236}">
                <a16:creationId xmlns:a16="http://schemas.microsoft.com/office/drawing/2014/main" id="{7732CB0C-6EA1-D479-F09E-D7BA0AB9D262}"/>
              </a:ext>
            </a:extLst>
          </p:cNvPr>
          <p:cNvSpPr/>
          <p:nvPr/>
        </p:nvSpPr>
        <p:spPr>
          <a:xfrm>
            <a:off x="2438400" y="-1"/>
            <a:ext cx="2438400" cy="29198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DECK</a:t>
            </a:r>
            <a:endParaRPr lang="en-US" sz="1100" dirty="0"/>
          </a:p>
        </p:txBody>
      </p:sp>
      <p:sp>
        <p:nvSpPr>
          <p:cNvPr id="7" name="Rectangle 6">
            <a:extLst>
              <a:ext uri="{FF2B5EF4-FFF2-40B4-BE49-F238E27FC236}">
                <a16:creationId xmlns:a16="http://schemas.microsoft.com/office/drawing/2014/main" id="{9A410ED8-7DD5-BBCE-683E-E7F4716ADE00}"/>
              </a:ext>
            </a:extLst>
          </p:cNvPr>
          <p:cNvSpPr/>
          <p:nvPr/>
        </p:nvSpPr>
        <p:spPr>
          <a:xfrm>
            <a:off x="48768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PAGE</a:t>
            </a:r>
            <a:endParaRPr lang="en-US" sz="1100" dirty="0"/>
          </a:p>
        </p:txBody>
      </p:sp>
      <p:sp>
        <p:nvSpPr>
          <p:cNvPr id="8" name="Rectangle 7">
            <a:extLst>
              <a:ext uri="{FF2B5EF4-FFF2-40B4-BE49-F238E27FC236}">
                <a16:creationId xmlns:a16="http://schemas.microsoft.com/office/drawing/2014/main" id="{95DE304C-3494-3612-24A2-372F52F380F1}"/>
              </a:ext>
            </a:extLst>
          </p:cNvPr>
          <p:cNvSpPr/>
          <p:nvPr/>
        </p:nvSpPr>
        <p:spPr>
          <a:xfrm>
            <a:off x="73152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AI WORKFLOW</a:t>
            </a:r>
            <a:endParaRPr lang="en-US" sz="1100" dirty="0"/>
          </a:p>
        </p:txBody>
      </p:sp>
      <p:sp>
        <p:nvSpPr>
          <p:cNvPr id="48" name="Rectangle 48"/>
          <p:cNvSpPr/>
          <p:nvPr/>
        </p:nvSpPr>
        <p:spPr>
          <a:xfrm>
            <a:off x="97536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QUALITY &amp; DATA</a:t>
            </a:r>
            <a:endParaRPr lang="en-US" sz="1100" dirty="0"/>
          </a:p>
        </p:txBody>
      </p:sp>
      <p:sp>
        <p:nvSpPr>
          <p:cNvPr id="9" name="Title 1">
            <a:extLst>
              <a:ext uri="{FF2B5EF4-FFF2-40B4-BE49-F238E27FC236}">
                <a16:creationId xmlns:a16="http://schemas.microsoft.com/office/drawing/2014/main" id="{35140FA8-A262-3526-09A7-BD76C8A53141}"/>
              </a:ext>
            </a:extLst>
          </p:cNvPr>
          <p:cNvSpPr txBox="1">
            <a:spLocks/>
          </p:cNvSpPr>
          <p:nvPr/>
        </p:nvSpPr>
        <p:spPr>
          <a:xfrm>
            <a:off x="4774957" y="1685979"/>
            <a:ext cx="2955082" cy="5033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b="1">
                <a:solidFill>
                  <a:schemeClr val="accent5"/>
                </a:solidFill>
              </a:rPr>
              <a:t>“We need a mid-project update for the client”</a:t>
            </a:r>
          </a:p>
        </p:txBody>
      </p:sp>
      <p:sp>
        <p:nvSpPr>
          <p:cNvPr id="13" name="Title 1">
            <a:extLst>
              <a:ext uri="{FF2B5EF4-FFF2-40B4-BE49-F238E27FC236}">
                <a16:creationId xmlns:a16="http://schemas.microsoft.com/office/drawing/2014/main" id="{D73D9B70-BD06-D40D-B749-353D2961E732}"/>
              </a:ext>
            </a:extLst>
          </p:cNvPr>
          <p:cNvSpPr txBox="1">
            <a:spLocks/>
          </p:cNvSpPr>
          <p:nvPr/>
        </p:nvSpPr>
        <p:spPr>
          <a:xfrm>
            <a:off x="8496612" y="1685979"/>
            <a:ext cx="2955082" cy="229288"/>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b="1">
                <a:solidFill>
                  <a:schemeClr val="accent5"/>
                </a:solidFill>
              </a:rPr>
              <a:t>“We need to summarize our findings from the research”</a:t>
            </a:r>
          </a:p>
        </p:txBody>
      </p:sp>
      <p:sp>
        <p:nvSpPr>
          <p:cNvPr id="14" name="Title 1">
            <a:extLst>
              <a:ext uri="{FF2B5EF4-FFF2-40B4-BE49-F238E27FC236}">
                <a16:creationId xmlns:a16="http://schemas.microsoft.com/office/drawing/2014/main" id="{1E356C8F-D1AB-D4BD-8AE9-6A5BFD7BF961}"/>
              </a:ext>
            </a:extLst>
          </p:cNvPr>
          <p:cNvSpPr txBox="1">
            <a:spLocks/>
          </p:cNvSpPr>
          <p:nvPr/>
        </p:nvSpPr>
        <p:spPr>
          <a:xfrm>
            <a:off x="554735" y="1685979"/>
            <a:ext cx="3453650" cy="50338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b="1">
                <a:solidFill>
                  <a:schemeClr val="accent5"/>
                </a:solidFill>
              </a:rPr>
              <a:t>“We need a short proposal pitching three different types of work”</a:t>
            </a:r>
          </a:p>
        </p:txBody>
      </p:sp>
      <p:sp>
        <p:nvSpPr>
          <p:cNvPr id="4" name="Rectangle 3">
            <a:extLst>
              <a:ext uri="{FF2B5EF4-FFF2-40B4-BE49-F238E27FC236}">
                <a16:creationId xmlns:a16="http://schemas.microsoft.com/office/drawing/2014/main" id="{84F5ECE4-3E63-A7D8-7D3B-F3A664F443B0}"/>
              </a:ext>
            </a:extLst>
          </p:cNvPr>
          <p:cNvSpPr/>
          <p:nvPr/>
        </p:nvSpPr>
        <p:spPr>
          <a:xfrm>
            <a:off x="1336051" y="2282856"/>
            <a:ext cx="1144432" cy="5702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Context &amp; Objectives</a:t>
            </a:r>
          </a:p>
        </p:txBody>
      </p:sp>
      <p:sp>
        <p:nvSpPr>
          <p:cNvPr id="10" name="Rectangle 9">
            <a:extLst>
              <a:ext uri="{FF2B5EF4-FFF2-40B4-BE49-F238E27FC236}">
                <a16:creationId xmlns:a16="http://schemas.microsoft.com/office/drawing/2014/main" id="{7AFB0362-050B-D2B6-B14D-18D240E07440}"/>
              </a:ext>
            </a:extLst>
          </p:cNvPr>
          <p:cNvSpPr/>
          <p:nvPr/>
        </p:nvSpPr>
        <p:spPr>
          <a:xfrm>
            <a:off x="725962" y="3543626"/>
            <a:ext cx="765937" cy="5702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Work #1</a:t>
            </a:r>
          </a:p>
        </p:txBody>
      </p:sp>
      <p:sp>
        <p:nvSpPr>
          <p:cNvPr id="11" name="Rectangle 10">
            <a:extLst>
              <a:ext uri="{FF2B5EF4-FFF2-40B4-BE49-F238E27FC236}">
                <a16:creationId xmlns:a16="http://schemas.microsoft.com/office/drawing/2014/main" id="{9B986549-D03F-2953-0D1D-1F1696C0ECCA}"/>
              </a:ext>
            </a:extLst>
          </p:cNvPr>
          <p:cNvSpPr/>
          <p:nvPr/>
        </p:nvSpPr>
        <p:spPr>
          <a:xfrm>
            <a:off x="1550891" y="3543626"/>
            <a:ext cx="765937" cy="5702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Work #2</a:t>
            </a:r>
          </a:p>
        </p:txBody>
      </p:sp>
      <p:sp>
        <p:nvSpPr>
          <p:cNvPr id="15" name="Rectangle 14">
            <a:extLst>
              <a:ext uri="{FF2B5EF4-FFF2-40B4-BE49-F238E27FC236}">
                <a16:creationId xmlns:a16="http://schemas.microsoft.com/office/drawing/2014/main" id="{F72EC843-91F6-641D-79D8-F777CCB91CEF}"/>
              </a:ext>
            </a:extLst>
          </p:cNvPr>
          <p:cNvSpPr/>
          <p:nvPr/>
        </p:nvSpPr>
        <p:spPr>
          <a:xfrm>
            <a:off x="2375820" y="3543626"/>
            <a:ext cx="765937" cy="5702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Work #3</a:t>
            </a:r>
          </a:p>
        </p:txBody>
      </p:sp>
      <p:sp>
        <p:nvSpPr>
          <p:cNvPr id="16" name="Rectangle 15">
            <a:extLst>
              <a:ext uri="{FF2B5EF4-FFF2-40B4-BE49-F238E27FC236}">
                <a16:creationId xmlns:a16="http://schemas.microsoft.com/office/drawing/2014/main" id="{90A110CB-4C6F-3D0A-9DE9-5ED0AFBB9AE5}"/>
              </a:ext>
            </a:extLst>
          </p:cNvPr>
          <p:cNvSpPr/>
          <p:nvPr/>
        </p:nvSpPr>
        <p:spPr>
          <a:xfrm>
            <a:off x="1336051" y="4169851"/>
            <a:ext cx="1144427" cy="5702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Pricing options</a:t>
            </a:r>
          </a:p>
        </p:txBody>
      </p:sp>
      <p:sp>
        <p:nvSpPr>
          <p:cNvPr id="17" name="Rectangle 16">
            <a:extLst>
              <a:ext uri="{FF2B5EF4-FFF2-40B4-BE49-F238E27FC236}">
                <a16:creationId xmlns:a16="http://schemas.microsoft.com/office/drawing/2014/main" id="{6F51A36C-FFE7-EDDB-F71A-78272B04D5A8}"/>
              </a:ext>
            </a:extLst>
          </p:cNvPr>
          <p:cNvSpPr/>
          <p:nvPr/>
        </p:nvSpPr>
        <p:spPr>
          <a:xfrm>
            <a:off x="5390017" y="2282857"/>
            <a:ext cx="1144432" cy="5702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Key update</a:t>
            </a:r>
          </a:p>
        </p:txBody>
      </p:sp>
      <p:sp>
        <p:nvSpPr>
          <p:cNvPr id="29" name="Rectangle 28">
            <a:extLst>
              <a:ext uri="{FF2B5EF4-FFF2-40B4-BE49-F238E27FC236}">
                <a16:creationId xmlns:a16="http://schemas.microsoft.com/office/drawing/2014/main" id="{152D8E92-43C3-20B0-F4BD-7B3CCDC30801}"/>
              </a:ext>
            </a:extLst>
          </p:cNvPr>
          <p:cNvSpPr/>
          <p:nvPr/>
        </p:nvSpPr>
        <p:spPr>
          <a:xfrm>
            <a:off x="5390017" y="4169851"/>
            <a:ext cx="1144432" cy="5702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Next steps</a:t>
            </a:r>
          </a:p>
        </p:txBody>
      </p:sp>
      <p:sp>
        <p:nvSpPr>
          <p:cNvPr id="30" name="Rectangle 29">
            <a:extLst>
              <a:ext uri="{FF2B5EF4-FFF2-40B4-BE49-F238E27FC236}">
                <a16:creationId xmlns:a16="http://schemas.microsoft.com/office/drawing/2014/main" id="{658284E2-8C66-B5F1-9E4C-0FF55642B49F}"/>
              </a:ext>
            </a:extLst>
          </p:cNvPr>
          <p:cNvSpPr/>
          <p:nvPr/>
        </p:nvSpPr>
        <p:spPr>
          <a:xfrm>
            <a:off x="5390017" y="2913241"/>
            <a:ext cx="1144432" cy="5702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Preliminary updates</a:t>
            </a:r>
          </a:p>
        </p:txBody>
      </p:sp>
      <p:sp>
        <p:nvSpPr>
          <p:cNvPr id="31" name="Rectangle 30">
            <a:extLst>
              <a:ext uri="{FF2B5EF4-FFF2-40B4-BE49-F238E27FC236}">
                <a16:creationId xmlns:a16="http://schemas.microsoft.com/office/drawing/2014/main" id="{0493EA98-EB94-E113-28F1-063569D59B65}"/>
              </a:ext>
            </a:extLst>
          </p:cNvPr>
          <p:cNvSpPr/>
          <p:nvPr/>
        </p:nvSpPr>
        <p:spPr>
          <a:xfrm>
            <a:off x="5390017" y="3543625"/>
            <a:ext cx="1144432" cy="5702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Open discussion items</a:t>
            </a:r>
          </a:p>
        </p:txBody>
      </p:sp>
      <p:sp>
        <p:nvSpPr>
          <p:cNvPr id="32" name="Rectangle 31">
            <a:extLst>
              <a:ext uri="{FF2B5EF4-FFF2-40B4-BE49-F238E27FC236}">
                <a16:creationId xmlns:a16="http://schemas.microsoft.com/office/drawing/2014/main" id="{7DB00780-556A-3124-30B3-585F3997C232}"/>
              </a:ext>
            </a:extLst>
          </p:cNvPr>
          <p:cNvSpPr/>
          <p:nvPr/>
        </p:nvSpPr>
        <p:spPr>
          <a:xfrm>
            <a:off x="9077659" y="2901008"/>
            <a:ext cx="1144432" cy="5702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Exec sum</a:t>
            </a:r>
          </a:p>
        </p:txBody>
      </p:sp>
      <p:sp>
        <p:nvSpPr>
          <p:cNvPr id="33" name="Rectangle 32">
            <a:extLst>
              <a:ext uri="{FF2B5EF4-FFF2-40B4-BE49-F238E27FC236}">
                <a16:creationId xmlns:a16="http://schemas.microsoft.com/office/drawing/2014/main" id="{BC12A2FA-8516-A615-5AF7-CB59EC059033}"/>
              </a:ext>
            </a:extLst>
          </p:cNvPr>
          <p:cNvSpPr/>
          <p:nvPr/>
        </p:nvSpPr>
        <p:spPr>
          <a:xfrm>
            <a:off x="8464461" y="3525342"/>
            <a:ext cx="765937" cy="5702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Finding #1</a:t>
            </a:r>
          </a:p>
        </p:txBody>
      </p:sp>
      <p:sp>
        <p:nvSpPr>
          <p:cNvPr id="34" name="Rectangle 33">
            <a:extLst>
              <a:ext uri="{FF2B5EF4-FFF2-40B4-BE49-F238E27FC236}">
                <a16:creationId xmlns:a16="http://schemas.microsoft.com/office/drawing/2014/main" id="{BE231D3C-5A1F-65EA-2FA7-7593B0BA0D45}"/>
              </a:ext>
            </a:extLst>
          </p:cNvPr>
          <p:cNvSpPr/>
          <p:nvPr/>
        </p:nvSpPr>
        <p:spPr>
          <a:xfrm>
            <a:off x="9295187" y="3526964"/>
            <a:ext cx="765937" cy="5702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Finding #2</a:t>
            </a:r>
          </a:p>
        </p:txBody>
      </p:sp>
      <p:sp>
        <p:nvSpPr>
          <p:cNvPr id="35" name="Rectangle 34">
            <a:extLst>
              <a:ext uri="{FF2B5EF4-FFF2-40B4-BE49-F238E27FC236}">
                <a16:creationId xmlns:a16="http://schemas.microsoft.com/office/drawing/2014/main" id="{5501B2DE-F3BE-D0ED-3762-227502C836D5}"/>
              </a:ext>
            </a:extLst>
          </p:cNvPr>
          <p:cNvSpPr/>
          <p:nvPr/>
        </p:nvSpPr>
        <p:spPr>
          <a:xfrm>
            <a:off x="10125913" y="3525342"/>
            <a:ext cx="765937" cy="5702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Finding #3</a:t>
            </a:r>
          </a:p>
        </p:txBody>
      </p:sp>
      <p:sp>
        <p:nvSpPr>
          <p:cNvPr id="36" name="Rectangle 35">
            <a:extLst>
              <a:ext uri="{FF2B5EF4-FFF2-40B4-BE49-F238E27FC236}">
                <a16:creationId xmlns:a16="http://schemas.microsoft.com/office/drawing/2014/main" id="{5D1EBA87-0AAA-8F97-1AC1-47B5E32B8FE3}"/>
              </a:ext>
            </a:extLst>
          </p:cNvPr>
          <p:cNvSpPr/>
          <p:nvPr/>
        </p:nvSpPr>
        <p:spPr>
          <a:xfrm>
            <a:off x="8740923" y="4151298"/>
            <a:ext cx="955305" cy="5702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Supporting details</a:t>
            </a:r>
          </a:p>
        </p:txBody>
      </p:sp>
      <p:sp>
        <p:nvSpPr>
          <p:cNvPr id="37" name="Rectangle 36">
            <a:extLst>
              <a:ext uri="{FF2B5EF4-FFF2-40B4-BE49-F238E27FC236}">
                <a16:creationId xmlns:a16="http://schemas.microsoft.com/office/drawing/2014/main" id="{1025573B-CB38-BE3D-A702-A37B757E86E0}"/>
              </a:ext>
            </a:extLst>
          </p:cNvPr>
          <p:cNvSpPr/>
          <p:nvPr/>
        </p:nvSpPr>
        <p:spPr>
          <a:xfrm>
            <a:off x="9105940" y="4775632"/>
            <a:ext cx="1144431" cy="5702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Methodology</a:t>
            </a:r>
          </a:p>
        </p:txBody>
      </p:sp>
      <p:sp>
        <p:nvSpPr>
          <p:cNvPr id="39" name="Rectangle 38">
            <a:extLst>
              <a:ext uri="{FF2B5EF4-FFF2-40B4-BE49-F238E27FC236}">
                <a16:creationId xmlns:a16="http://schemas.microsoft.com/office/drawing/2014/main" id="{EA2F4AC3-80DE-2C62-0253-B1A719206075}"/>
              </a:ext>
            </a:extLst>
          </p:cNvPr>
          <p:cNvSpPr/>
          <p:nvPr/>
        </p:nvSpPr>
        <p:spPr>
          <a:xfrm>
            <a:off x="9105940" y="5408737"/>
            <a:ext cx="1155813" cy="5702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Appendix</a:t>
            </a:r>
          </a:p>
        </p:txBody>
      </p:sp>
      <p:sp>
        <p:nvSpPr>
          <p:cNvPr id="40" name="Rectangle 39">
            <a:extLst>
              <a:ext uri="{FF2B5EF4-FFF2-40B4-BE49-F238E27FC236}">
                <a16:creationId xmlns:a16="http://schemas.microsoft.com/office/drawing/2014/main" id="{D16583FF-E60F-4F7B-7938-DAB3A1FD2986}"/>
              </a:ext>
            </a:extLst>
          </p:cNvPr>
          <p:cNvSpPr/>
          <p:nvPr/>
        </p:nvSpPr>
        <p:spPr>
          <a:xfrm>
            <a:off x="1336051" y="2913241"/>
            <a:ext cx="1144432" cy="5702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Summary</a:t>
            </a:r>
          </a:p>
        </p:txBody>
      </p:sp>
      <p:sp>
        <p:nvSpPr>
          <p:cNvPr id="41" name="Rectangle 40">
            <a:extLst>
              <a:ext uri="{FF2B5EF4-FFF2-40B4-BE49-F238E27FC236}">
                <a16:creationId xmlns:a16="http://schemas.microsoft.com/office/drawing/2014/main" id="{DED533F6-A519-859F-B170-3939ECA33E0F}"/>
              </a:ext>
            </a:extLst>
          </p:cNvPr>
          <p:cNvSpPr/>
          <p:nvPr/>
        </p:nvSpPr>
        <p:spPr>
          <a:xfrm>
            <a:off x="1336050" y="4796076"/>
            <a:ext cx="1144421" cy="5702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Examples</a:t>
            </a:r>
          </a:p>
        </p:txBody>
      </p:sp>
      <p:sp>
        <p:nvSpPr>
          <p:cNvPr id="47" name="Rectangle 46">
            <a:extLst>
              <a:ext uri="{FF2B5EF4-FFF2-40B4-BE49-F238E27FC236}">
                <a16:creationId xmlns:a16="http://schemas.microsoft.com/office/drawing/2014/main" id="{1FD30553-736B-3ED2-2247-0C073F5C69E1}"/>
              </a:ext>
            </a:extLst>
          </p:cNvPr>
          <p:cNvSpPr/>
          <p:nvPr/>
        </p:nvSpPr>
        <p:spPr>
          <a:xfrm>
            <a:off x="9077659" y="2282856"/>
            <a:ext cx="1144432" cy="5702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Context &amp; Objectives</a:t>
            </a:r>
          </a:p>
        </p:txBody>
      </p:sp>
      <p:cxnSp>
        <p:nvCxnSpPr>
          <p:cNvPr id="3" name="Straight Connector 2">
            <a:extLst>
              <a:ext uri="{FF2B5EF4-FFF2-40B4-BE49-F238E27FC236}">
                <a16:creationId xmlns:a16="http://schemas.microsoft.com/office/drawing/2014/main" id="{717068FA-D041-C502-9AE0-39DB34731A5D}"/>
              </a:ext>
            </a:extLst>
          </p:cNvPr>
          <p:cNvCxnSpPr>
            <a:cxnSpLocks/>
          </p:cNvCxnSpPr>
          <p:nvPr/>
        </p:nvCxnSpPr>
        <p:spPr>
          <a:xfrm>
            <a:off x="4419725" y="1762394"/>
            <a:ext cx="0" cy="3627489"/>
          </a:xfrm>
          <a:prstGeom prst="line">
            <a:avLst/>
          </a:prstGeom>
          <a:ln w="9525">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189D11AA-2BD3-4B01-DB40-8144A309C7DC}"/>
              </a:ext>
            </a:extLst>
          </p:cNvPr>
          <p:cNvCxnSpPr>
            <a:cxnSpLocks/>
          </p:cNvCxnSpPr>
          <p:nvPr/>
        </p:nvCxnSpPr>
        <p:spPr>
          <a:xfrm>
            <a:off x="7700312" y="1762394"/>
            <a:ext cx="0" cy="3652622"/>
          </a:xfrm>
          <a:prstGeom prst="line">
            <a:avLst/>
          </a:prstGeom>
          <a:ln w="9525">
            <a:solidFill>
              <a:schemeClr val="tx1"/>
            </a:solidFill>
            <a:prstDash val="dash"/>
          </a:ln>
        </p:spPr>
        <p:style>
          <a:lnRef idx="1">
            <a:schemeClr val="dk1"/>
          </a:lnRef>
          <a:fillRef idx="0">
            <a:schemeClr val="dk1"/>
          </a:fillRef>
          <a:effectRef idx="0">
            <a:schemeClr val="dk1"/>
          </a:effectRef>
          <a:fontRef idx="minor">
            <a:schemeClr val="tx1"/>
          </a:fontRef>
        </p:style>
      </p:cxnSp>
      <p:sp>
        <p:nvSpPr>
          <p:cNvPr id="24" name="Rectangle 23">
            <a:extLst>
              <a:ext uri="{FF2B5EF4-FFF2-40B4-BE49-F238E27FC236}">
                <a16:creationId xmlns:a16="http://schemas.microsoft.com/office/drawing/2014/main" id="{BFC73E44-C7FD-21C5-950F-D039AF739A5B}"/>
              </a:ext>
            </a:extLst>
          </p:cNvPr>
          <p:cNvSpPr/>
          <p:nvPr/>
        </p:nvSpPr>
        <p:spPr>
          <a:xfrm>
            <a:off x="1977381" y="5784842"/>
            <a:ext cx="6883814" cy="7818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19113"/>
            <a:r>
              <a:rPr lang="en-US" sz="1600">
                <a:solidFill>
                  <a:schemeClr val="tx1"/>
                </a:solidFill>
              </a:rPr>
              <a:t>Draft deck structure as soon as client asks are known; note the pages </a:t>
            </a:r>
            <a:r>
              <a:rPr lang="en-US" sz="1600" b="1">
                <a:solidFill>
                  <a:srgbClr val="009999"/>
                </a:solidFill>
              </a:rPr>
              <a:t>may be shifted or added </a:t>
            </a:r>
            <a:r>
              <a:rPr lang="en-US" sz="1600">
                <a:solidFill>
                  <a:schemeClr val="tx1"/>
                </a:solidFill>
              </a:rPr>
              <a:t>to better serve client demands</a:t>
            </a:r>
            <a:endParaRPr lang="en-US" sz="1600" dirty="0" err="1">
              <a:solidFill>
                <a:schemeClr val="tx1"/>
              </a:solidFill>
            </a:endParaRPr>
          </a:p>
        </p:txBody>
      </p:sp>
      <p:sp>
        <p:nvSpPr>
          <p:cNvPr id="25" name="Rectangle 24">
            <a:extLst>
              <a:ext uri="{FF2B5EF4-FFF2-40B4-BE49-F238E27FC236}">
                <a16:creationId xmlns:a16="http://schemas.microsoft.com/office/drawing/2014/main" id="{B4E5064B-1A97-B03D-824A-179A1925A60B}"/>
              </a:ext>
            </a:extLst>
          </p:cNvPr>
          <p:cNvSpPr/>
          <p:nvPr/>
        </p:nvSpPr>
        <p:spPr>
          <a:xfrm>
            <a:off x="1894790" y="5784843"/>
            <a:ext cx="88584" cy="78189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p>
        </p:txBody>
      </p:sp>
      <p:sp>
        <p:nvSpPr>
          <p:cNvPr id="26" name="Rectangle 25">
            <a:extLst>
              <a:ext uri="{FF2B5EF4-FFF2-40B4-BE49-F238E27FC236}">
                <a16:creationId xmlns:a16="http://schemas.microsoft.com/office/drawing/2014/main" id="{308F3E7D-3687-8CF1-ADB1-C27F6738A808}"/>
              </a:ext>
            </a:extLst>
          </p:cNvPr>
          <p:cNvSpPr/>
          <p:nvPr/>
        </p:nvSpPr>
        <p:spPr>
          <a:xfrm>
            <a:off x="9762972" y="4151298"/>
            <a:ext cx="955305" cy="5702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Supporting details</a:t>
            </a:r>
          </a:p>
        </p:txBody>
      </p:sp>
      <p:pic>
        <p:nvPicPr>
          <p:cNvPr id="28" name="Graphic 27" descr="Postit Notes outline">
            <a:extLst>
              <a:ext uri="{FF2B5EF4-FFF2-40B4-BE49-F238E27FC236}">
                <a16:creationId xmlns:a16="http://schemas.microsoft.com/office/drawing/2014/main" id="{05A8ACC6-0435-325F-666B-6CC87750743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23081" y="5942469"/>
            <a:ext cx="466638" cy="466638"/>
          </a:xfrm>
          <a:prstGeom prst="rect">
            <a:avLst/>
          </a:prstGeom>
        </p:spPr>
      </p:pic>
    </p:spTree>
    <p:extLst>
      <p:ext uri="{BB962C8B-B14F-4D97-AF65-F5344CB8AC3E}">
        <p14:creationId xmlns:p14="http://schemas.microsoft.com/office/powerpoint/2010/main" val="26535960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A579A-D708-3F5E-EDF8-DBD459AFD3E8}"/>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ED5C996-2CAA-B74C-419E-A27ECE297503}"/>
              </a:ext>
            </a:extLst>
          </p:cNvPr>
          <p:cNvGraphicFramePr>
            <a:graphicFrameLocks/>
          </p:cNvGraphicFramePr>
          <p:nvPr>
            <p:custDataLst>
              <p:tags r:id="rId1"/>
            </p:custDataLst>
            <p:extLst>
              <p:ext uri="{D42A27DB-BD31-4B8C-83A1-F6EECF244321}">
                <p14:modId xmlns:p14="http://schemas.microsoft.com/office/powerpoint/2010/main" val="29576255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 name="think-cell data - do not delete" hidden="1">
            <a:extLst>
              <a:ext uri="{FF2B5EF4-FFF2-40B4-BE49-F238E27FC236}">
                <a16:creationId xmlns:a16="http://schemas.microsoft.com/office/drawing/2014/main" id="{3203905D-4BED-5958-2626-76EC9B141008}"/>
              </a:ext>
            </a:extLst>
          </p:cNvPr>
          <p:cNvGraphicFramePr>
            <a:graphicFrameLocks noChangeAspect="1"/>
          </p:cNvGraphicFramePr>
          <p:nvPr>
            <p:custDataLst>
              <p:tags r:id="rId2"/>
            </p:custDataLst>
            <p:extLst>
              <p:ext uri="{D42A27DB-BD31-4B8C-83A1-F6EECF244321}">
                <p14:modId xmlns:p14="http://schemas.microsoft.com/office/powerpoint/2010/main" val="16313772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7" imgH="348" progId="TCLayout.ActiveDocument.1">
                  <p:embed/>
                </p:oleObj>
              </mc:Choice>
              <mc:Fallback>
                <p:oleObj name="think-cell Slide" r:id="rId6"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C393A0F-A73A-0CC7-C2E0-A4F81367F772}"/>
              </a:ext>
            </a:extLst>
          </p:cNvPr>
          <p:cNvSpPr>
            <a:spLocks noGrp="1"/>
          </p:cNvSpPr>
          <p:nvPr>
            <p:ph type="title"/>
          </p:nvPr>
        </p:nvSpPr>
        <p:spPr>
          <a:xfrm>
            <a:off x="558800" y="635000"/>
            <a:ext cx="11087100" cy="838200"/>
          </a:xfrm>
        </p:spPr>
        <p:txBody>
          <a:bodyPr vert="horz" rIns="0" anchor="t" anchorCtr="0"/>
          <a:lstStyle/>
          <a:p>
            <a:r>
              <a:rPr lang="en-US"/>
              <a:t>Deck building | Key takeaways</a:t>
            </a:r>
          </a:p>
        </p:txBody>
      </p:sp>
      <p:sp>
        <p:nvSpPr>
          <p:cNvPr id="5" name="Title 1">
            <a:extLst>
              <a:ext uri="{FF2B5EF4-FFF2-40B4-BE49-F238E27FC236}">
                <a16:creationId xmlns:a16="http://schemas.microsoft.com/office/drawing/2014/main" id="{6A7B84FC-A89C-118C-72AD-FC2097D96286}"/>
              </a:ext>
            </a:extLst>
          </p:cNvPr>
          <p:cNvSpPr txBox="1">
            <a:spLocks/>
          </p:cNvSpPr>
          <p:nvPr/>
        </p:nvSpPr>
        <p:spPr>
          <a:xfrm>
            <a:off x="1071418" y="1815263"/>
            <a:ext cx="9910618" cy="73152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bg1"/>
                </a:solidFill>
                <a:latin typeface="+mj-lt"/>
                <a:ea typeface="+mj-ea"/>
                <a:cs typeface="+mj-cs"/>
              </a:defRPr>
            </a:lvl1pPr>
          </a:lstStyle>
          <a:p>
            <a:r>
              <a:rPr lang="en-US"/>
              <a:t>Knowing the right structure of a deck is half the battle</a:t>
            </a:r>
          </a:p>
        </p:txBody>
      </p:sp>
      <p:sp>
        <p:nvSpPr>
          <p:cNvPr id="6" name="Title 1">
            <a:extLst>
              <a:ext uri="{FF2B5EF4-FFF2-40B4-BE49-F238E27FC236}">
                <a16:creationId xmlns:a16="http://schemas.microsoft.com/office/drawing/2014/main" id="{28C133EC-1435-0CB1-C483-C11BFE94505F}"/>
              </a:ext>
            </a:extLst>
          </p:cNvPr>
          <p:cNvSpPr txBox="1">
            <a:spLocks/>
          </p:cNvSpPr>
          <p:nvPr/>
        </p:nvSpPr>
        <p:spPr>
          <a:xfrm>
            <a:off x="1071417" y="3270629"/>
            <a:ext cx="9910618" cy="113930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bg1"/>
                </a:solidFill>
                <a:latin typeface="+mj-lt"/>
                <a:ea typeface="+mj-ea"/>
                <a:cs typeface="+mj-cs"/>
              </a:defRPr>
            </a:lvl1pPr>
          </a:lstStyle>
          <a:p>
            <a:r>
              <a:rPr lang="en-US"/>
              <a:t>The storyline is what matters; everything else is a means to carry the narrative and is changeable</a:t>
            </a:r>
          </a:p>
        </p:txBody>
      </p:sp>
      <p:sp>
        <p:nvSpPr>
          <p:cNvPr id="7" name="Title 1">
            <a:extLst>
              <a:ext uri="{FF2B5EF4-FFF2-40B4-BE49-F238E27FC236}">
                <a16:creationId xmlns:a16="http://schemas.microsoft.com/office/drawing/2014/main" id="{90A8CDFE-2BED-9607-B5CB-E6E51DC38AD0}"/>
              </a:ext>
            </a:extLst>
          </p:cNvPr>
          <p:cNvSpPr txBox="1">
            <a:spLocks/>
          </p:cNvSpPr>
          <p:nvPr/>
        </p:nvSpPr>
        <p:spPr>
          <a:xfrm>
            <a:off x="1071418" y="4719002"/>
            <a:ext cx="10565846" cy="73152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bg1"/>
                </a:solidFill>
                <a:latin typeface="+mj-lt"/>
                <a:ea typeface="+mj-ea"/>
                <a:cs typeface="+mj-cs"/>
              </a:defRPr>
            </a:lvl1pPr>
          </a:lstStyle>
          <a:p>
            <a:r>
              <a:rPr lang="en-US"/>
              <a:t>Creating near-blank placeholders can help you think at a high level</a:t>
            </a:r>
          </a:p>
        </p:txBody>
      </p:sp>
      <p:sp>
        <p:nvSpPr>
          <p:cNvPr id="9" name="Oval 8">
            <a:extLst>
              <a:ext uri="{FF2B5EF4-FFF2-40B4-BE49-F238E27FC236}">
                <a16:creationId xmlns:a16="http://schemas.microsoft.com/office/drawing/2014/main" id="{DCF35B06-0E6D-84E5-4025-10C48555FFEA}"/>
              </a:ext>
            </a:extLst>
          </p:cNvPr>
          <p:cNvSpPr/>
          <p:nvPr/>
        </p:nvSpPr>
        <p:spPr>
          <a:xfrm>
            <a:off x="554736" y="1774623"/>
            <a:ext cx="406400" cy="406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2"/>
                </a:solidFill>
              </a:rPr>
              <a:t>1</a:t>
            </a:r>
            <a:endParaRPr lang="en-US" b="1" dirty="0" err="1">
              <a:solidFill>
                <a:schemeClr val="bg2"/>
              </a:solidFill>
            </a:endParaRPr>
          </a:p>
        </p:txBody>
      </p:sp>
      <p:sp>
        <p:nvSpPr>
          <p:cNvPr id="10" name="Oval 9">
            <a:extLst>
              <a:ext uri="{FF2B5EF4-FFF2-40B4-BE49-F238E27FC236}">
                <a16:creationId xmlns:a16="http://schemas.microsoft.com/office/drawing/2014/main" id="{BE781429-2EAF-DE5E-048D-1039505128F7}"/>
              </a:ext>
            </a:extLst>
          </p:cNvPr>
          <p:cNvSpPr/>
          <p:nvPr/>
        </p:nvSpPr>
        <p:spPr>
          <a:xfrm>
            <a:off x="554736" y="3226493"/>
            <a:ext cx="406400" cy="406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2"/>
                </a:solidFill>
              </a:rPr>
              <a:t>2</a:t>
            </a:r>
            <a:endParaRPr lang="en-US" b="1" dirty="0" err="1">
              <a:solidFill>
                <a:schemeClr val="bg2"/>
              </a:solidFill>
            </a:endParaRPr>
          </a:p>
        </p:txBody>
      </p:sp>
      <p:sp>
        <p:nvSpPr>
          <p:cNvPr id="11" name="Oval 10">
            <a:extLst>
              <a:ext uri="{FF2B5EF4-FFF2-40B4-BE49-F238E27FC236}">
                <a16:creationId xmlns:a16="http://schemas.microsoft.com/office/drawing/2014/main" id="{03E0E291-301E-29EA-F62C-605F2A73BE3A}"/>
              </a:ext>
            </a:extLst>
          </p:cNvPr>
          <p:cNvSpPr/>
          <p:nvPr/>
        </p:nvSpPr>
        <p:spPr>
          <a:xfrm>
            <a:off x="554736" y="4678362"/>
            <a:ext cx="406400" cy="406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2"/>
                </a:solidFill>
              </a:rPr>
              <a:t>3</a:t>
            </a:r>
            <a:endParaRPr lang="en-US" b="1" dirty="0" err="1">
              <a:solidFill>
                <a:schemeClr val="bg2"/>
              </a:solidFill>
            </a:endParaRPr>
          </a:p>
        </p:txBody>
      </p:sp>
    </p:spTree>
    <p:extLst>
      <p:ext uri="{BB962C8B-B14F-4D97-AF65-F5344CB8AC3E}">
        <p14:creationId xmlns:p14="http://schemas.microsoft.com/office/powerpoint/2010/main" val="11371411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20EDF-E059-F947-FF75-CA57F022DDCE}"/>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6AA571F-CDD8-A692-A698-56C4693A7915}"/>
              </a:ext>
            </a:extLst>
          </p:cNvPr>
          <p:cNvGraphicFramePr>
            <a:graphicFrameLocks/>
          </p:cNvGraphicFramePr>
          <p:nvPr>
            <p:custDataLst>
              <p:tags r:id="rId1"/>
            </p:custDataLst>
            <p:extLst>
              <p:ext uri="{D42A27DB-BD31-4B8C-83A1-F6EECF244321}">
                <p14:modId xmlns:p14="http://schemas.microsoft.com/office/powerpoint/2010/main" val="10054845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2" name="think-cell data - do not delete" hidden="1">
            <a:extLst>
              <a:ext uri="{FF2B5EF4-FFF2-40B4-BE49-F238E27FC236}">
                <a16:creationId xmlns:a16="http://schemas.microsoft.com/office/drawing/2014/main" id="{715E574A-52FC-1FF7-F3F4-DBBC785E5A57}"/>
              </a:ext>
            </a:extLst>
          </p:cNvPr>
          <p:cNvGraphicFramePr>
            <a:graphicFrameLocks noChangeAspect="1"/>
          </p:cNvGraphicFramePr>
          <p:nvPr>
            <p:custDataLst>
              <p:tags r:id="rId2"/>
            </p:custDataLst>
            <p:extLst>
              <p:ext uri="{D42A27DB-BD31-4B8C-83A1-F6EECF244321}">
                <p14:modId xmlns:p14="http://schemas.microsoft.com/office/powerpoint/2010/main" val="28659400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7" imgH="348" progId="TCLayout.ActiveDocument.1">
                  <p:embed/>
                </p:oleObj>
              </mc:Choice>
              <mc:Fallback>
                <p:oleObj name="think-cell Slide" r:id="rId6"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30EC84DF-82B6-AF2D-11CF-75EB06E33B23}"/>
              </a:ext>
            </a:extLst>
          </p:cNvPr>
          <p:cNvSpPr>
            <a:spLocks noGrp="1"/>
          </p:cNvSpPr>
          <p:nvPr>
            <p:ph type="title"/>
          </p:nvPr>
        </p:nvSpPr>
        <p:spPr>
          <a:xfrm>
            <a:off x="554736" y="1921164"/>
            <a:ext cx="1384900" cy="1780167"/>
          </a:xfrm>
        </p:spPr>
        <p:txBody>
          <a:bodyPr vert="horz" rIns="0"/>
          <a:lstStyle/>
          <a:p>
            <a:r>
              <a:rPr lang="en-US" sz="11500" b="1"/>
              <a:t>3</a:t>
            </a:r>
          </a:p>
        </p:txBody>
      </p:sp>
      <p:sp>
        <p:nvSpPr>
          <p:cNvPr id="7" name="Title 3">
            <a:extLst>
              <a:ext uri="{FF2B5EF4-FFF2-40B4-BE49-F238E27FC236}">
                <a16:creationId xmlns:a16="http://schemas.microsoft.com/office/drawing/2014/main" id="{0B1431A0-004F-064D-1A36-06F81B6C921D}"/>
              </a:ext>
            </a:extLst>
          </p:cNvPr>
          <p:cNvSpPr txBox="1">
            <a:spLocks/>
          </p:cNvSpPr>
          <p:nvPr/>
        </p:nvSpPr>
        <p:spPr>
          <a:xfrm>
            <a:off x="554736" y="3525840"/>
            <a:ext cx="5065776" cy="1341724"/>
          </a:xfrm>
          <a:prstGeom prst="rect">
            <a:avLst/>
          </a:prstGeom>
        </p:spPr>
        <p:txBody>
          <a:bodyPr vert="horz" wrap="square" lIns="0" tIns="0" rIns="0" bIns="0" rtlCol="0" anchor="b" anchorCtr="0">
            <a:noAutofit/>
          </a:bodyPr>
          <a:lstStyle>
            <a:lvl1pPr algn="l" defTabSz="914400" rtl="0" eaLnBrk="1" latinLnBrk="0" hangingPunct="1">
              <a:lnSpc>
                <a:spcPct val="90000"/>
              </a:lnSpc>
              <a:spcBef>
                <a:spcPct val="0"/>
              </a:spcBef>
              <a:buNone/>
              <a:defRPr sz="2600" kern="1200">
                <a:solidFill>
                  <a:schemeClr val="bg1"/>
                </a:solidFill>
                <a:latin typeface="+mj-lt"/>
                <a:ea typeface="+mj-ea"/>
                <a:cs typeface="+mj-cs"/>
              </a:defRPr>
            </a:lvl1pPr>
          </a:lstStyle>
          <a:p>
            <a:r>
              <a:rPr lang="en-US" sz="4800" b="1"/>
              <a:t>How we structure a page</a:t>
            </a:r>
          </a:p>
        </p:txBody>
      </p:sp>
      <p:sp>
        <p:nvSpPr>
          <p:cNvPr id="9" name="Title 1">
            <a:extLst>
              <a:ext uri="{FF2B5EF4-FFF2-40B4-BE49-F238E27FC236}">
                <a16:creationId xmlns:a16="http://schemas.microsoft.com/office/drawing/2014/main" id="{C9CA984B-ADCB-D342-1D3E-82C2AEB1F40F}"/>
              </a:ext>
            </a:extLst>
          </p:cNvPr>
          <p:cNvSpPr txBox="1">
            <a:spLocks/>
          </p:cNvSpPr>
          <p:nvPr/>
        </p:nvSpPr>
        <p:spPr>
          <a:xfrm>
            <a:off x="6474691" y="1625601"/>
            <a:ext cx="5162572" cy="153187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t>WHAT</a:t>
            </a:r>
          </a:p>
          <a:p>
            <a:br>
              <a:rPr lang="en-US" sz="2000"/>
            </a:br>
            <a:r>
              <a:rPr lang="en-US" sz="2000"/>
              <a:t>This section shows which slide formats are used most often and what elements go in a page, chart, and table</a:t>
            </a:r>
          </a:p>
        </p:txBody>
      </p:sp>
      <p:sp>
        <p:nvSpPr>
          <p:cNvPr id="10" name="Title 1">
            <a:extLst>
              <a:ext uri="{FF2B5EF4-FFF2-40B4-BE49-F238E27FC236}">
                <a16:creationId xmlns:a16="http://schemas.microsoft.com/office/drawing/2014/main" id="{0BD66A3A-CDCF-731A-332C-CD200060A279}"/>
              </a:ext>
            </a:extLst>
          </p:cNvPr>
          <p:cNvSpPr txBox="1">
            <a:spLocks/>
          </p:cNvSpPr>
          <p:nvPr/>
        </p:nvSpPr>
        <p:spPr>
          <a:xfrm>
            <a:off x="6474691" y="3429000"/>
            <a:ext cx="5162572" cy="153187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t>WHY</a:t>
            </a:r>
          </a:p>
          <a:p>
            <a:br>
              <a:rPr lang="en-US" sz="2000"/>
            </a:br>
            <a:r>
              <a:rPr lang="en-US" sz="2000"/>
              <a:t>Using the right format, layout, and page element ensures our insights are persuasive and clearly visible to the client </a:t>
            </a:r>
          </a:p>
        </p:txBody>
      </p:sp>
    </p:spTree>
    <p:extLst>
      <p:ext uri="{BB962C8B-B14F-4D97-AF65-F5344CB8AC3E}">
        <p14:creationId xmlns:p14="http://schemas.microsoft.com/office/powerpoint/2010/main" val="31385478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4ADF3-B879-2DFD-DD92-41A2E086DC34}"/>
            </a:ext>
          </a:extLst>
        </p:cNvPr>
        <p:cNvGrpSpPr/>
        <p:nvPr/>
      </p:nvGrpSpPr>
      <p:grpSpPr>
        <a:xfrm>
          <a:off x="0" y="0"/>
          <a:ext cx="0" cy="0"/>
          <a:chOff x="0" y="0"/>
          <a:chExt cx="0" cy="0"/>
        </a:xfrm>
      </p:grpSpPr>
      <p:graphicFrame>
        <p:nvGraphicFramePr>
          <p:cNvPr id="37" name="think-cell data - do not delete" hidden="1">
            <a:extLst>
              <a:ext uri="{FF2B5EF4-FFF2-40B4-BE49-F238E27FC236}">
                <a16:creationId xmlns:a16="http://schemas.microsoft.com/office/drawing/2014/main" id="{1068A2F0-DBAF-5578-515F-72F88132CA7E}"/>
              </a:ext>
            </a:extLst>
          </p:cNvPr>
          <p:cNvGraphicFramePr>
            <a:graphicFrameLocks/>
          </p:cNvGraphicFramePr>
          <p:nvPr>
            <p:custDataLst>
              <p:tags r:id="rId1"/>
            </p:custDataLst>
            <p:extLst>
              <p:ext uri="{D42A27DB-BD31-4B8C-83A1-F6EECF244321}">
                <p14:modId xmlns:p14="http://schemas.microsoft.com/office/powerpoint/2010/main" val="36546205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6" name="think-cell data - do not delete" hidden="1">
            <a:extLst>
              <a:ext uri="{FF2B5EF4-FFF2-40B4-BE49-F238E27FC236}">
                <a16:creationId xmlns:a16="http://schemas.microsoft.com/office/drawing/2014/main" id="{B1B7095C-9ED4-9FF3-F758-279346760951}"/>
              </a:ext>
            </a:extLst>
          </p:cNvPr>
          <p:cNvGraphicFramePr>
            <a:graphicFrameLocks noChangeAspect="1"/>
          </p:cNvGraphicFramePr>
          <p:nvPr>
            <p:custDataLst>
              <p:tags r:id="rId2"/>
            </p:custDataLst>
            <p:extLst>
              <p:ext uri="{D42A27DB-BD31-4B8C-83A1-F6EECF244321}">
                <p14:modId xmlns:p14="http://schemas.microsoft.com/office/powerpoint/2010/main" val="40541654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7" imgH="348" progId="TCLayout.ActiveDocument.1">
                  <p:embed/>
                </p:oleObj>
              </mc:Choice>
              <mc:Fallback>
                <p:oleObj name="think-cell Slide" r:id="rId6"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5" name="Rectangle 24">
            <a:extLst>
              <a:ext uri="{FF2B5EF4-FFF2-40B4-BE49-F238E27FC236}">
                <a16:creationId xmlns:a16="http://schemas.microsoft.com/office/drawing/2014/main" id="{051AF5C1-8EFF-D73B-23E9-1FEDF4255F61}"/>
              </a:ext>
            </a:extLst>
          </p:cNvPr>
          <p:cNvSpPr/>
          <p:nvPr/>
        </p:nvSpPr>
        <p:spPr>
          <a:xfrm>
            <a:off x="8224812" y="3768822"/>
            <a:ext cx="3395095" cy="1998483"/>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err="1"/>
          </a:p>
        </p:txBody>
      </p:sp>
      <p:sp>
        <p:nvSpPr>
          <p:cNvPr id="26" name="Rectangle 25">
            <a:extLst>
              <a:ext uri="{FF2B5EF4-FFF2-40B4-BE49-F238E27FC236}">
                <a16:creationId xmlns:a16="http://schemas.microsoft.com/office/drawing/2014/main" id="{F33EC83A-F9A1-D3AA-DF69-69FFF6E3A6D6}"/>
              </a:ext>
            </a:extLst>
          </p:cNvPr>
          <p:cNvSpPr/>
          <p:nvPr/>
        </p:nvSpPr>
        <p:spPr>
          <a:xfrm>
            <a:off x="4387261" y="3768822"/>
            <a:ext cx="3395095" cy="1998483"/>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err="1"/>
          </a:p>
        </p:txBody>
      </p:sp>
      <p:sp>
        <p:nvSpPr>
          <p:cNvPr id="27" name="Rectangle 26">
            <a:extLst>
              <a:ext uri="{FF2B5EF4-FFF2-40B4-BE49-F238E27FC236}">
                <a16:creationId xmlns:a16="http://schemas.microsoft.com/office/drawing/2014/main" id="{1A049E0D-4671-C8E7-C78E-A768C1519014}"/>
              </a:ext>
            </a:extLst>
          </p:cNvPr>
          <p:cNvSpPr/>
          <p:nvPr/>
        </p:nvSpPr>
        <p:spPr>
          <a:xfrm>
            <a:off x="554736" y="3768822"/>
            <a:ext cx="3395095" cy="1998483"/>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err="1"/>
          </a:p>
        </p:txBody>
      </p:sp>
      <p:sp>
        <p:nvSpPr>
          <p:cNvPr id="24" name="Rectangle 23">
            <a:extLst>
              <a:ext uri="{FF2B5EF4-FFF2-40B4-BE49-F238E27FC236}">
                <a16:creationId xmlns:a16="http://schemas.microsoft.com/office/drawing/2014/main" id="{DD8C3CAD-EE3B-200D-C20E-1C83C15E8109}"/>
              </a:ext>
            </a:extLst>
          </p:cNvPr>
          <p:cNvSpPr/>
          <p:nvPr/>
        </p:nvSpPr>
        <p:spPr>
          <a:xfrm>
            <a:off x="8224812" y="1477039"/>
            <a:ext cx="3395095" cy="1998483"/>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err="1"/>
          </a:p>
        </p:txBody>
      </p:sp>
      <p:sp>
        <p:nvSpPr>
          <p:cNvPr id="22" name="Rectangle 21">
            <a:extLst>
              <a:ext uri="{FF2B5EF4-FFF2-40B4-BE49-F238E27FC236}">
                <a16:creationId xmlns:a16="http://schemas.microsoft.com/office/drawing/2014/main" id="{C30F908B-E67B-665C-28E1-2E59B80156A6}"/>
              </a:ext>
            </a:extLst>
          </p:cNvPr>
          <p:cNvSpPr/>
          <p:nvPr/>
        </p:nvSpPr>
        <p:spPr>
          <a:xfrm>
            <a:off x="4387261" y="1477039"/>
            <a:ext cx="3395095" cy="1998483"/>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err="1"/>
          </a:p>
        </p:txBody>
      </p:sp>
      <p:sp>
        <p:nvSpPr>
          <p:cNvPr id="11" name="Rectangle 10">
            <a:extLst>
              <a:ext uri="{FF2B5EF4-FFF2-40B4-BE49-F238E27FC236}">
                <a16:creationId xmlns:a16="http://schemas.microsoft.com/office/drawing/2014/main" id="{78B1479E-0159-D829-CE8F-AB50A71DD782}"/>
              </a:ext>
            </a:extLst>
          </p:cNvPr>
          <p:cNvSpPr/>
          <p:nvPr/>
        </p:nvSpPr>
        <p:spPr>
          <a:xfrm>
            <a:off x="554736" y="1477039"/>
            <a:ext cx="3395095" cy="1998483"/>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err="1"/>
          </a:p>
        </p:txBody>
      </p:sp>
      <p:sp>
        <p:nvSpPr>
          <p:cNvPr id="2" name="Title 1">
            <a:extLst>
              <a:ext uri="{FF2B5EF4-FFF2-40B4-BE49-F238E27FC236}">
                <a16:creationId xmlns:a16="http://schemas.microsoft.com/office/drawing/2014/main" id="{F668D0F5-327B-9463-49FC-CDD46B70785C}"/>
              </a:ext>
            </a:extLst>
          </p:cNvPr>
          <p:cNvSpPr>
            <a:spLocks noGrp="1"/>
          </p:cNvSpPr>
          <p:nvPr>
            <p:ph type="title"/>
          </p:nvPr>
        </p:nvSpPr>
        <p:spPr>
          <a:xfrm>
            <a:off x="558800" y="635000"/>
            <a:ext cx="11087100" cy="838200"/>
          </a:xfrm>
        </p:spPr>
        <p:txBody>
          <a:bodyPr vert="horz" rIns="0" anchor="t" anchorCtr="0"/>
          <a:lstStyle/>
          <a:p>
            <a:r>
              <a:rPr lang="en-US"/>
              <a:t>Most consulting pages follow a commonly used format</a:t>
            </a:r>
          </a:p>
        </p:txBody>
      </p:sp>
      <p:sp>
        <p:nvSpPr>
          <p:cNvPr id="5" name="Rectangle 4">
            <a:extLst>
              <a:ext uri="{FF2B5EF4-FFF2-40B4-BE49-F238E27FC236}">
                <a16:creationId xmlns:a16="http://schemas.microsoft.com/office/drawing/2014/main" id="{62D74478-6EAE-4E06-DF93-9C356AD90CBE}"/>
              </a:ext>
            </a:extLst>
          </p:cNvPr>
          <p:cNvSpPr/>
          <p:nvPr/>
        </p:nvSpPr>
        <p:spPr>
          <a:xfrm>
            <a:off x="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THINK</a:t>
            </a:r>
            <a:endParaRPr lang="en-US" sz="1100" dirty="0"/>
          </a:p>
        </p:txBody>
      </p:sp>
      <p:sp>
        <p:nvSpPr>
          <p:cNvPr id="6" name="Rectangle 5">
            <a:extLst>
              <a:ext uri="{FF2B5EF4-FFF2-40B4-BE49-F238E27FC236}">
                <a16:creationId xmlns:a16="http://schemas.microsoft.com/office/drawing/2014/main" id="{49A041C5-C886-7A81-7364-30C04F304A8A}"/>
              </a:ext>
            </a:extLst>
          </p:cNvPr>
          <p:cNvSpPr/>
          <p:nvPr/>
        </p:nvSpPr>
        <p:spPr>
          <a:xfrm>
            <a:off x="24384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DECK</a:t>
            </a:r>
            <a:endParaRPr lang="en-US" sz="1100" dirty="0"/>
          </a:p>
        </p:txBody>
      </p:sp>
      <p:sp>
        <p:nvSpPr>
          <p:cNvPr id="7" name="Rectangle 6">
            <a:extLst>
              <a:ext uri="{FF2B5EF4-FFF2-40B4-BE49-F238E27FC236}">
                <a16:creationId xmlns:a16="http://schemas.microsoft.com/office/drawing/2014/main" id="{A1FBD426-E2DA-67C4-7CFD-3C7E67EB5A55}"/>
              </a:ext>
            </a:extLst>
          </p:cNvPr>
          <p:cNvSpPr/>
          <p:nvPr/>
        </p:nvSpPr>
        <p:spPr>
          <a:xfrm>
            <a:off x="4876800" y="-1"/>
            <a:ext cx="2438400" cy="29198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PAGE</a:t>
            </a:r>
            <a:endParaRPr lang="en-US" sz="1100" dirty="0"/>
          </a:p>
        </p:txBody>
      </p:sp>
      <p:sp>
        <p:nvSpPr>
          <p:cNvPr id="8" name="Rectangle 7">
            <a:extLst>
              <a:ext uri="{FF2B5EF4-FFF2-40B4-BE49-F238E27FC236}">
                <a16:creationId xmlns:a16="http://schemas.microsoft.com/office/drawing/2014/main" id="{F5C26871-54E2-8C6D-0FBE-5CD88D078D99}"/>
              </a:ext>
            </a:extLst>
          </p:cNvPr>
          <p:cNvSpPr/>
          <p:nvPr/>
        </p:nvSpPr>
        <p:spPr>
          <a:xfrm>
            <a:off x="73152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AI WORKFLOW</a:t>
            </a:r>
            <a:endParaRPr lang="en-US" sz="1100" dirty="0"/>
          </a:p>
        </p:txBody>
      </p:sp>
      <p:sp>
        <p:nvSpPr>
          <p:cNvPr id="33" name="Rectangle 33"/>
          <p:cNvSpPr/>
          <p:nvPr/>
        </p:nvSpPr>
        <p:spPr>
          <a:xfrm>
            <a:off x="97536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QUALITY &amp; DATA</a:t>
            </a:r>
            <a:endParaRPr lang="en-US" sz="1100" dirty="0"/>
          </a:p>
        </p:txBody>
      </p:sp>
      <p:sp>
        <p:nvSpPr>
          <p:cNvPr id="9" name="Title 1">
            <a:extLst>
              <a:ext uri="{FF2B5EF4-FFF2-40B4-BE49-F238E27FC236}">
                <a16:creationId xmlns:a16="http://schemas.microsoft.com/office/drawing/2014/main" id="{43874297-C14F-EEC7-49E0-6E52E992F9CD}"/>
              </a:ext>
            </a:extLst>
          </p:cNvPr>
          <p:cNvSpPr txBox="1">
            <a:spLocks/>
          </p:cNvSpPr>
          <p:nvPr/>
        </p:nvSpPr>
        <p:spPr>
          <a:xfrm>
            <a:off x="4872632" y="1604140"/>
            <a:ext cx="2077627"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t>Framework</a:t>
            </a:r>
          </a:p>
        </p:txBody>
      </p:sp>
      <p:sp>
        <p:nvSpPr>
          <p:cNvPr id="13" name="Title 1">
            <a:extLst>
              <a:ext uri="{FF2B5EF4-FFF2-40B4-BE49-F238E27FC236}">
                <a16:creationId xmlns:a16="http://schemas.microsoft.com/office/drawing/2014/main" id="{1D8C7D86-BAFA-E709-0DE2-247238706C10}"/>
              </a:ext>
            </a:extLst>
          </p:cNvPr>
          <p:cNvSpPr txBox="1">
            <a:spLocks/>
          </p:cNvSpPr>
          <p:nvPr/>
        </p:nvSpPr>
        <p:spPr>
          <a:xfrm>
            <a:off x="8732588" y="1604140"/>
            <a:ext cx="2654991"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t>Context &amp; Objectives</a:t>
            </a:r>
          </a:p>
        </p:txBody>
      </p:sp>
      <p:sp>
        <p:nvSpPr>
          <p:cNvPr id="14" name="Title 1">
            <a:extLst>
              <a:ext uri="{FF2B5EF4-FFF2-40B4-BE49-F238E27FC236}">
                <a16:creationId xmlns:a16="http://schemas.microsoft.com/office/drawing/2014/main" id="{EEAEACFB-AC93-EBE6-97CB-7E8B22BB6AAC}"/>
              </a:ext>
            </a:extLst>
          </p:cNvPr>
          <p:cNvSpPr txBox="1">
            <a:spLocks/>
          </p:cNvSpPr>
          <p:nvPr/>
        </p:nvSpPr>
        <p:spPr>
          <a:xfrm>
            <a:off x="1008206" y="1604140"/>
            <a:ext cx="1772828" cy="28769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t>Summary</a:t>
            </a:r>
          </a:p>
        </p:txBody>
      </p:sp>
      <p:sp>
        <p:nvSpPr>
          <p:cNvPr id="3" name="Title 1">
            <a:extLst>
              <a:ext uri="{FF2B5EF4-FFF2-40B4-BE49-F238E27FC236}">
                <a16:creationId xmlns:a16="http://schemas.microsoft.com/office/drawing/2014/main" id="{3F6B66EF-732A-3299-074C-7EEB5FD57FA3}"/>
              </a:ext>
            </a:extLst>
          </p:cNvPr>
          <p:cNvSpPr txBox="1">
            <a:spLocks/>
          </p:cNvSpPr>
          <p:nvPr/>
        </p:nvSpPr>
        <p:spPr>
          <a:xfrm>
            <a:off x="4883834" y="3932985"/>
            <a:ext cx="2152072"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t>Methodology</a:t>
            </a:r>
          </a:p>
        </p:txBody>
      </p:sp>
      <p:sp>
        <p:nvSpPr>
          <p:cNvPr id="4" name="Title 1">
            <a:extLst>
              <a:ext uri="{FF2B5EF4-FFF2-40B4-BE49-F238E27FC236}">
                <a16:creationId xmlns:a16="http://schemas.microsoft.com/office/drawing/2014/main" id="{DB7B461E-DB06-DD87-3250-968FEFE3F911}"/>
              </a:ext>
            </a:extLst>
          </p:cNvPr>
          <p:cNvSpPr txBox="1">
            <a:spLocks/>
          </p:cNvSpPr>
          <p:nvPr/>
        </p:nvSpPr>
        <p:spPr>
          <a:xfrm>
            <a:off x="8732589" y="3932985"/>
            <a:ext cx="2152072"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t>Next steps</a:t>
            </a:r>
          </a:p>
        </p:txBody>
      </p:sp>
      <p:sp>
        <p:nvSpPr>
          <p:cNvPr id="10" name="Title 1">
            <a:extLst>
              <a:ext uri="{FF2B5EF4-FFF2-40B4-BE49-F238E27FC236}">
                <a16:creationId xmlns:a16="http://schemas.microsoft.com/office/drawing/2014/main" id="{6B3BCAFD-5CA8-3543-D0C6-06CA7EA8C8CD}"/>
              </a:ext>
            </a:extLst>
          </p:cNvPr>
          <p:cNvSpPr txBox="1">
            <a:spLocks/>
          </p:cNvSpPr>
          <p:nvPr/>
        </p:nvSpPr>
        <p:spPr>
          <a:xfrm>
            <a:off x="1026962" y="3932985"/>
            <a:ext cx="2765559"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t>Open discussion</a:t>
            </a:r>
          </a:p>
        </p:txBody>
      </p:sp>
      <p:sp>
        <p:nvSpPr>
          <p:cNvPr id="15" name="Oval 14">
            <a:extLst>
              <a:ext uri="{FF2B5EF4-FFF2-40B4-BE49-F238E27FC236}">
                <a16:creationId xmlns:a16="http://schemas.microsoft.com/office/drawing/2014/main" id="{0B6E7CA9-AF7F-D98C-7E42-74B4CDB8BA9C}"/>
              </a:ext>
            </a:extLst>
          </p:cNvPr>
          <p:cNvSpPr/>
          <p:nvPr/>
        </p:nvSpPr>
        <p:spPr>
          <a:xfrm>
            <a:off x="614285" y="1566885"/>
            <a:ext cx="324945" cy="324945"/>
          </a:xfrm>
          <a:prstGeom prst="ellipse">
            <a:avLst/>
          </a:prstGeom>
          <a:solidFill>
            <a:srgbClr val="005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A</a:t>
            </a:r>
            <a:endParaRPr lang="en-US" sz="1600" dirty="0" err="1"/>
          </a:p>
        </p:txBody>
      </p:sp>
      <p:sp>
        <p:nvSpPr>
          <p:cNvPr id="16" name="Oval 15">
            <a:extLst>
              <a:ext uri="{FF2B5EF4-FFF2-40B4-BE49-F238E27FC236}">
                <a16:creationId xmlns:a16="http://schemas.microsoft.com/office/drawing/2014/main" id="{C9DE295C-93D4-1950-5BCA-E2227550B9F5}"/>
              </a:ext>
            </a:extLst>
          </p:cNvPr>
          <p:cNvSpPr/>
          <p:nvPr/>
        </p:nvSpPr>
        <p:spPr>
          <a:xfrm>
            <a:off x="4467474" y="1585512"/>
            <a:ext cx="324945" cy="324945"/>
          </a:xfrm>
          <a:prstGeom prst="ellipse">
            <a:avLst/>
          </a:prstGeom>
          <a:solidFill>
            <a:srgbClr val="005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B</a:t>
            </a:r>
            <a:endParaRPr lang="en-US" sz="1600" dirty="0" err="1"/>
          </a:p>
        </p:txBody>
      </p:sp>
      <p:sp>
        <p:nvSpPr>
          <p:cNvPr id="17" name="Oval 16">
            <a:extLst>
              <a:ext uri="{FF2B5EF4-FFF2-40B4-BE49-F238E27FC236}">
                <a16:creationId xmlns:a16="http://schemas.microsoft.com/office/drawing/2014/main" id="{FC69805B-4B7A-BC88-6A20-D347D2202160}"/>
              </a:ext>
            </a:extLst>
          </p:cNvPr>
          <p:cNvSpPr/>
          <p:nvPr/>
        </p:nvSpPr>
        <p:spPr>
          <a:xfrm>
            <a:off x="8316227" y="1566884"/>
            <a:ext cx="324945" cy="324945"/>
          </a:xfrm>
          <a:prstGeom prst="ellipse">
            <a:avLst/>
          </a:prstGeom>
          <a:solidFill>
            <a:srgbClr val="005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C</a:t>
            </a:r>
            <a:endParaRPr lang="en-US" sz="1600" dirty="0" err="1"/>
          </a:p>
        </p:txBody>
      </p:sp>
      <p:sp>
        <p:nvSpPr>
          <p:cNvPr id="18" name="Oval 17">
            <a:extLst>
              <a:ext uri="{FF2B5EF4-FFF2-40B4-BE49-F238E27FC236}">
                <a16:creationId xmlns:a16="http://schemas.microsoft.com/office/drawing/2014/main" id="{112C4CA3-DBC5-C464-F617-1E1C2147B714}"/>
              </a:ext>
            </a:extLst>
          </p:cNvPr>
          <p:cNvSpPr/>
          <p:nvPr/>
        </p:nvSpPr>
        <p:spPr>
          <a:xfrm>
            <a:off x="614284" y="3891125"/>
            <a:ext cx="324945" cy="324945"/>
          </a:xfrm>
          <a:prstGeom prst="ellipse">
            <a:avLst/>
          </a:prstGeom>
          <a:solidFill>
            <a:srgbClr val="005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D</a:t>
            </a:r>
            <a:endParaRPr lang="en-US" sz="1600" dirty="0" err="1"/>
          </a:p>
        </p:txBody>
      </p:sp>
      <p:sp>
        <p:nvSpPr>
          <p:cNvPr id="19" name="Oval 18">
            <a:extLst>
              <a:ext uri="{FF2B5EF4-FFF2-40B4-BE49-F238E27FC236}">
                <a16:creationId xmlns:a16="http://schemas.microsoft.com/office/drawing/2014/main" id="{E421979A-7DDF-1F3E-79E6-6EB43E442D5A}"/>
              </a:ext>
            </a:extLst>
          </p:cNvPr>
          <p:cNvSpPr/>
          <p:nvPr/>
        </p:nvSpPr>
        <p:spPr>
          <a:xfrm>
            <a:off x="4467473" y="3890587"/>
            <a:ext cx="324945" cy="324945"/>
          </a:xfrm>
          <a:prstGeom prst="ellipse">
            <a:avLst/>
          </a:prstGeom>
          <a:solidFill>
            <a:srgbClr val="005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E</a:t>
            </a:r>
            <a:endParaRPr lang="en-US" sz="1600" dirty="0" err="1"/>
          </a:p>
        </p:txBody>
      </p:sp>
      <p:sp>
        <p:nvSpPr>
          <p:cNvPr id="20" name="Oval 19">
            <a:extLst>
              <a:ext uri="{FF2B5EF4-FFF2-40B4-BE49-F238E27FC236}">
                <a16:creationId xmlns:a16="http://schemas.microsoft.com/office/drawing/2014/main" id="{05FC96C6-D378-E313-14DA-4FF6CC3A3325}"/>
              </a:ext>
            </a:extLst>
          </p:cNvPr>
          <p:cNvSpPr/>
          <p:nvPr/>
        </p:nvSpPr>
        <p:spPr>
          <a:xfrm>
            <a:off x="8316228" y="3890587"/>
            <a:ext cx="324945" cy="324945"/>
          </a:xfrm>
          <a:prstGeom prst="ellipse">
            <a:avLst/>
          </a:prstGeom>
          <a:solidFill>
            <a:srgbClr val="005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F</a:t>
            </a:r>
            <a:endParaRPr lang="en-US" sz="1600" dirty="0" err="1"/>
          </a:p>
        </p:txBody>
      </p:sp>
      <p:sp>
        <p:nvSpPr>
          <p:cNvPr id="21" name="Title 1">
            <a:extLst>
              <a:ext uri="{FF2B5EF4-FFF2-40B4-BE49-F238E27FC236}">
                <a16:creationId xmlns:a16="http://schemas.microsoft.com/office/drawing/2014/main" id="{C59E703A-BF8C-520F-5F57-F234A73F1119}"/>
              </a:ext>
            </a:extLst>
          </p:cNvPr>
          <p:cNvSpPr txBox="1">
            <a:spLocks/>
          </p:cNvSpPr>
          <p:nvPr/>
        </p:nvSpPr>
        <p:spPr>
          <a:xfrm>
            <a:off x="717208" y="2274110"/>
            <a:ext cx="2591600" cy="527204"/>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a:t>Executive page that functions as a one-pager</a:t>
            </a:r>
          </a:p>
        </p:txBody>
      </p:sp>
      <p:sp>
        <p:nvSpPr>
          <p:cNvPr id="23" name="Title 1">
            <a:extLst>
              <a:ext uri="{FF2B5EF4-FFF2-40B4-BE49-F238E27FC236}">
                <a16:creationId xmlns:a16="http://schemas.microsoft.com/office/drawing/2014/main" id="{C271965C-5762-6976-4181-612A48ADC4B6}"/>
              </a:ext>
            </a:extLst>
          </p:cNvPr>
          <p:cNvSpPr txBox="1">
            <a:spLocks/>
          </p:cNvSpPr>
          <p:nvPr/>
        </p:nvSpPr>
        <p:spPr>
          <a:xfrm>
            <a:off x="4549732" y="2274109"/>
            <a:ext cx="3114259" cy="856387"/>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a:t>Intro page if the research or project is based on a strategic framework (e.g., build/partner/buy, buyer’s journey, 2X2 matrix…) </a:t>
            </a:r>
          </a:p>
        </p:txBody>
      </p:sp>
      <p:sp>
        <p:nvSpPr>
          <p:cNvPr id="28" name="Title 1">
            <a:extLst>
              <a:ext uri="{FF2B5EF4-FFF2-40B4-BE49-F238E27FC236}">
                <a16:creationId xmlns:a16="http://schemas.microsoft.com/office/drawing/2014/main" id="{AFC71773-E703-9E33-4933-D603DF3E6622}"/>
              </a:ext>
            </a:extLst>
          </p:cNvPr>
          <p:cNvSpPr txBox="1">
            <a:spLocks/>
          </p:cNvSpPr>
          <p:nvPr/>
        </p:nvSpPr>
        <p:spPr>
          <a:xfrm>
            <a:off x="888853" y="6062789"/>
            <a:ext cx="7442077" cy="211224"/>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200"/>
              <a:t>Client proposal decks may include pages such as “About us” “Meet the team” “Our previous work”</a:t>
            </a:r>
          </a:p>
        </p:txBody>
      </p:sp>
      <p:sp>
        <p:nvSpPr>
          <p:cNvPr id="29" name="Title 1">
            <a:extLst>
              <a:ext uri="{FF2B5EF4-FFF2-40B4-BE49-F238E27FC236}">
                <a16:creationId xmlns:a16="http://schemas.microsoft.com/office/drawing/2014/main" id="{588AB35D-02F1-F26E-6B10-A91BC07DEF9A}"/>
              </a:ext>
            </a:extLst>
          </p:cNvPr>
          <p:cNvSpPr txBox="1">
            <a:spLocks/>
          </p:cNvSpPr>
          <p:nvPr/>
        </p:nvSpPr>
        <p:spPr>
          <a:xfrm>
            <a:off x="8365229" y="2274109"/>
            <a:ext cx="3114259" cy="856387"/>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a:t>Intro page laying out why this work is needed and what the client can gain from doing this</a:t>
            </a:r>
          </a:p>
        </p:txBody>
      </p:sp>
      <p:sp>
        <p:nvSpPr>
          <p:cNvPr id="30" name="Title 1">
            <a:extLst>
              <a:ext uri="{FF2B5EF4-FFF2-40B4-BE49-F238E27FC236}">
                <a16:creationId xmlns:a16="http://schemas.microsoft.com/office/drawing/2014/main" id="{7A166B11-402E-B853-8294-1D87AEABE5EC}"/>
              </a:ext>
            </a:extLst>
          </p:cNvPr>
          <p:cNvSpPr txBox="1">
            <a:spLocks/>
          </p:cNvSpPr>
          <p:nvPr/>
        </p:nvSpPr>
        <p:spPr>
          <a:xfrm>
            <a:off x="717207" y="4606185"/>
            <a:ext cx="3075313" cy="83107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a:t>Open-ended, lightweight page designed to guide the client towards a decision</a:t>
            </a:r>
          </a:p>
        </p:txBody>
      </p:sp>
      <p:sp>
        <p:nvSpPr>
          <p:cNvPr id="31" name="Title 1">
            <a:extLst>
              <a:ext uri="{FF2B5EF4-FFF2-40B4-BE49-F238E27FC236}">
                <a16:creationId xmlns:a16="http://schemas.microsoft.com/office/drawing/2014/main" id="{5194F70D-E378-892D-1D2B-0E019A4B1E80}"/>
              </a:ext>
            </a:extLst>
          </p:cNvPr>
          <p:cNvSpPr txBox="1">
            <a:spLocks/>
          </p:cNvSpPr>
          <p:nvPr/>
        </p:nvSpPr>
        <p:spPr>
          <a:xfrm>
            <a:off x="4629945" y="4606185"/>
            <a:ext cx="3075313" cy="83107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a:t>Page containing sources used, experts interviewed, organizations represented, etc.</a:t>
            </a:r>
          </a:p>
        </p:txBody>
      </p:sp>
      <p:sp>
        <p:nvSpPr>
          <p:cNvPr id="32" name="Title 1">
            <a:extLst>
              <a:ext uri="{FF2B5EF4-FFF2-40B4-BE49-F238E27FC236}">
                <a16:creationId xmlns:a16="http://schemas.microsoft.com/office/drawing/2014/main" id="{0D503D6A-B7BB-EDBF-0471-5F1CF81B6D3D}"/>
              </a:ext>
            </a:extLst>
          </p:cNvPr>
          <p:cNvSpPr txBox="1">
            <a:spLocks/>
          </p:cNvSpPr>
          <p:nvPr/>
        </p:nvSpPr>
        <p:spPr>
          <a:xfrm>
            <a:off x="8365230" y="4606185"/>
            <a:ext cx="3022350" cy="83107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a:t>Lightweight page at the end to list follow-up action or additional recommended work</a:t>
            </a:r>
          </a:p>
        </p:txBody>
      </p:sp>
      <p:pic>
        <p:nvPicPr>
          <p:cNvPr id="35" name="Graphic 34" descr="Postit Notes outline">
            <a:extLst>
              <a:ext uri="{FF2B5EF4-FFF2-40B4-BE49-F238E27FC236}">
                <a16:creationId xmlns:a16="http://schemas.microsoft.com/office/drawing/2014/main" id="{37283813-0499-B18E-30BF-AA31DBAE7EE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11971" y="5959904"/>
            <a:ext cx="324945" cy="324945"/>
          </a:xfrm>
          <a:prstGeom prst="rect">
            <a:avLst/>
          </a:prstGeom>
        </p:spPr>
      </p:pic>
    </p:spTree>
    <p:extLst>
      <p:ext uri="{BB962C8B-B14F-4D97-AF65-F5344CB8AC3E}">
        <p14:creationId xmlns:p14="http://schemas.microsoft.com/office/powerpoint/2010/main" val="16715628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04F09-7B05-A93A-8AB6-193E5C6F5BA1}"/>
            </a:ext>
          </a:extLst>
        </p:cNvPr>
        <p:cNvGrpSpPr/>
        <p:nvPr/>
      </p:nvGrpSpPr>
      <p:grpSpPr>
        <a:xfrm>
          <a:off x="0" y="0"/>
          <a:ext cx="0" cy="0"/>
          <a:chOff x="0" y="0"/>
          <a:chExt cx="0" cy="0"/>
        </a:xfrm>
      </p:grpSpPr>
      <p:graphicFrame>
        <p:nvGraphicFramePr>
          <p:cNvPr id="36" name="think-cell data - do not delete" hidden="1">
            <a:extLst>
              <a:ext uri="{FF2B5EF4-FFF2-40B4-BE49-F238E27FC236}">
                <a16:creationId xmlns:a16="http://schemas.microsoft.com/office/drawing/2014/main" id="{7E914CF3-9B95-589C-15D3-E9AB4928EA64}"/>
              </a:ext>
            </a:extLst>
          </p:cNvPr>
          <p:cNvGraphicFramePr>
            <a:graphicFrameLocks/>
          </p:cNvGraphicFramePr>
          <p:nvPr>
            <p:custDataLst>
              <p:tags r:id="rId1"/>
            </p:custDataLst>
            <p:extLst>
              <p:ext uri="{D42A27DB-BD31-4B8C-83A1-F6EECF244321}">
                <p14:modId xmlns:p14="http://schemas.microsoft.com/office/powerpoint/2010/main" val="19504412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7" imgH="348" progId="TCLayout.ActiveDocument.1">
                  <p:embed/>
                </p:oleObj>
              </mc:Choice>
              <mc:Fallback>
                <p:oleObj name="thinkcell Slide" r:id="rId5" imgW="347" imgH="348"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graphicFrame>
        <p:nvGraphicFramePr>
          <p:cNvPr id="35" name="think-cell data - do not delete" hidden="1">
            <a:extLst>
              <a:ext uri="{FF2B5EF4-FFF2-40B4-BE49-F238E27FC236}">
                <a16:creationId xmlns:a16="http://schemas.microsoft.com/office/drawing/2014/main" id="{17BA4769-AC4F-9C36-1857-A908AEB64A18}"/>
              </a:ext>
            </a:extLst>
          </p:cNvPr>
          <p:cNvGraphicFramePr>
            <a:graphicFrameLocks noChangeAspect="1"/>
          </p:cNvGraphicFramePr>
          <p:nvPr>
            <p:custDataLst>
              <p:tags r:id="rId2"/>
            </p:custDataLst>
            <p:extLst>
              <p:ext uri="{D42A27DB-BD31-4B8C-83A1-F6EECF244321}">
                <p14:modId xmlns:p14="http://schemas.microsoft.com/office/powerpoint/2010/main" val="12323458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47" imgH="348" progId="TCLayout.ActiveDocument.1">
                  <p:embed/>
                </p:oleObj>
              </mc:Choice>
              <mc:Fallback>
                <p:oleObj name="think-cell Slide" r:id="rId7" imgW="347" imgH="348"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graphicFrame>
        <p:nvGraphicFramePr>
          <p:cNvPr id="34" name="think-cell data - do not delete" hidden="1">
            <a:extLst>
              <a:ext uri="{FF2B5EF4-FFF2-40B4-BE49-F238E27FC236}">
                <a16:creationId xmlns:a16="http://schemas.microsoft.com/office/drawing/2014/main" id="{D60D91A5-061B-6218-1133-B197F8CC459C}"/>
              </a:ext>
            </a:extLst>
          </p:cNvPr>
          <p:cNvGraphicFramePr>
            <a:graphicFrameLocks noChangeAspect="1"/>
          </p:cNvGraphicFramePr>
          <p:nvPr>
            <p:custDataLst>
              <p:tags r:id="rId3"/>
            </p:custDataLst>
            <p:extLst>
              <p:ext uri="{D42A27DB-BD31-4B8C-83A1-F6EECF244321}">
                <p14:modId xmlns:p14="http://schemas.microsoft.com/office/powerpoint/2010/main" val="14021435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47" imgH="348" progId="TCLayout.ActiveDocument.1">
                  <p:embed/>
                </p:oleObj>
              </mc:Choice>
              <mc:Fallback>
                <p:oleObj name="think-cell Slide" r:id="rId8" imgW="347" imgH="348"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grpSp>
        <p:nvGrpSpPr>
          <p:cNvPr id="15" name="Group 14">
            <a:extLst>
              <a:ext uri="{FF2B5EF4-FFF2-40B4-BE49-F238E27FC236}">
                <a16:creationId xmlns:a16="http://schemas.microsoft.com/office/drawing/2014/main" id="{D0718DDE-E6CC-B50B-9E58-D48FD5703E06}"/>
              </a:ext>
            </a:extLst>
          </p:cNvPr>
          <p:cNvGrpSpPr/>
          <p:nvPr/>
        </p:nvGrpSpPr>
        <p:grpSpPr>
          <a:xfrm>
            <a:off x="5739481" y="5174444"/>
            <a:ext cx="5529714" cy="824595"/>
            <a:chOff x="743902" y="5218027"/>
            <a:chExt cx="9757843" cy="974953"/>
          </a:xfrm>
        </p:grpSpPr>
        <p:sp>
          <p:nvSpPr>
            <p:cNvPr id="17" name="Rectangle 16">
              <a:extLst>
                <a:ext uri="{FF2B5EF4-FFF2-40B4-BE49-F238E27FC236}">
                  <a16:creationId xmlns:a16="http://schemas.microsoft.com/office/drawing/2014/main" id="{2E06C59F-ABFD-838A-61F9-C26486D73964}"/>
                </a:ext>
              </a:extLst>
            </p:cNvPr>
            <p:cNvSpPr/>
            <p:nvPr/>
          </p:nvSpPr>
          <p:spPr>
            <a:xfrm>
              <a:off x="783628" y="5218027"/>
              <a:ext cx="9718117" cy="9749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p>
          </p:txBody>
        </p:sp>
        <p:sp>
          <p:nvSpPr>
            <p:cNvPr id="19" name="Rectangle 18">
              <a:extLst>
                <a:ext uri="{FF2B5EF4-FFF2-40B4-BE49-F238E27FC236}">
                  <a16:creationId xmlns:a16="http://schemas.microsoft.com/office/drawing/2014/main" id="{97F51176-6117-D7BB-F2EC-6A737B2A3195}"/>
                </a:ext>
              </a:extLst>
            </p:cNvPr>
            <p:cNvSpPr/>
            <p:nvPr/>
          </p:nvSpPr>
          <p:spPr>
            <a:xfrm>
              <a:off x="743902" y="5218027"/>
              <a:ext cx="79451" cy="97495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p>
          </p:txBody>
        </p:sp>
      </p:grpSp>
      <p:sp>
        <p:nvSpPr>
          <p:cNvPr id="2" name="Title 1">
            <a:extLst>
              <a:ext uri="{FF2B5EF4-FFF2-40B4-BE49-F238E27FC236}">
                <a16:creationId xmlns:a16="http://schemas.microsoft.com/office/drawing/2014/main" id="{8668A638-3F90-CAFB-D388-DB53D8EE9E6A}"/>
              </a:ext>
            </a:extLst>
          </p:cNvPr>
          <p:cNvSpPr>
            <a:spLocks noGrp="1"/>
          </p:cNvSpPr>
          <p:nvPr>
            <p:ph type="title"/>
          </p:nvPr>
        </p:nvSpPr>
        <p:spPr>
          <a:xfrm>
            <a:off x="558800" y="635000"/>
            <a:ext cx="11087100" cy="838200"/>
          </a:xfrm>
        </p:spPr>
        <p:txBody>
          <a:bodyPr vert="horz" rIns="0" anchor="t" anchorCtr="0"/>
          <a:lstStyle/>
          <a:p>
            <a:r>
              <a:rPr lang="en-US"/>
              <a:t>The action title is the most important takeaway of the slide and should inform a busy reader in seconds</a:t>
            </a:r>
          </a:p>
        </p:txBody>
      </p:sp>
      <p:sp>
        <p:nvSpPr>
          <p:cNvPr id="5" name="Rectangle 4">
            <a:extLst>
              <a:ext uri="{FF2B5EF4-FFF2-40B4-BE49-F238E27FC236}">
                <a16:creationId xmlns:a16="http://schemas.microsoft.com/office/drawing/2014/main" id="{BF7A8FBD-5DD7-513D-9D11-D33D426D11B5}"/>
              </a:ext>
            </a:extLst>
          </p:cNvPr>
          <p:cNvSpPr/>
          <p:nvPr/>
        </p:nvSpPr>
        <p:spPr>
          <a:xfrm>
            <a:off x="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THINK</a:t>
            </a:r>
            <a:endParaRPr lang="en-US" sz="1100" dirty="0"/>
          </a:p>
        </p:txBody>
      </p:sp>
      <p:sp>
        <p:nvSpPr>
          <p:cNvPr id="8" name="Rectangle 7">
            <a:extLst>
              <a:ext uri="{FF2B5EF4-FFF2-40B4-BE49-F238E27FC236}">
                <a16:creationId xmlns:a16="http://schemas.microsoft.com/office/drawing/2014/main" id="{44D0233D-844E-BD07-7026-37CFD6C7B553}"/>
              </a:ext>
            </a:extLst>
          </p:cNvPr>
          <p:cNvSpPr/>
          <p:nvPr/>
        </p:nvSpPr>
        <p:spPr>
          <a:xfrm>
            <a:off x="73152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AI WORKFLOW</a:t>
            </a:r>
            <a:endParaRPr lang="en-US" sz="1100" dirty="0"/>
          </a:p>
        </p:txBody>
      </p:sp>
      <p:sp>
        <p:nvSpPr>
          <p:cNvPr id="74" name="Rectangle 74"/>
          <p:cNvSpPr/>
          <p:nvPr/>
        </p:nvSpPr>
        <p:spPr>
          <a:xfrm>
            <a:off x="97536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QUALITY &amp; DATA</a:t>
            </a:r>
            <a:endParaRPr lang="en-US" sz="1100" dirty="0"/>
          </a:p>
        </p:txBody>
      </p:sp>
      <p:sp>
        <p:nvSpPr>
          <p:cNvPr id="11" name="Title 1">
            <a:extLst>
              <a:ext uri="{FF2B5EF4-FFF2-40B4-BE49-F238E27FC236}">
                <a16:creationId xmlns:a16="http://schemas.microsoft.com/office/drawing/2014/main" id="{8F690570-0C13-2D0B-4A33-0AFA1823DC83}"/>
              </a:ext>
            </a:extLst>
          </p:cNvPr>
          <p:cNvSpPr txBox="1">
            <a:spLocks/>
          </p:cNvSpPr>
          <p:nvPr/>
        </p:nvSpPr>
        <p:spPr>
          <a:xfrm>
            <a:off x="6326232" y="5388393"/>
            <a:ext cx="4735537"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400"/>
              <a:t>Leaders lean on AI tools to </a:t>
            </a:r>
            <a:r>
              <a:rPr lang="en-US" sz="1400" b="1">
                <a:solidFill>
                  <a:srgbClr val="009999"/>
                </a:solidFill>
              </a:rPr>
              <a:t>trim excess spending </a:t>
            </a:r>
            <a:r>
              <a:rPr lang="en-US" sz="1400"/>
              <a:t>and </a:t>
            </a:r>
            <a:r>
              <a:rPr lang="en-US" sz="1400" b="1">
                <a:solidFill>
                  <a:srgbClr val="009999"/>
                </a:solidFill>
              </a:rPr>
              <a:t>eliminate process inefficiencies </a:t>
            </a:r>
            <a:r>
              <a:rPr lang="en-US" sz="1400"/>
              <a:t>before piloting elsewhere</a:t>
            </a:r>
          </a:p>
        </p:txBody>
      </p:sp>
      <p:sp>
        <p:nvSpPr>
          <p:cNvPr id="18" name="Rectangle 17">
            <a:extLst>
              <a:ext uri="{FF2B5EF4-FFF2-40B4-BE49-F238E27FC236}">
                <a16:creationId xmlns:a16="http://schemas.microsoft.com/office/drawing/2014/main" id="{418B3155-3650-9E53-71F2-B8A29DE60C48}"/>
              </a:ext>
            </a:extLst>
          </p:cNvPr>
          <p:cNvSpPr/>
          <p:nvPr/>
        </p:nvSpPr>
        <p:spPr>
          <a:xfrm>
            <a:off x="24384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DECK</a:t>
            </a:r>
            <a:endParaRPr lang="en-US" sz="1100" dirty="0"/>
          </a:p>
        </p:txBody>
      </p:sp>
      <p:sp>
        <p:nvSpPr>
          <p:cNvPr id="20" name="Rectangle 19">
            <a:extLst>
              <a:ext uri="{FF2B5EF4-FFF2-40B4-BE49-F238E27FC236}">
                <a16:creationId xmlns:a16="http://schemas.microsoft.com/office/drawing/2014/main" id="{F9F9AF2E-BF48-DEBE-67E4-B8D997EAA611}"/>
              </a:ext>
            </a:extLst>
          </p:cNvPr>
          <p:cNvSpPr/>
          <p:nvPr/>
        </p:nvSpPr>
        <p:spPr>
          <a:xfrm>
            <a:off x="4876800" y="-1"/>
            <a:ext cx="2438400" cy="29198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PAGE</a:t>
            </a:r>
            <a:endParaRPr lang="en-US" sz="1100" dirty="0"/>
          </a:p>
        </p:txBody>
      </p:sp>
      <p:cxnSp>
        <p:nvCxnSpPr>
          <p:cNvPr id="4" name="Straight Arrow Connector 3">
            <a:extLst>
              <a:ext uri="{FF2B5EF4-FFF2-40B4-BE49-F238E27FC236}">
                <a16:creationId xmlns:a16="http://schemas.microsoft.com/office/drawing/2014/main" id="{E1B31C5A-599A-3DD7-BE17-57E553C5990A}"/>
              </a:ext>
            </a:extLst>
          </p:cNvPr>
          <p:cNvCxnSpPr>
            <a:cxnSpLocks/>
          </p:cNvCxnSpPr>
          <p:nvPr/>
        </p:nvCxnSpPr>
        <p:spPr>
          <a:xfrm>
            <a:off x="5532088" y="2073897"/>
            <a:ext cx="5667630" cy="0"/>
          </a:xfrm>
          <a:prstGeom prst="straightConnector1">
            <a:avLst/>
          </a:prstGeom>
          <a:ln w="9525">
            <a:solidFill>
              <a:schemeClr val="accent5"/>
            </a:solidFill>
            <a:tailEnd type="triangle"/>
          </a:ln>
        </p:spPr>
        <p:style>
          <a:lnRef idx="1">
            <a:schemeClr val="dk1"/>
          </a:lnRef>
          <a:fillRef idx="0">
            <a:schemeClr val="dk1"/>
          </a:fillRef>
          <a:effectRef idx="0">
            <a:schemeClr val="dk1"/>
          </a:effectRef>
          <a:fontRef idx="minor">
            <a:schemeClr val="tx1"/>
          </a:fontRef>
        </p:style>
      </p:cxnSp>
      <p:cxnSp>
        <p:nvCxnSpPr>
          <p:cNvPr id="6" name="Straight Arrow Connector 5">
            <a:extLst>
              <a:ext uri="{FF2B5EF4-FFF2-40B4-BE49-F238E27FC236}">
                <a16:creationId xmlns:a16="http://schemas.microsoft.com/office/drawing/2014/main" id="{400C2595-55C9-755E-7BF5-56604D08C434}"/>
              </a:ext>
            </a:extLst>
          </p:cNvPr>
          <p:cNvCxnSpPr>
            <a:cxnSpLocks/>
          </p:cNvCxnSpPr>
          <p:nvPr/>
        </p:nvCxnSpPr>
        <p:spPr>
          <a:xfrm>
            <a:off x="5532088" y="2078378"/>
            <a:ext cx="0" cy="3935231"/>
          </a:xfrm>
          <a:prstGeom prst="straightConnector1">
            <a:avLst/>
          </a:prstGeom>
          <a:ln w="9525">
            <a:solidFill>
              <a:schemeClr val="accent5"/>
            </a:solidFill>
            <a:tailEnd type="triangle"/>
          </a:ln>
        </p:spPr>
        <p:style>
          <a:lnRef idx="1">
            <a:schemeClr val="dk1"/>
          </a:lnRef>
          <a:fillRef idx="0">
            <a:schemeClr val="dk1"/>
          </a:fillRef>
          <a:effectRef idx="0">
            <a:schemeClr val="dk1"/>
          </a:effectRef>
          <a:fontRef idx="minor">
            <a:schemeClr val="tx1"/>
          </a:fontRef>
        </p:style>
      </p:cxnSp>
      <p:pic>
        <p:nvPicPr>
          <p:cNvPr id="24" name="Graphic 23" descr="Person with idea outline">
            <a:extLst>
              <a:ext uri="{FF2B5EF4-FFF2-40B4-BE49-F238E27FC236}">
                <a16:creationId xmlns:a16="http://schemas.microsoft.com/office/drawing/2014/main" id="{183C3DBF-6870-2F5D-C4D9-FFD9711C007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837390" y="5343646"/>
            <a:ext cx="425261" cy="425261"/>
          </a:xfrm>
          <a:prstGeom prst="rect">
            <a:avLst/>
          </a:prstGeom>
        </p:spPr>
      </p:pic>
      <p:sp>
        <p:nvSpPr>
          <p:cNvPr id="39" name="Title 1">
            <a:extLst>
              <a:ext uri="{FF2B5EF4-FFF2-40B4-BE49-F238E27FC236}">
                <a16:creationId xmlns:a16="http://schemas.microsoft.com/office/drawing/2014/main" id="{7953313E-6F55-CF5A-291A-455217BC782A}"/>
              </a:ext>
            </a:extLst>
          </p:cNvPr>
          <p:cNvSpPr txBox="1">
            <a:spLocks/>
          </p:cNvSpPr>
          <p:nvPr/>
        </p:nvSpPr>
        <p:spPr>
          <a:xfrm>
            <a:off x="5739480" y="2231001"/>
            <a:ext cx="5460236" cy="415538"/>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800"/>
              <a:t>Companies are responding to margin pressure by investing heavily in operational AI tools</a:t>
            </a:r>
          </a:p>
        </p:txBody>
      </p:sp>
      <p:sp>
        <p:nvSpPr>
          <p:cNvPr id="41" name="Rectangle 40">
            <a:extLst>
              <a:ext uri="{FF2B5EF4-FFF2-40B4-BE49-F238E27FC236}">
                <a16:creationId xmlns:a16="http://schemas.microsoft.com/office/drawing/2014/main" id="{375A36E1-FA45-C721-BF18-BA892D169B1B}"/>
              </a:ext>
            </a:extLst>
          </p:cNvPr>
          <p:cNvSpPr/>
          <p:nvPr/>
        </p:nvSpPr>
        <p:spPr>
          <a:xfrm>
            <a:off x="5739480" y="3250268"/>
            <a:ext cx="2436954" cy="140455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a:p>
            <a:pPr algn="ctr"/>
            <a:endParaRPr lang="en-US" sz="1400">
              <a:solidFill>
                <a:schemeClr val="tx1"/>
              </a:solidFill>
            </a:endParaRPr>
          </a:p>
          <a:p>
            <a:pPr algn="ctr"/>
            <a:r>
              <a:rPr lang="en-US" sz="1400">
                <a:solidFill>
                  <a:schemeClr val="tx1"/>
                </a:solidFill>
              </a:rPr>
              <a:t>A. Left hand side (LHS)</a:t>
            </a:r>
          </a:p>
        </p:txBody>
      </p:sp>
      <p:sp>
        <p:nvSpPr>
          <p:cNvPr id="42" name="Rectangle 41">
            <a:extLst>
              <a:ext uri="{FF2B5EF4-FFF2-40B4-BE49-F238E27FC236}">
                <a16:creationId xmlns:a16="http://schemas.microsoft.com/office/drawing/2014/main" id="{693D2BB1-DB96-DD50-9E64-8215C442DFDB}"/>
              </a:ext>
            </a:extLst>
          </p:cNvPr>
          <p:cNvSpPr/>
          <p:nvPr/>
        </p:nvSpPr>
        <p:spPr>
          <a:xfrm>
            <a:off x="8832245" y="3250268"/>
            <a:ext cx="2436950" cy="140455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a:p>
            <a:pPr algn="ctr"/>
            <a:endParaRPr lang="en-US" sz="1400">
              <a:solidFill>
                <a:schemeClr val="tx1"/>
              </a:solidFill>
            </a:endParaRPr>
          </a:p>
          <a:p>
            <a:pPr algn="ctr"/>
            <a:r>
              <a:rPr lang="en-US" sz="1400">
                <a:solidFill>
                  <a:schemeClr val="tx1"/>
                </a:solidFill>
              </a:rPr>
              <a:t>B. Right hand side (RHS)</a:t>
            </a:r>
          </a:p>
        </p:txBody>
      </p:sp>
      <p:sp>
        <p:nvSpPr>
          <p:cNvPr id="45" name="Title 1">
            <a:extLst>
              <a:ext uri="{FF2B5EF4-FFF2-40B4-BE49-F238E27FC236}">
                <a16:creationId xmlns:a16="http://schemas.microsoft.com/office/drawing/2014/main" id="{D0EEB981-5552-BA64-BCBD-73D63157EE22}"/>
              </a:ext>
            </a:extLst>
          </p:cNvPr>
          <p:cNvSpPr txBox="1">
            <a:spLocks/>
          </p:cNvSpPr>
          <p:nvPr/>
        </p:nvSpPr>
        <p:spPr>
          <a:xfrm>
            <a:off x="5739480" y="2996731"/>
            <a:ext cx="2673775" cy="312006"/>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200" b="1">
                <a:solidFill>
                  <a:schemeClr val="accent5"/>
                </a:solidFill>
              </a:rPr>
              <a:t>Margins are shrinking…</a:t>
            </a:r>
          </a:p>
        </p:txBody>
      </p:sp>
      <p:sp>
        <p:nvSpPr>
          <p:cNvPr id="46" name="Title 1">
            <a:extLst>
              <a:ext uri="{FF2B5EF4-FFF2-40B4-BE49-F238E27FC236}">
                <a16:creationId xmlns:a16="http://schemas.microsoft.com/office/drawing/2014/main" id="{77E53E5C-053E-BD01-8453-20C69FB922AC}"/>
              </a:ext>
            </a:extLst>
          </p:cNvPr>
          <p:cNvSpPr txBox="1">
            <a:spLocks/>
          </p:cNvSpPr>
          <p:nvPr/>
        </p:nvSpPr>
        <p:spPr>
          <a:xfrm>
            <a:off x="8832245" y="2996731"/>
            <a:ext cx="2673775" cy="312006"/>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200" b="1">
                <a:solidFill>
                  <a:schemeClr val="accent5"/>
                </a:solidFill>
              </a:rPr>
              <a:t>…while AI investment has doubled</a:t>
            </a:r>
          </a:p>
        </p:txBody>
      </p:sp>
      <p:sp>
        <p:nvSpPr>
          <p:cNvPr id="47" name="Rectangle: Rounded Corners 46">
            <a:extLst>
              <a:ext uri="{FF2B5EF4-FFF2-40B4-BE49-F238E27FC236}">
                <a16:creationId xmlns:a16="http://schemas.microsoft.com/office/drawing/2014/main" id="{6136CA0A-6A53-624C-A86C-AFC83712A9D9}"/>
              </a:ext>
            </a:extLst>
          </p:cNvPr>
          <p:cNvSpPr/>
          <p:nvPr/>
        </p:nvSpPr>
        <p:spPr>
          <a:xfrm>
            <a:off x="554736" y="1870448"/>
            <a:ext cx="3924900" cy="566128"/>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rPr>
              <a:t>Logic flows left to right, top to bottom</a:t>
            </a:r>
            <a:endParaRPr lang="en-US" sz="1600" dirty="0" err="1">
              <a:solidFill>
                <a:schemeClr val="tx1"/>
              </a:solidFill>
            </a:endParaRPr>
          </a:p>
        </p:txBody>
      </p:sp>
      <p:cxnSp>
        <p:nvCxnSpPr>
          <p:cNvPr id="48" name="Straight Connector 47">
            <a:extLst>
              <a:ext uri="{FF2B5EF4-FFF2-40B4-BE49-F238E27FC236}">
                <a16:creationId xmlns:a16="http://schemas.microsoft.com/office/drawing/2014/main" id="{D0CC9525-F64B-360A-BBFE-4959DBEDE12C}"/>
              </a:ext>
            </a:extLst>
          </p:cNvPr>
          <p:cNvCxnSpPr>
            <a:cxnSpLocks/>
            <a:stCxn id="47" idx="3"/>
          </p:cNvCxnSpPr>
          <p:nvPr/>
        </p:nvCxnSpPr>
        <p:spPr>
          <a:xfrm>
            <a:off x="4479636" y="2153512"/>
            <a:ext cx="1052451" cy="0"/>
          </a:xfrm>
          <a:prstGeom prst="line">
            <a:avLst/>
          </a:prstGeom>
          <a:ln w="9525">
            <a:solidFill>
              <a:schemeClr val="bg1">
                <a:lumMod val="50000"/>
              </a:schemeClr>
            </a:solidFill>
            <a:prstDash val="dash"/>
          </a:ln>
        </p:spPr>
        <p:style>
          <a:lnRef idx="1">
            <a:schemeClr val="dk1"/>
          </a:lnRef>
          <a:fillRef idx="0">
            <a:schemeClr val="dk1"/>
          </a:fillRef>
          <a:effectRef idx="0">
            <a:schemeClr val="dk1"/>
          </a:effectRef>
          <a:fontRef idx="minor">
            <a:schemeClr val="tx1"/>
          </a:fontRef>
        </p:style>
      </p:cxnSp>
      <p:sp>
        <p:nvSpPr>
          <p:cNvPr id="54" name="Rectangle: Rounded Corners 53">
            <a:extLst>
              <a:ext uri="{FF2B5EF4-FFF2-40B4-BE49-F238E27FC236}">
                <a16:creationId xmlns:a16="http://schemas.microsoft.com/office/drawing/2014/main" id="{9BD304F4-3A39-9A77-1C2A-3EAEA8333FFA}"/>
              </a:ext>
            </a:extLst>
          </p:cNvPr>
          <p:cNvSpPr/>
          <p:nvPr/>
        </p:nvSpPr>
        <p:spPr>
          <a:xfrm>
            <a:off x="554736" y="2764706"/>
            <a:ext cx="3924900" cy="566128"/>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rPr>
              <a:t>Action title is a summary sentence</a:t>
            </a:r>
            <a:endParaRPr lang="en-US" sz="1600" dirty="0" err="1">
              <a:solidFill>
                <a:schemeClr val="tx1"/>
              </a:solidFill>
            </a:endParaRPr>
          </a:p>
        </p:txBody>
      </p:sp>
      <p:cxnSp>
        <p:nvCxnSpPr>
          <p:cNvPr id="60" name="Connector: Elbow 59">
            <a:extLst>
              <a:ext uri="{FF2B5EF4-FFF2-40B4-BE49-F238E27FC236}">
                <a16:creationId xmlns:a16="http://schemas.microsoft.com/office/drawing/2014/main" id="{F9E9EFAD-24B3-A362-5235-682B83042812}"/>
              </a:ext>
            </a:extLst>
          </p:cNvPr>
          <p:cNvCxnSpPr>
            <a:cxnSpLocks/>
            <a:stCxn id="54" idx="3"/>
          </p:cNvCxnSpPr>
          <p:nvPr/>
        </p:nvCxnSpPr>
        <p:spPr>
          <a:xfrm flipV="1">
            <a:off x="4479636" y="2445025"/>
            <a:ext cx="1052451" cy="602745"/>
          </a:xfrm>
          <a:prstGeom prst="bentConnector3">
            <a:avLst/>
          </a:prstGeom>
          <a:ln w="9525">
            <a:solidFill>
              <a:schemeClr val="bg1">
                <a:lumMod val="50000"/>
              </a:schemeClr>
            </a:solidFill>
            <a:prstDash val="dash"/>
          </a:ln>
        </p:spPr>
        <p:style>
          <a:lnRef idx="1">
            <a:schemeClr val="dk1"/>
          </a:lnRef>
          <a:fillRef idx="0">
            <a:schemeClr val="dk1"/>
          </a:fillRef>
          <a:effectRef idx="0">
            <a:schemeClr val="dk1"/>
          </a:effectRef>
          <a:fontRef idx="minor">
            <a:schemeClr val="tx1"/>
          </a:fontRef>
        </p:style>
      </p:cxnSp>
      <p:sp>
        <p:nvSpPr>
          <p:cNvPr id="64" name="Rectangle: Rounded Corners 63">
            <a:extLst>
              <a:ext uri="{FF2B5EF4-FFF2-40B4-BE49-F238E27FC236}">
                <a16:creationId xmlns:a16="http://schemas.microsoft.com/office/drawing/2014/main" id="{099D87A2-960A-4FAE-4E02-DD743C9FF69F}"/>
              </a:ext>
            </a:extLst>
          </p:cNvPr>
          <p:cNvSpPr/>
          <p:nvPr/>
        </p:nvSpPr>
        <p:spPr>
          <a:xfrm>
            <a:off x="554736" y="3658964"/>
            <a:ext cx="3924900" cy="566128"/>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rPr>
              <a:t>Two-part pages are commonly used for:  A, therefore B or A, but B</a:t>
            </a:r>
            <a:endParaRPr lang="en-US" sz="1600" dirty="0" err="1">
              <a:solidFill>
                <a:schemeClr val="tx1"/>
              </a:solidFill>
            </a:endParaRPr>
          </a:p>
        </p:txBody>
      </p:sp>
      <p:cxnSp>
        <p:nvCxnSpPr>
          <p:cNvPr id="67" name="Straight Connector 66">
            <a:extLst>
              <a:ext uri="{FF2B5EF4-FFF2-40B4-BE49-F238E27FC236}">
                <a16:creationId xmlns:a16="http://schemas.microsoft.com/office/drawing/2014/main" id="{0117CDD6-BD3A-64F5-7195-8F45E1AE2331}"/>
              </a:ext>
            </a:extLst>
          </p:cNvPr>
          <p:cNvCxnSpPr>
            <a:cxnSpLocks/>
            <a:stCxn id="64" idx="3"/>
          </p:cNvCxnSpPr>
          <p:nvPr/>
        </p:nvCxnSpPr>
        <p:spPr>
          <a:xfrm>
            <a:off x="4479636" y="3942028"/>
            <a:ext cx="1052451" cy="0"/>
          </a:xfrm>
          <a:prstGeom prst="line">
            <a:avLst/>
          </a:prstGeom>
          <a:ln w="9525">
            <a:solidFill>
              <a:schemeClr val="bg1">
                <a:lumMod val="50000"/>
              </a:schemeClr>
            </a:solidFill>
            <a:prstDash val="dash"/>
          </a:ln>
        </p:spPr>
        <p:style>
          <a:lnRef idx="1">
            <a:schemeClr val="dk1"/>
          </a:lnRef>
          <a:fillRef idx="0">
            <a:schemeClr val="dk1"/>
          </a:fillRef>
          <a:effectRef idx="0">
            <a:schemeClr val="dk1"/>
          </a:effectRef>
          <a:fontRef idx="minor">
            <a:schemeClr val="tx1"/>
          </a:fontRef>
        </p:style>
      </p:cxnSp>
      <p:sp>
        <p:nvSpPr>
          <p:cNvPr id="70" name="Rectangle: Rounded Corners 69">
            <a:extLst>
              <a:ext uri="{FF2B5EF4-FFF2-40B4-BE49-F238E27FC236}">
                <a16:creationId xmlns:a16="http://schemas.microsoft.com/office/drawing/2014/main" id="{BA58DF12-B839-5CAB-09BA-61DEF80DE6FF}"/>
              </a:ext>
            </a:extLst>
          </p:cNvPr>
          <p:cNvSpPr/>
          <p:nvPr/>
        </p:nvSpPr>
        <p:spPr>
          <a:xfrm>
            <a:off x="554736" y="5447481"/>
            <a:ext cx="3924900" cy="566128"/>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rPr>
              <a:t>Takeaways are often written in a shaded box to stand out</a:t>
            </a:r>
            <a:endParaRPr lang="en-US" sz="1600" dirty="0" err="1">
              <a:solidFill>
                <a:schemeClr val="tx1"/>
              </a:solidFill>
            </a:endParaRPr>
          </a:p>
        </p:txBody>
      </p:sp>
      <p:cxnSp>
        <p:nvCxnSpPr>
          <p:cNvPr id="73" name="Straight Connector 72">
            <a:extLst>
              <a:ext uri="{FF2B5EF4-FFF2-40B4-BE49-F238E27FC236}">
                <a16:creationId xmlns:a16="http://schemas.microsoft.com/office/drawing/2014/main" id="{500F4E4D-153D-B78B-134F-A55813DDD9EE}"/>
              </a:ext>
            </a:extLst>
          </p:cNvPr>
          <p:cNvCxnSpPr>
            <a:cxnSpLocks/>
            <a:stCxn id="70" idx="3"/>
          </p:cNvCxnSpPr>
          <p:nvPr/>
        </p:nvCxnSpPr>
        <p:spPr>
          <a:xfrm>
            <a:off x="4479636" y="5730545"/>
            <a:ext cx="1052451" cy="6714"/>
          </a:xfrm>
          <a:prstGeom prst="line">
            <a:avLst/>
          </a:prstGeom>
          <a:ln w="9525">
            <a:solidFill>
              <a:schemeClr val="bg1">
                <a:lumMod val="50000"/>
              </a:schemeClr>
            </a:solidFill>
            <a:prstDash val="dash"/>
          </a:ln>
        </p:spPr>
        <p:style>
          <a:lnRef idx="1">
            <a:schemeClr val="dk1"/>
          </a:lnRef>
          <a:fillRef idx="0">
            <a:schemeClr val="dk1"/>
          </a:fillRef>
          <a:effectRef idx="0">
            <a:schemeClr val="dk1"/>
          </a:effectRef>
          <a:fontRef idx="minor">
            <a:schemeClr val="tx1"/>
          </a:fontRef>
        </p:style>
      </p:cxnSp>
      <p:sp>
        <p:nvSpPr>
          <p:cNvPr id="3" name="Rectangle: Rounded Corners 2">
            <a:extLst>
              <a:ext uri="{FF2B5EF4-FFF2-40B4-BE49-F238E27FC236}">
                <a16:creationId xmlns:a16="http://schemas.microsoft.com/office/drawing/2014/main" id="{6E500BB5-FEF2-44BD-5AAC-DF764FD14AEC}"/>
              </a:ext>
            </a:extLst>
          </p:cNvPr>
          <p:cNvSpPr/>
          <p:nvPr/>
        </p:nvSpPr>
        <p:spPr>
          <a:xfrm>
            <a:off x="554736" y="4553222"/>
            <a:ext cx="3924900" cy="566128"/>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rPr>
              <a:t>Colored selective bolding is applied throughout to aid fast reading</a:t>
            </a:r>
            <a:endParaRPr lang="en-US" sz="1600" dirty="0" err="1">
              <a:solidFill>
                <a:schemeClr val="tx1"/>
              </a:solidFill>
            </a:endParaRPr>
          </a:p>
        </p:txBody>
      </p:sp>
      <p:cxnSp>
        <p:nvCxnSpPr>
          <p:cNvPr id="10" name="Straight Connector 9">
            <a:extLst>
              <a:ext uri="{FF2B5EF4-FFF2-40B4-BE49-F238E27FC236}">
                <a16:creationId xmlns:a16="http://schemas.microsoft.com/office/drawing/2014/main" id="{B949CB4E-FE84-DEE0-4521-D611582B1A38}"/>
              </a:ext>
            </a:extLst>
          </p:cNvPr>
          <p:cNvCxnSpPr>
            <a:cxnSpLocks/>
          </p:cNvCxnSpPr>
          <p:nvPr/>
        </p:nvCxnSpPr>
        <p:spPr>
          <a:xfrm>
            <a:off x="4479636" y="4818721"/>
            <a:ext cx="4106748" cy="0"/>
          </a:xfrm>
          <a:prstGeom prst="line">
            <a:avLst/>
          </a:prstGeom>
          <a:ln w="9525">
            <a:solidFill>
              <a:schemeClr val="bg1">
                <a:lumMod val="50000"/>
              </a:schemeClr>
            </a:solidFill>
            <a:prstDash val="dash"/>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41FED83E-D39E-D882-3D05-A05C947E9C96}"/>
              </a:ext>
            </a:extLst>
          </p:cNvPr>
          <p:cNvCxnSpPr>
            <a:cxnSpLocks/>
          </p:cNvCxnSpPr>
          <p:nvPr/>
        </p:nvCxnSpPr>
        <p:spPr>
          <a:xfrm>
            <a:off x="8586384" y="4818721"/>
            <a:ext cx="0" cy="524925"/>
          </a:xfrm>
          <a:prstGeom prst="line">
            <a:avLst/>
          </a:prstGeom>
          <a:ln w="9525">
            <a:solidFill>
              <a:schemeClr val="bg1">
                <a:lumMod val="50000"/>
              </a:schemeClr>
            </a:solidFill>
            <a:prstDash val="dash"/>
          </a:ln>
        </p:spPr>
        <p:style>
          <a:lnRef idx="1">
            <a:schemeClr val="dk1"/>
          </a:lnRef>
          <a:fillRef idx="0">
            <a:schemeClr val="dk1"/>
          </a:fillRef>
          <a:effectRef idx="0">
            <a:schemeClr val="dk1"/>
          </a:effectRef>
          <a:fontRef idx="minor">
            <a:schemeClr val="tx1"/>
          </a:fontRef>
        </p:style>
      </p:cxnSp>
      <p:sp>
        <p:nvSpPr>
          <p:cNvPr id="23" name="Title 1">
            <a:extLst>
              <a:ext uri="{FF2B5EF4-FFF2-40B4-BE49-F238E27FC236}">
                <a16:creationId xmlns:a16="http://schemas.microsoft.com/office/drawing/2014/main" id="{71012E2B-2537-34B0-9629-5E199BDB2329}"/>
              </a:ext>
            </a:extLst>
          </p:cNvPr>
          <p:cNvSpPr txBox="1">
            <a:spLocks/>
          </p:cNvSpPr>
          <p:nvPr/>
        </p:nvSpPr>
        <p:spPr>
          <a:xfrm>
            <a:off x="554736" y="1614972"/>
            <a:ext cx="1832246" cy="213368"/>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400">
                <a:solidFill>
                  <a:schemeClr val="accent5"/>
                </a:solidFill>
              </a:rPr>
              <a:t>STYLE GUIDE</a:t>
            </a:r>
          </a:p>
        </p:txBody>
      </p:sp>
      <p:sp>
        <p:nvSpPr>
          <p:cNvPr id="26" name="Title 1">
            <a:extLst>
              <a:ext uri="{FF2B5EF4-FFF2-40B4-BE49-F238E27FC236}">
                <a16:creationId xmlns:a16="http://schemas.microsoft.com/office/drawing/2014/main" id="{856181C5-710F-6CBB-D506-1A871F5F0110}"/>
              </a:ext>
            </a:extLst>
          </p:cNvPr>
          <p:cNvSpPr txBox="1">
            <a:spLocks/>
          </p:cNvSpPr>
          <p:nvPr/>
        </p:nvSpPr>
        <p:spPr>
          <a:xfrm>
            <a:off x="5739480" y="1614972"/>
            <a:ext cx="1832246" cy="213368"/>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400">
                <a:solidFill>
                  <a:schemeClr val="accent5"/>
                </a:solidFill>
              </a:rPr>
              <a:t>EXAMPLE</a:t>
            </a:r>
          </a:p>
        </p:txBody>
      </p:sp>
      <p:pic>
        <p:nvPicPr>
          <p:cNvPr id="28" name="Graphic 27" descr="Exponential Graph outline">
            <a:extLst>
              <a:ext uri="{FF2B5EF4-FFF2-40B4-BE49-F238E27FC236}">
                <a16:creationId xmlns:a16="http://schemas.microsoft.com/office/drawing/2014/main" id="{ED7F6CDD-EC8A-D97F-1397-29A43AE17A4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726408" y="3352178"/>
            <a:ext cx="670191" cy="670191"/>
          </a:xfrm>
          <a:prstGeom prst="rect">
            <a:avLst/>
          </a:prstGeom>
        </p:spPr>
      </p:pic>
      <p:pic>
        <p:nvPicPr>
          <p:cNvPr id="30" name="Graphic 29" descr="Downward trend graph outline">
            <a:extLst>
              <a:ext uri="{FF2B5EF4-FFF2-40B4-BE49-F238E27FC236}">
                <a16:creationId xmlns:a16="http://schemas.microsoft.com/office/drawing/2014/main" id="{10D849CC-4604-8EFB-235B-793D0E4BA2E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587490" y="3312885"/>
            <a:ext cx="670191" cy="670191"/>
          </a:xfrm>
          <a:prstGeom prst="rect">
            <a:avLst/>
          </a:prstGeom>
        </p:spPr>
      </p:pic>
      <p:sp>
        <p:nvSpPr>
          <p:cNvPr id="31" name="Isosceles Triangle 30">
            <a:extLst>
              <a:ext uri="{FF2B5EF4-FFF2-40B4-BE49-F238E27FC236}">
                <a16:creationId xmlns:a16="http://schemas.microsoft.com/office/drawing/2014/main" id="{6A99E45A-B155-24B4-0551-4E52472F6DB1}"/>
              </a:ext>
            </a:extLst>
          </p:cNvPr>
          <p:cNvSpPr/>
          <p:nvPr/>
        </p:nvSpPr>
        <p:spPr>
          <a:xfrm rot="5400000">
            <a:off x="8437449" y="3854940"/>
            <a:ext cx="159967" cy="137903"/>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err="1"/>
          </a:p>
        </p:txBody>
      </p:sp>
    </p:spTree>
    <p:extLst>
      <p:ext uri="{BB962C8B-B14F-4D97-AF65-F5344CB8AC3E}">
        <p14:creationId xmlns:p14="http://schemas.microsoft.com/office/powerpoint/2010/main" val="20612760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A7F8D-8420-BF99-C01B-803C90429D6F}"/>
            </a:ext>
          </a:extLst>
        </p:cNvPr>
        <p:cNvGrpSpPr/>
        <p:nvPr/>
      </p:nvGrpSpPr>
      <p:grpSpPr>
        <a:xfrm>
          <a:off x="0" y="0"/>
          <a:ext cx="0" cy="0"/>
          <a:chOff x="0" y="0"/>
          <a:chExt cx="0" cy="0"/>
        </a:xfrm>
      </p:grpSpPr>
      <p:graphicFrame>
        <p:nvGraphicFramePr>
          <p:cNvPr id="52" name="think-cell data - do not delete" hidden="1">
            <a:extLst>
              <a:ext uri="{FF2B5EF4-FFF2-40B4-BE49-F238E27FC236}">
                <a16:creationId xmlns:a16="http://schemas.microsoft.com/office/drawing/2014/main" id="{77E750D8-02D9-4AC4-3168-110E61D69FE1}"/>
              </a:ext>
            </a:extLst>
          </p:cNvPr>
          <p:cNvGraphicFramePr>
            <a:graphicFrameLocks/>
          </p:cNvGraphicFramePr>
          <p:nvPr>
            <p:custDataLst>
              <p:tags r:id="rId1"/>
            </p:custDataLst>
            <p:extLst>
              <p:ext uri="{D42A27DB-BD31-4B8C-83A1-F6EECF244321}">
                <p14:modId xmlns:p14="http://schemas.microsoft.com/office/powerpoint/2010/main" val="10652158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51" name="think-cell data - do not delete" hidden="1">
            <a:extLst>
              <a:ext uri="{FF2B5EF4-FFF2-40B4-BE49-F238E27FC236}">
                <a16:creationId xmlns:a16="http://schemas.microsoft.com/office/drawing/2014/main" id="{3516DE6C-82F2-3B50-05EE-EE421AF4C979}"/>
              </a:ext>
            </a:extLst>
          </p:cNvPr>
          <p:cNvGraphicFramePr>
            <a:graphicFrameLocks noChangeAspect="1"/>
          </p:cNvGraphicFramePr>
          <p:nvPr>
            <p:custDataLst>
              <p:tags r:id="rId2"/>
            </p:custDataLst>
            <p:extLst>
              <p:ext uri="{D42A27DB-BD31-4B8C-83A1-F6EECF244321}">
                <p14:modId xmlns:p14="http://schemas.microsoft.com/office/powerpoint/2010/main" val="31896321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7" imgH="348" progId="TCLayout.ActiveDocument.1">
                  <p:embed/>
                </p:oleObj>
              </mc:Choice>
              <mc:Fallback>
                <p:oleObj name="think-cell Slide" r:id="rId6"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7" name="Rectangle 26">
            <a:extLst>
              <a:ext uri="{FF2B5EF4-FFF2-40B4-BE49-F238E27FC236}">
                <a16:creationId xmlns:a16="http://schemas.microsoft.com/office/drawing/2014/main" id="{C4548FF3-4678-863F-853D-465F41432242}"/>
              </a:ext>
            </a:extLst>
          </p:cNvPr>
          <p:cNvSpPr/>
          <p:nvPr/>
        </p:nvSpPr>
        <p:spPr>
          <a:xfrm>
            <a:off x="7556552" y="2038378"/>
            <a:ext cx="3831884" cy="3474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err="1"/>
          </a:p>
        </p:txBody>
      </p:sp>
      <p:sp>
        <p:nvSpPr>
          <p:cNvPr id="2" name="Title 1">
            <a:extLst>
              <a:ext uri="{FF2B5EF4-FFF2-40B4-BE49-F238E27FC236}">
                <a16:creationId xmlns:a16="http://schemas.microsoft.com/office/drawing/2014/main" id="{8B945AC1-C89D-8ED4-EABE-80BB5DD0D19B}"/>
              </a:ext>
            </a:extLst>
          </p:cNvPr>
          <p:cNvSpPr>
            <a:spLocks noGrp="1"/>
          </p:cNvSpPr>
          <p:nvPr>
            <p:ph type="title"/>
          </p:nvPr>
        </p:nvSpPr>
        <p:spPr>
          <a:xfrm>
            <a:off x="558800" y="635000"/>
            <a:ext cx="11087100" cy="838200"/>
          </a:xfrm>
        </p:spPr>
        <p:txBody>
          <a:bodyPr vert="horz" rIns="0" anchor="t" anchorCtr="0"/>
          <a:lstStyle/>
          <a:p>
            <a:r>
              <a:rPr lang="en-US"/>
              <a:t>Tables are used commonly to present categories, and should be reviewed for conciseness and overall takeaway</a:t>
            </a:r>
          </a:p>
        </p:txBody>
      </p:sp>
      <p:sp>
        <p:nvSpPr>
          <p:cNvPr id="5" name="Rectangle 4">
            <a:extLst>
              <a:ext uri="{FF2B5EF4-FFF2-40B4-BE49-F238E27FC236}">
                <a16:creationId xmlns:a16="http://schemas.microsoft.com/office/drawing/2014/main" id="{2E5364C5-4A53-56C4-F462-210E0FDA650C}"/>
              </a:ext>
            </a:extLst>
          </p:cNvPr>
          <p:cNvSpPr/>
          <p:nvPr/>
        </p:nvSpPr>
        <p:spPr>
          <a:xfrm>
            <a:off x="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THINK</a:t>
            </a:r>
            <a:endParaRPr lang="en-US" sz="1100" dirty="0"/>
          </a:p>
        </p:txBody>
      </p:sp>
      <p:sp>
        <p:nvSpPr>
          <p:cNvPr id="8" name="Rectangle 7">
            <a:extLst>
              <a:ext uri="{FF2B5EF4-FFF2-40B4-BE49-F238E27FC236}">
                <a16:creationId xmlns:a16="http://schemas.microsoft.com/office/drawing/2014/main" id="{F05C08DA-74F0-00C4-0B60-8B6D275A62EB}"/>
              </a:ext>
            </a:extLst>
          </p:cNvPr>
          <p:cNvSpPr/>
          <p:nvPr/>
        </p:nvSpPr>
        <p:spPr>
          <a:xfrm>
            <a:off x="73152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AI WORKFLOW</a:t>
            </a:r>
            <a:endParaRPr lang="en-US" sz="1100" dirty="0"/>
          </a:p>
        </p:txBody>
      </p:sp>
      <p:sp>
        <p:nvSpPr>
          <p:cNvPr id="39" name="Rectangle 39"/>
          <p:cNvSpPr/>
          <p:nvPr/>
        </p:nvSpPr>
        <p:spPr>
          <a:xfrm>
            <a:off x="97536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QUALITY &amp; DATA</a:t>
            </a:r>
            <a:endParaRPr lang="en-US" sz="1100" dirty="0"/>
          </a:p>
        </p:txBody>
      </p:sp>
      <p:sp>
        <p:nvSpPr>
          <p:cNvPr id="18" name="Rectangle 17">
            <a:extLst>
              <a:ext uri="{FF2B5EF4-FFF2-40B4-BE49-F238E27FC236}">
                <a16:creationId xmlns:a16="http://schemas.microsoft.com/office/drawing/2014/main" id="{0B0F246C-7C54-E04D-C892-BB9E32080127}"/>
              </a:ext>
            </a:extLst>
          </p:cNvPr>
          <p:cNvSpPr/>
          <p:nvPr/>
        </p:nvSpPr>
        <p:spPr>
          <a:xfrm>
            <a:off x="24384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DECK</a:t>
            </a:r>
            <a:endParaRPr lang="en-US" sz="1100" dirty="0"/>
          </a:p>
        </p:txBody>
      </p:sp>
      <p:sp>
        <p:nvSpPr>
          <p:cNvPr id="20" name="Rectangle 19">
            <a:extLst>
              <a:ext uri="{FF2B5EF4-FFF2-40B4-BE49-F238E27FC236}">
                <a16:creationId xmlns:a16="http://schemas.microsoft.com/office/drawing/2014/main" id="{5B464CCB-D7A1-5A2E-3C72-380BC3A72CCF}"/>
              </a:ext>
            </a:extLst>
          </p:cNvPr>
          <p:cNvSpPr/>
          <p:nvPr/>
        </p:nvSpPr>
        <p:spPr>
          <a:xfrm>
            <a:off x="4876800" y="-1"/>
            <a:ext cx="2438400" cy="29198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PAGE</a:t>
            </a:r>
            <a:endParaRPr lang="en-US" sz="1100" dirty="0"/>
          </a:p>
        </p:txBody>
      </p:sp>
      <p:sp>
        <p:nvSpPr>
          <p:cNvPr id="3" name="Title 1">
            <a:extLst>
              <a:ext uri="{FF2B5EF4-FFF2-40B4-BE49-F238E27FC236}">
                <a16:creationId xmlns:a16="http://schemas.microsoft.com/office/drawing/2014/main" id="{2F64B4BC-DB32-9B4E-D2D9-03930C418735}"/>
              </a:ext>
            </a:extLst>
          </p:cNvPr>
          <p:cNvSpPr txBox="1">
            <a:spLocks/>
          </p:cNvSpPr>
          <p:nvPr/>
        </p:nvSpPr>
        <p:spPr>
          <a:xfrm>
            <a:off x="554735" y="2118041"/>
            <a:ext cx="2751883"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800" b="1"/>
              <a:t>Category</a:t>
            </a:r>
          </a:p>
        </p:txBody>
      </p:sp>
      <p:sp>
        <p:nvSpPr>
          <p:cNvPr id="11" name="Title 1">
            <a:extLst>
              <a:ext uri="{FF2B5EF4-FFF2-40B4-BE49-F238E27FC236}">
                <a16:creationId xmlns:a16="http://schemas.microsoft.com/office/drawing/2014/main" id="{02C52196-3D2B-23B7-1254-F35AE61837C6}"/>
              </a:ext>
            </a:extLst>
          </p:cNvPr>
          <p:cNvSpPr txBox="1">
            <a:spLocks/>
          </p:cNvSpPr>
          <p:nvPr/>
        </p:nvSpPr>
        <p:spPr>
          <a:xfrm>
            <a:off x="3966227" y="2118041"/>
            <a:ext cx="2407516"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800" b="1"/>
              <a:t>Finding</a:t>
            </a:r>
          </a:p>
        </p:txBody>
      </p:sp>
      <p:cxnSp>
        <p:nvCxnSpPr>
          <p:cNvPr id="16" name="Straight Connector 15">
            <a:extLst>
              <a:ext uri="{FF2B5EF4-FFF2-40B4-BE49-F238E27FC236}">
                <a16:creationId xmlns:a16="http://schemas.microsoft.com/office/drawing/2014/main" id="{67CC0987-C895-1884-30D3-CFEB09346D2C}"/>
              </a:ext>
            </a:extLst>
          </p:cNvPr>
          <p:cNvCxnSpPr/>
          <p:nvPr/>
        </p:nvCxnSpPr>
        <p:spPr>
          <a:xfrm>
            <a:off x="554735" y="2439005"/>
            <a:ext cx="10741338"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75F0E8B4-9E3F-5360-B61F-945EC6D95DC7}"/>
              </a:ext>
            </a:extLst>
          </p:cNvPr>
          <p:cNvCxnSpPr/>
          <p:nvPr/>
        </p:nvCxnSpPr>
        <p:spPr>
          <a:xfrm>
            <a:off x="554735" y="3456161"/>
            <a:ext cx="10741338" cy="0"/>
          </a:xfrm>
          <a:prstGeom prst="line">
            <a:avLst/>
          </a:prstGeom>
          <a:ln w="9525">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41978F82-604E-55E8-F702-E5D67CD12465}"/>
              </a:ext>
            </a:extLst>
          </p:cNvPr>
          <p:cNvCxnSpPr/>
          <p:nvPr/>
        </p:nvCxnSpPr>
        <p:spPr>
          <a:xfrm>
            <a:off x="554735" y="4514009"/>
            <a:ext cx="10741338" cy="0"/>
          </a:xfrm>
          <a:prstGeom prst="line">
            <a:avLst/>
          </a:prstGeom>
          <a:ln w="9525">
            <a:solidFill>
              <a:schemeClr val="tx1"/>
            </a:solidFill>
            <a:prstDash val="dash"/>
          </a:ln>
        </p:spPr>
        <p:style>
          <a:lnRef idx="1">
            <a:schemeClr val="dk1"/>
          </a:lnRef>
          <a:fillRef idx="0">
            <a:schemeClr val="dk1"/>
          </a:fillRef>
          <a:effectRef idx="0">
            <a:schemeClr val="dk1"/>
          </a:effectRef>
          <a:fontRef idx="minor">
            <a:schemeClr val="tx1"/>
          </a:fontRef>
        </p:style>
      </p:cxnSp>
      <p:sp>
        <p:nvSpPr>
          <p:cNvPr id="23" name="Rectangle 22">
            <a:extLst>
              <a:ext uri="{FF2B5EF4-FFF2-40B4-BE49-F238E27FC236}">
                <a16:creationId xmlns:a16="http://schemas.microsoft.com/office/drawing/2014/main" id="{DAA73548-3C68-D63B-9355-2EAB65AD05BE}"/>
              </a:ext>
            </a:extLst>
          </p:cNvPr>
          <p:cNvSpPr/>
          <p:nvPr/>
        </p:nvSpPr>
        <p:spPr>
          <a:xfrm>
            <a:off x="554736" y="2477108"/>
            <a:ext cx="1635011" cy="9409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algn="ctr"/>
            <a:r>
              <a:rPr lang="en-US" b="1"/>
              <a:t>CEOs</a:t>
            </a:r>
            <a:endParaRPr lang="en-US" b="1" dirty="0" err="1"/>
          </a:p>
        </p:txBody>
      </p:sp>
      <p:sp>
        <p:nvSpPr>
          <p:cNvPr id="24" name="Title 1">
            <a:extLst>
              <a:ext uri="{FF2B5EF4-FFF2-40B4-BE49-F238E27FC236}">
                <a16:creationId xmlns:a16="http://schemas.microsoft.com/office/drawing/2014/main" id="{ABBAAE9B-1A60-D44D-D926-D2152D9E978A}"/>
              </a:ext>
            </a:extLst>
          </p:cNvPr>
          <p:cNvSpPr txBox="1">
            <a:spLocks/>
          </p:cNvSpPr>
          <p:nvPr/>
        </p:nvSpPr>
        <p:spPr>
          <a:xfrm>
            <a:off x="7712289" y="2118041"/>
            <a:ext cx="2751883"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800" b="1"/>
              <a:t>Implication</a:t>
            </a:r>
          </a:p>
        </p:txBody>
      </p:sp>
      <p:sp>
        <p:nvSpPr>
          <p:cNvPr id="25" name="Rectangle 24">
            <a:extLst>
              <a:ext uri="{FF2B5EF4-FFF2-40B4-BE49-F238E27FC236}">
                <a16:creationId xmlns:a16="http://schemas.microsoft.com/office/drawing/2014/main" id="{5F6BD5E1-1C71-DA26-9C3F-B38256B74686}"/>
              </a:ext>
            </a:extLst>
          </p:cNvPr>
          <p:cNvSpPr/>
          <p:nvPr/>
        </p:nvSpPr>
        <p:spPr>
          <a:xfrm>
            <a:off x="554736" y="3524568"/>
            <a:ext cx="1635011" cy="9409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algn="ctr"/>
            <a:r>
              <a:rPr lang="en-US" b="1"/>
              <a:t>CFOs</a:t>
            </a:r>
            <a:endParaRPr lang="en-US" b="1" dirty="0" err="1"/>
          </a:p>
        </p:txBody>
      </p:sp>
      <p:sp>
        <p:nvSpPr>
          <p:cNvPr id="26" name="Rectangle 25">
            <a:extLst>
              <a:ext uri="{FF2B5EF4-FFF2-40B4-BE49-F238E27FC236}">
                <a16:creationId xmlns:a16="http://schemas.microsoft.com/office/drawing/2014/main" id="{DC194693-56A6-0709-420F-CD59FBE0E34F}"/>
              </a:ext>
            </a:extLst>
          </p:cNvPr>
          <p:cNvSpPr/>
          <p:nvPr/>
        </p:nvSpPr>
        <p:spPr>
          <a:xfrm>
            <a:off x="554736" y="4572027"/>
            <a:ext cx="1635011" cy="9409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algn="ctr"/>
            <a:r>
              <a:rPr lang="en-US" b="1"/>
              <a:t>CIOs</a:t>
            </a:r>
            <a:endParaRPr lang="en-US" b="1" dirty="0" err="1"/>
          </a:p>
        </p:txBody>
      </p:sp>
      <p:sp>
        <p:nvSpPr>
          <p:cNvPr id="28" name="Title 1">
            <a:extLst>
              <a:ext uri="{FF2B5EF4-FFF2-40B4-BE49-F238E27FC236}">
                <a16:creationId xmlns:a16="http://schemas.microsoft.com/office/drawing/2014/main" id="{60BDEC1A-2515-183B-F0B6-9389308C88C5}"/>
              </a:ext>
            </a:extLst>
          </p:cNvPr>
          <p:cNvSpPr txBox="1">
            <a:spLocks/>
          </p:cNvSpPr>
          <p:nvPr/>
        </p:nvSpPr>
        <p:spPr>
          <a:xfrm>
            <a:off x="554736" y="1373259"/>
            <a:ext cx="11082528" cy="294988"/>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800">
                <a:solidFill>
                  <a:schemeClr val="bg1">
                    <a:lumMod val="50000"/>
                  </a:schemeClr>
                </a:solidFill>
              </a:rPr>
              <a:t>Consulting tables use shapes, lines, and text boxes per cell, not Microsoft’s table feature</a:t>
            </a:r>
          </a:p>
        </p:txBody>
      </p:sp>
      <p:pic>
        <p:nvPicPr>
          <p:cNvPr id="32" name="Graphic 31" descr="Office Chair outline">
            <a:extLst>
              <a:ext uri="{FF2B5EF4-FFF2-40B4-BE49-F238E27FC236}">
                <a16:creationId xmlns:a16="http://schemas.microsoft.com/office/drawing/2014/main" id="{8CD4AF07-8502-7543-CC3F-E4DA18AFBE4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54735" y="2625902"/>
            <a:ext cx="589091" cy="589091"/>
          </a:xfrm>
          <a:prstGeom prst="rect">
            <a:avLst/>
          </a:prstGeom>
        </p:spPr>
      </p:pic>
      <p:pic>
        <p:nvPicPr>
          <p:cNvPr id="36" name="Graphic 35" descr="Bar graph with upward trend outline">
            <a:extLst>
              <a:ext uri="{FF2B5EF4-FFF2-40B4-BE49-F238E27FC236}">
                <a16:creationId xmlns:a16="http://schemas.microsoft.com/office/drawing/2014/main" id="{74B1F765-BD87-A12D-FA4F-72DCFB9A107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54735" y="3711322"/>
            <a:ext cx="589091" cy="589091"/>
          </a:xfrm>
          <a:prstGeom prst="rect">
            <a:avLst/>
          </a:prstGeom>
        </p:spPr>
      </p:pic>
      <p:sp>
        <p:nvSpPr>
          <p:cNvPr id="9" name="Title 1">
            <a:extLst>
              <a:ext uri="{FF2B5EF4-FFF2-40B4-BE49-F238E27FC236}">
                <a16:creationId xmlns:a16="http://schemas.microsoft.com/office/drawing/2014/main" id="{B8FBB4C9-48AC-0C93-D66B-23CAF96D682F}"/>
              </a:ext>
            </a:extLst>
          </p:cNvPr>
          <p:cNvSpPr txBox="1">
            <a:spLocks/>
          </p:cNvSpPr>
          <p:nvPr/>
        </p:nvSpPr>
        <p:spPr>
          <a:xfrm>
            <a:off x="554735" y="1845903"/>
            <a:ext cx="1832246" cy="213368"/>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400">
                <a:solidFill>
                  <a:schemeClr val="accent5"/>
                </a:solidFill>
              </a:rPr>
              <a:t>EXAMPLE</a:t>
            </a:r>
          </a:p>
        </p:txBody>
      </p:sp>
      <p:sp>
        <p:nvSpPr>
          <p:cNvPr id="10" name="Title 1">
            <a:extLst>
              <a:ext uri="{FF2B5EF4-FFF2-40B4-BE49-F238E27FC236}">
                <a16:creationId xmlns:a16="http://schemas.microsoft.com/office/drawing/2014/main" id="{BED93406-4DB7-3F37-E2B8-4D98E26EF437}"/>
              </a:ext>
            </a:extLst>
          </p:cNvPr>
          <p:cNvSpPr txBox="1">
            <a:spLocks/>
          </p:cNvSpPr>
          <p:nvPr/>
        </p:nvSpPr>
        <p:spPr>
          <a:xfrm>
            <a:off x="3966227" y="2551194"/>
            <a:ext cx="3465048" cy="758589"/>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400"/>
              <a:t>Majority do not read email outreach; 83% rely on peer recommendation and 65% attend industry conference regularly</a:t>
            </a:r>
          </a:p>
        </p:txBody>
      </p:sp>
      <p:sp>
        <p:nvSpPr>
          <p:cNvPr id="13" name="Title 1">
            <a:extLst>
              <a:ext uri="{FF2B5EF4-FFF2-40B4-BE49-F238E27FC236}">
                <a16:creationId xmlns:a16="http://schemas.microsoft.com/office/drawing/2014/main" id="{D98B6BC5-5BEF-694A-538F-3EF233EB8291}"/>
              </a:ext>
            </a:extLst>
          </p:cNvPr>
          <p:cNvSpPr txBox="1">
            <a:spLocks/>
          </p:cNvSpPr>
          <p:nvPr/>
        </p:nvSpPr>
        <p:spPr>
          <a:xfrm>
            <a:off x="7712290" y="2551194"/>
            <a:ext cx="3465048" cy="758589"/>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400"/>
              <a:t>Program in-person, private roundtables; develop shareable strategy briefs for conference thought leadership</a:t>
            </a:r>
          </a:p>
        </p:txBody>
      </p:sp>
      <p:sp>
        <p:nvSpPr>
          <p:cNvPr id="14" name="Title 1">
            <a:extLst>
              <a:ext uri="{FF2B5EF4-FFF2-40B4-BE49-F238E27FC236}">
                <a16:creationId xmlns:a16="http://schemas.microsoft.com/office/drawing/2014/main" id="{BA6A3EF1-E415-DEE2-1DEF-D91EC6D81382}"/>
              </a:ext>
            </a:extLst>
          </p:cNvPr>
          <p:cNvSpPr txBox="1">
            <a:spLocks/>
          </p:cNvSpPr>
          <p:nvPr/>
        </p:nvSpPr>
        <p:spPr>
          <a:xfrm>
            <a:off x="3030081" y="3608366"/>
            <a:ext cx="4228568" cy="758589"/>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endParaRPr lang="en-US" sz="1600"/>
          </a:p>
        </p:txBody>
      </p:sp>
      <p:sp>
        <p:nvSpPr>
          <p:cNvPr id="15" name="Title 1">
            <a:extLst>
              <a:ext uri="{FF2B5EF4-FFF2-40B4-BE49-F238E27FC236}">
                <a16:creationId xmlns:a16="http://schemas.microsoft.com/office/drawing/2014/main" id="{0B17092A-633F-53DE-903E-23E029B009DD}"/>
              </a:ext>
            </a:extLst>
          </p:cNvPr>
          <p:cNvSpPr txBox="1">
            <a:spLocks/>
          </p:cNvSpPr>
          <p:nvPr/>
        </p:nvSpPr>
        <p:spPr>
          <a:xfrm>
            <a:off x="7712290" y="3608366"/>
            <a:ext cx="3465048" cy="758589"/>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400"/>
              <a:t>Focus paid media attention towards WSJ, Bloomberg, etc., and place ads in industry media</a:t>
            </a:r>
          </a:p>
        </p:txBody>
      </p:sp>
      <p:sp>
        <p:nvSpPr>
          <p:cNvPr id="17" name="Title 1">
            <a:extLst>
              <a:ext uri="{FF2B5EF4-FFF2-40B4-BE49-F238E27FC236}">
                <a16:creationId xmlns:a16="http://schemas.microsoft.com/office/drawing/2014/main" id="{7C5622EA-9677-D29C-01CC-4A749143F070}"/>
              </a:ext>
            </a:extLst>
          </p:cNvPr>
          <p:cNvSpPr txBox="1">
            <a:spLocks/>
          </p:cNvSpPr>
          <p:nvPr/>
        </p:nvSpPr>
        <p:spPr>
          <a:xfrm>
            <a:off x="3966227" y="3608365"/>
            <a:ext cx="3465048" cy="758589"/>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400"/>
              <a:t>Trade journals (67%), finance conferences (55%), and business press (53%) rank as top information sources</a:t>
            </a:r>
          </a:p>
        </p:txBody>
      </p:sp>
      <p:pic>
        <p:nvPicPr>
          <p:cNvPr id="29" name="Graphic 28" descr="Processor outline">
            <a:extLst>
              <a:ext uri="{FF2B5EF4-FFF2-40B4-BE49-F238E27FC236}">
                <a16:creationId xmlns:a16="http://schemas.microsoft.com/office/drawing/2014/main" id="{0417A3AB-2663-2D5C-42B4-56A23C7D721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73385" y="4766608"/>
            <a:ext cx="551790" cy="551790"/>
          </a:xfrm>
          <a:prstGeom prst="rect">
            <a:avLst/>
          </a:prstGeom>
        </p:spPr>
      </p:pic>
      <p:sp>
        <p:nvSpPr>
          <p:cNvPr id="31" name="Rectangle 30">
            <a:extLst>
              <a:ext uri="{FF2B5EF4-FFF2-40B4-BE49-F238E27FC236}">
                <a16:creationId xmlns:a16="http://schemas.microsoft.com/office/drawing/2014/main" id="{91F36484-9499-C331-3828-66A0B49365E7}"/>
              </a:ext>
            </a:extLst>
          </p:cNvPr>
          <p:cNvSpPr/>
          <p:nvPr/>
        </p:nvSpPr>
        <p:spPr>
          <a:xfrm>
            <a:off x="2044884" y="5767954"/>
            <a:ext cx="7334786" cy="7818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19113"/>
            <a:r>
              <a:rPr lang="en-US" sz="1600">
                <a:solidFill>
                  <a:schemeClr val="tx1"/>
                </a:solidFill>
              </a:rPr>
              <a:t>Choosing the </a:t>
            </a:r>
            <a:r>
              <a:rPr lang="en-US" sz="1600" b="1">
                <a:solidFill>
                  <a:srgbClr val="009999"/>
                </a:solidFill>
              </a:rPr>
              <a:t>right category and column headers </a:t>
            </a:r>
            <a:r>
              <a:rPr lang="en-US" sz="1600">
                <a:solidFill>
                  <a:schemeClr val="tx1"/>
                </a:solidFill>
              </a:rPr>
              <a:t>is a common consulting task; it is a test of MECE and so-what thinking </a:t>
            </a:r>
            <a:endParaRPr lang="en-US" sz="1600" dirty="0" err="1">
              <a:solidFill>
                <a:schemeClr val="tx1"/>
              </a:solidFill>
            </a:endParaRPr>
          </a:p>
        </p:txBody>
      </p:sp>
      <p:sp>
        <p:nvSpPr>
          <p:cNvPr id="35" name="Rectangle 34">
            <a:extLst>
              <a:ext uri="{FF2B5EF4-FFF2-40B4-BE49-F238E27FC236}">
                <a16:creationId xmlns:a16="http://schemas.microsoft.com/office/drawing/2014/main" id="{2334C113-28F1-AF95-DD32-AB54B276573E}"/>
              </a:ext>
            </a:extLst>
          </p:cNvPr>
          <p:cNvSpPr/>
          <p:nvPr/>
        </p:nvSpPr>
        <p:spPr>
          <a:xfrm>
            <a:off x="1962293" y="5767955"/>
            <a:ext cx="88584" cy="78189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p>
        </p:txBody>
      </p:sp>
      <p:pic>
        <p:nvPicPr>
          <p:cNvPr id="43" name="Graphic 42" descr="Table outline">
            <a:extLst>
              <a:ext uri="{FF2B5EF4-FFF2-40B4-BE49-F238E27FC236}">
                <a16:creationId xmlns:a16="http://schemas.microsoft.com/office/drawing/2014/main" id="{761A509E-B51A-38F8-E56E-10E5E76F434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099999" y="5912404"/>
            <a:ext cx="464092" cy="464092"/>
          </a:xfrm>
          <a:prstGeom prst="rect">
            <a:avLst/>
          </a:prstGeom>
        </p:spPr>
      </p:pic>
      <p:sp>
        <p:nvSpPr>
          <p:cNvPr id="44" name="Title 1">
            <a:extLst>
              <a:ext uri="{FF2B5EF4-FFF2-40B4-BE49-F238E27FC236}">
                <a16:creationId xmlns:a16="http://schemas.microsoft.com/office/drawing/2014/main" id="{4A503502-31B5-34C6-9F73-754C1B4D8870}"/>
              </a:ext>
            </a:extLst>
          </p:cNvPr>
          <p:cNvSpPr txBox="1">
            <a:spLocks/>
          </p:cNvSpPr>
          <p:nvPr/>
        </p:nvSpPr>
        <p:spPr>
          <a:xfrm>
            <a:off x="2283359" y="2118041"/>
            <a:ext cx="1458156"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800" b="1"/>
              <a:t>Reachability</a:t>
            </a:r>
          </a:p>
        </p:txBody>
      </p:sp>
      <p:sp>
        <p:nvSpPr>
          <p:cNvPr id="46" name="Title 1">
            <a:extLst>
              <a:ext uri="{FF2B5EF4-FFF2-40B4-BE49-F238E27FC236}">
                <a16:creationId xmlns:a16="http://schemas.microsoft.com/office/drawing/2014/main" id="{3FDD4AD8-3BE4-6F7B-552E-51E514B4A593}"/>
              </a:ext>
            </a:extLst>
          </p:cNvPr>
          <p:cNvSpPr txBox="1">
            <a:spLocks/>
          </p:cNvSpPr>
          <p:nvPr/>
        </p:nvSpPr>
        <p:spPr>
          <a:xfrm>
            <a:off x="2387764" y="2827133"/>
            <a:ext cx="1329784" cy="369254"/>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b="1">
                <a:solidFill>
                  <a:srgbClr val="C00000"/>
                </a:solidFill>
              </a:rPr>
              <a:t>Low</a:t>
            </a:r>
          </a:p>
        </p:txBody>
      </p:sp>
      <p:sp>
        <p:nvSpPr>
          <p:cNvPr id="47" name="Title 1">
            <a:extLst>
              <a:ext uri="{FF2B5EF4-FFF2-40B4-BE49-F238E27FC236}">
                <a16:creationId xmlns:a16="http://schemas.microsoft.com/office/drawing/2014/main" id="{20070B13-9C60-619F-44FF-9032C7FEA960}"/>
              </a:ext>
            </a:extLst>
          </p:cNvPr>
          <p:cNvSpPr txBox="1">
            <a:spLocks/>
          </p:cNvSpPr>
          <p:nvPr/>
        </p:nvSpPr>
        <p:spPr>
          <a:xfrm>
            <a:off x="2387764" y="3813075"/>
            <a:ext cx="1329784" cy="369254"/>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b="1">
                <a:solidFill>
                  <a:srgbClr val="FFC000"/>
                </a:solidFill>
              </a:rPr>
              <a:t>Med</a:t>
            </a:r>
          </a:p>
        </p:txBody>
      </p:sp>
      <p:sp>
        <p:nvSpPr>
          <p:cNvPr id="48" name="Title 1">
            <a:extLst>
              <a:ext uri="{FF2B5EF4-FFF2-40B4-BE49-F238E27FC236}">
                <a16:creationId xmlns:a16="http://schemas.microsoft.com/office/drawing/2014/main" id="{CF0025AF-3671-2223-A073-F3BAA36724A6}"/>
              </a:ext>
            </a:extLst>
          </p:cNvPr>
          <p:cNvSpPr txBox="1">
            <a:spLocks/>
          </p:cNvSpPr>
          <p:nvPr/>
        </p:nvSpPr>
        <p:spPr>
          <a:xfrm>
            <a:off x="2387764" y="4914321"/>
            <a:ext cx="1329784" cy="369254"/>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b="1">
                <a:solidFill>
                  <a:srgbClr val="00B050"/>
                </a:solidFill>
              </a:rPr>
              <a:t>High</a:t>
            </a:r>
          </a:p>
        </p:txBody>
      </p:sp>
      <p:sp>
        <p:nvSpPr>
          <p:cNvPr id="49" name="Title 1">
            <a:extLst>
              <a:ext uri="{FF2B5EF4-FFF2-40B4-BE49-F238E27FC236}">
                <a16:creationId xmlns:a16="http://schemas.microsoft.com/office/drawing/2014/main" id="{DAC5FB23-0715-106A-E1A0-383252971068}"/>
              </a:ext>
            </a:extLst>
          </p:cNvPr>
          <p:cNvSpPr txBox="1">
            <a:spLocks/>
          </p:cNvSpPr>
          <p:nvPr/>
        </p:nvSpPr>
        <p:spPr>
          <a:xfrm>
            <a:off x="7712290" y="4659957"/>
            <a:ext cx="3465048" cy="758589"/>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400"/>
              <a:t>Craft short thought leadership assets that can be shared, and review AI search results to benchmark with competitors</a:t>
            </a:r>
          </a:p>
        </p:txBody>
      </p:sp>
      <p:sp>
        <p:nvSpPr>
          <p:cNvPr id="50" name="Title 1">
            <a:extLst>
              <a:ext uri="{FF2B5EF4-FFF2-40B4-BE49-F238E27FC236}">
                <a16:creationId xmlns:a16="http://schemas.microsoft.com/office/drawing/2014/main" id="{3A1F4460-9B2A-C716-30E5-02A8F8019028}"/>
              </a:ext>
            </a:extLst>
          </p:cNvPr>
          <p:cNvSpPr txBox="1">
            <a:spLocks/>
          </p:cNvSpPr>
          <p:nvPr/>
        </p:nvSpPr>
        <p:spPr>
          <a:xfrm>
            <a:off x="3966227" y="4659956"/>
            <a:ext cx="3465048" cy="758589"/>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400"/>
              <a:t>Most active on social media, substack, and podcast; 68% would trust AI’s recommendation of vendors</a:t>
            </a:r>
          </a:p>
        </p:txBody>
      </p:sp>
    </p:spTree>
    <p:extLst>
      <p:ext uri="{BB962C8B-B14F-4D97-AF65-F5344CB8AC3E}">
        <p14:creationId xmlns:p14="http://schemas.microsoft.com/office/powerpoint/2010/main" val="12334080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79098-4124-C482-7E1D-991129FB9EBB}"/>
            </a:ext>
          </a:extLst>
        </p:cNvPr>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DD0E4768-E5A0-E44A-F0D5-CCE3D042665E}"/>
              </a:ext>
            </a:extLst>
          </p:cNvPr>
          <p:cNvGraphicFramePr>
            <a:graphicFrameLocks/>
          </p:cNvGraphicFramePr>
          <p:nvPr>
            <p:custDataLst>
              <p:tags r:id="rId1"/>
            </p:custDataLst>
            <p:extLst>
              <p:ext uri="{D42A27DB-BD31-4B8C-83A1-F6EECF244321}">
                <p14:modId xmlns:p14="http://schemas.microsoft.com/office/powerpoint/2010/main" val="42907590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13" name="think-cell data - do not delete" hidden="1">
            <a:extLst>
              <a:ext uri="{FF2B5EF4-FFF2-40B4-BE49-F238E27FC236}">
                <a16:creationId xmlns:a16="http://schemas.microsoft.com/office/drawing/2014/main" id="{252CE269-A93F-E31D-D57B-D86E7E8B8589}"/>
              </a:ext>
            </a:extLst>
          </p:cNvPr>
          <p:cNvGraphicFramePr>
            <a:graphicFrameLocks noChangeAspect="1"/>
          </p:cNvGraphicFramePr>
          <p:nvPr>
            <p:custDataLst>
              <p:tags r:id="rId2"/>
            </p:custDataLst>
            <p:extLst>
              <p:ext uri="{D42A27DB-BD31-4B8C-83A1-F6EECF244321}">
                <p14:modId xmlns:p14="http://schemas.microsoft.com/office/powerpoint/2010/main" val="26090554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7" imgH="348" progId="TCLayout.ActiveDocument.1">
                  <p:embed/>
                </p:oleObj>
              </mc:Choice>
              <mc:Fallback>
                <p:oleObj name="think-cell Slide" r:id="rId6"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2" name="Rectangle 31">
            <a:extLst>
              <a:ext uri="{FF2B5EF4-FFF2-40B4-BE49-F238E27FC236}">
                <a16:creationId xmlns:a16="http://schemas.microsoft.com/office/drawing/2014/main" id="{2A06D10A-1E99-066E-ED66-638E0B17A38B}"/>
              </a:ext>
            </a:extLst>
          </p:cNvPr>
          <p:cNvSpPr/>
          <p:nvPr/>
        </p:nvSpPr>
        <p:spPr>
          <a:xfrm>
            <a:off x="5630544" y="3036728"/>
            <a:ext cx="5533641" cy="918526"/>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p>
        </p:txBody>
      </p:sp>
      <p:sp>
        <p:nvSpPr>
          <p:cNvPr id="2" name="Title 1">
            <a:extLst>
              <a:ext uri="{FF2B5EF4-FFF2-40B4-BE49-F238E27FC236}">
                <a16:creationId xmlns:a16="http://schemas.microsoft.com/office/drawing/2014/main" id="{CDC4922B-20F2-DB7D-FAC8-3A5769D8408B}"/>
              </a:ext>
            </a:extLst>
          </p:cNvPr>
          <p:cNvSpPr>
            <a:spLocks noGrp="1"/>
          </p:cNvSpPr>
          <p:nvPr>
            <p:ph type="title"/>
          </p:nvPr>
        </p:nvSpPr>
        <p:spPr>
          <a:xfrm>
            <a:off x="558800" y="635000"/>
            <a:ext cx="11087100" cy="838200"/>
          </a:xfrm>
        </p:spPr>
        <p:txBody>
          <a:bodyPr vert="horz" rIns="0" anchor="t" anchorCtr="0"/>
          <a:lstStyle/>
          <a:p>
            <a:r>
              <a:rPr lang="en-US"/>
              <a:t>Charts should contain explanatory titles, subtitles on methodology, and sources so that the reader gets the full picture</a:t>
            </a:r>
          </a:p>
        </p:txBody>
      </p:sp>
      <p:sp>
        <p:nvSpPr>
          <p:cNvPr id="5" name="Rectangle 4">
            <a:extLst>
              <a:ext uri="{FF2B5EF4-FFF2-40B4-BE49-F238E27FC236}">
                <a16:creationId xmlns:a16="http://schemas.microsoft.com/office/drawing/2014/main" id="{498096C2-3EE5-2676-9237-D155CA8B8DA4}"/>
              </a:ext>
            </a:extLst>
          </p:cNvPr>
          <p:cNvSpPr/>
          <p:nvPr/>
        </p:nvSpPr>
        <p:spPr>
          <a:xfrm>
            <a:off x="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THINK</a:t>
            </a:r>
            <a:endParaRPr lang="en-US" sz="1100" dirty="0"/>
          </a:p>
        </p:txBody>
      </p:sp>
      <p:sp>
        <p:nvSpPr>
          <p:cNvPr id="8" name="Rectangle 7">
            <a:extLst>
              <a:ext uri="{FF2B5EF4-FFF2-40B4-BE49-F238E27FC236}">
                <a16:creationId xmlns:a16="http://schemas.microsoft.com/office/drawing/2014/main" id="{66FA3BAC-8A42-DDAC-2F81-28C86B275CCF}"/>
              </a:ext>
            </a:extLst>
          </p:cNvPr>
          <p:cNvSpPr/>
          <p:nvPr/>
        </p:nvSpPr>
        <p:spPr>
          <a:xfrm>
            <a:off x="73152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AI WORKFLOW</a:t>
            </a:r>
            <a:endParaRPr lang="en-US" sz="1100" dirty="0"/>
          </a:p>
        </p:txBody>
      </p:sp>
      <p:sp>
        <p:nvSpPr>
          <p:cNvPr id="48" name="Rectangle 48"/>
          <p:cNvSpPr/>
          <p:nvPr/>
        </p:nvSpPr>
        <p:spPr>
          <a:xfrm>
            <a:off x="97536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QUALITY &amp; DATA</a:t>
            </a:r>
            <a:endParaRPr lang="en-US" sz="1100" dirty="0"/>
          </a:p>
        </p:txBody>
      </p:sp>
      <p:sp>
        <p:nvSpPr>
          <p:cNvPr id="18" name="Rectangle 17">
            <a:extLst>
              <a:ext uri="{FF2B5EF4-FFF2-40B4-BE49-F238E27FC236}">
                <a16:creationId xmlns:a16="http://schemas.microsoft.com/office/drawing/2014/main" id="{DCB4D1DB-B81B-C4C5-0616-56EBAA9E5D9C}"/>
              </a:ext>
            </a:extLst>
          </p:cNvPr>
          <p:cNvSpPr/>
          <p:nvPr/>
        </p:nvSpPr>
        <p:spPr>
          <a:xfrm>
            <a:off x="24384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DECK</a:t>
            </a:r>
            <a:endParaRPr lang="en-US" sz="1100" dirty="0"/>
          </a:p>
        </p:txBody>
      </p:sp>
      <p:sp>
        <p:nvSpPr>
          <p:cNvPr id="20" name="Rectangle 19">
            <a:extLst>
              <a:ext uri="{FF2B5EF4-FFF2-40B4-BE49-F238E27FC236}">
                <a16:creationId xmlns:a16="http://schemas.microsoft.com/office/drawing/2014/main" id="{864233AD-24D3-B853-8C7C-1A20B98D9AB4}"/>
              </a:ext>
            </a:extLst>
          </p:cNvPr>
          <p:cNvSpPr/>
          <p:nvPr/>
        </p:nvSpPr>
        <p:spPr>
          <a:xfrm>
            <a:off x="4876800" y="-1"/>
            <a:ext cx="2438400" cy="29198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PAGE</a:t>
            </a:r>
            <a:endParaRPr lang="en-US" sz="1100" dirty="0"/>
          </a:p>
        </p:txBody>
      </p:sp>
      <p:sp>
        <p:nvSpPr>
          <p:cNvPr id="3" name="Title 1">
            <a:extLst>
              <a:ext uri="{FF2B5EF4-FFF2-40B4-BE49-F238E27FC236}">
                <a16:creationId xmlns:a16="http://schemas.microsoft.com/office/drawing/2014/main" id="{4D634B39-F2A5-23A3-3BBE-5A02227E3438}"/>
              </a:ext>
            </a:extLst>
          </p:cNvPr>
          <p:cNvSpPr txBox="1">
            <a:spLocks/>
          </p:cNvSpPr>
          <p:nvPr/>
        </p:nvSpPr>
        <p:spPr>
          <a:xfrm>
            <a:off x="5680917" y="2130320"/>
            <a:ext cx="5636997" cy="566128"/>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a:t>Affordability and access cited as top factors, brand name ranked last </a:t>
            </a:r>
          </a:p>
        </p:txBody>
      </p:sp>
      <p:sp>
        <p:nvSpPr>
          <p:cNvPr id="7" name="Title 1">
            <a:extLst>
              <a:ext uri="{FF2B5EF4-FFF2-40B4-BE49-F238E27FC236}">
                <a16:creationId xmlns:a16="http://schemas.microsoft.com/office/drawing/2014/main" id="{D838B3CA-071C-982A-4A8E-1BE15EF21494}"/>
              </a:ext>
            </a:extLst>
          </p:cNvPr>
          <p:cNvSpPr txBox="1">
            <a:spLocks/>
          </p:cNvSpPr>
          <p:nvPr/>
        </p:nvSpPr>
        <p:spPr>
          <a:xfrm>
            <a:off x="5680917" y="2713524"/>
            <a:ext cx="5812878" cy="301453"/>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200">
                <a:solidFill>
                  <a:schemeClr val="bg1">
                    <a:lumMod val="50000"/>
                  </a:schemeClr>
                </a:solidFill>
              </a:rPr>
              <a:t>% respondents selecting attribute; select top 3; 5 out of 13 attributes shown; n=300</a:t>
            </a:r>
          </a:p>
        </p:txBody>
      </p:sp>
      <p:sp>
        <p:nvSpPr>
          <p:cNvPr id="10" name="Title 1">
            <a:extLst>
              <a:ext uri="{FF2B5EF4-FFF2-40B4-BE49-F238E27FC236}">
                <a16:creationId xmlns:a16="http://schemas.microsoft.com/office/drawing/2014/main" id="{67B795BA-341A-5FC4-F8D5-7B8A1FF4583D}"/>
              </a:ext>
            </a:extLst>
          </p:cNvPr>
          <p:cNvSpPr txBox="1">
            <a:spLocks/>
          </p:cNvSpPr>
          <p:nvPr/>
        </p:nvSpPr>
        <p:spPr>
          <a:xfrm>
            <a:off x="5662443" y="5665940"/>
            <a:ext cx="5439661" cy="20320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000">
                <a:solidFill>
                  <a:schemeClr val="bg1">
                    <a:lumMod val="50000"/>
                  </a:schemeClr>
                </a:solidFill>
              </a:rPr>
              <a:t>Source: Consumer survey 2026</a:t>
            </a:r>
          </a:p>
        </p:txBody>
      </p:sp>
      <p:sp>
        <p:nvSpPr>
          <p:cNvPr id="15" name="Rectangle 14">
            <a:extLst>
              <a:ext uri="{FF2B5EF4-FFF2-40B4-BE49-F238E27FC236}">
                <a16:creationId xmlns:a16="http://schemas.microsoft.com/office/drawing/2014/main" id="{87BB4CAD-B0C6-F0D1-6B98-5A0670EAD20F}"/>
              </a:ext>
            </a:extLst>
          </p:cNvPr>
          <p:cNvSpPr/>
          <p:nvPr/>
        </p:nvSpPr>
        <p:spPr>
          <a:xfrm>
            <a:off x="7749309" y="3113122"/>
            <a:ext cx="3057234" cy="30145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78%</a:t>
            </a:r>
            <a:endParaRPr lang="en-US" sz="1400" dirty="0" err="1"/>
          </a:p>
        </p:txBody>
      </p:sp>
      <p:cxnSp>
        <p:nvCxnSpPr>
          <p:cNvPr id="19" name="Straight Connector 18">
            <a:extLst>
              <a:ext uri="{FF2B5EF4-FFF2-40B4-BE49-F238E27FC236}">
                <a16:creationId xmlns:a16="http://schemas.microsoft.com/office/drawing/2014/main" id="{391C195E-74BA-C46A-1F50-C465C19854A0}"/>
              </a:ext>
            </a:extLst>
          </p:cNvPr>
          <p:cNvCxnSpPr>
            <a:cxnSpLocks/>
          </p:cNvCxnSpPr>
          <p:nvPr/>
        </p:nvCxnSpPr>
        <p:spPr>
          <a:xfrm>
            <a:off x="7749308" y="2955066"/>
            <a:ext cx="0" cy="2549237"/>
          </a:xfrm>
          <a:prstGeom prst="line">
            <a:avLst/>
          </a:prstGeom>
          <a:ln w="9525">
            <a:solidFill>
              <a:schemeClr val="bg1">
                <a:lumMod val="50000"/>
              </a:schemeClr>
            </a:solidFill>
          </a:ln>
        </p:spPr>
        <p:style>
          <a:lnRef idx="1">
            <a:schemeClr val="dk1"/>
          </a:lnRef>
          <a:fillRef idx="0">
            <a:schemeClr val="dk1"/>
          </a:fillRef>
          <a:effectRef idx="0">
            <a:schemeClr val="dk1"/>
          </a:effectRef>
          <a:fontRef idx="minor">
            <a:schemeClr val="tx1"/>
          </a:fontRef>
        </p:style>
      </p:cxnSp>
      <p:sp>
        <p:nvSpPr>
          <p:cNvPr id="22" name="Rectangle 21">
            <a:extLst>
              <a:ext uri="{FF2B5EF4-FFF2-40B4-BE49-F238E27FC236}">
                <a16:creationId xmlns:a16="http://schemas.microsoft.com/office/drawing/2014/main" id="{887A669E-04CD-0FC4-EE4E-8AB492F4A6E8}"/>
              </a:ext>
            </a:extLst>
          </p:cNvPr>
          <p:cNvSpPr/>
          <p:nvPr/>
        </p:nvSpPr>
        <p:spPr>
          <a:xfrm>
            <a:off x="7749309" y="3564349"/>
            <a:ext cx="2955635" cy="30145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76%</a:t>
            </a:r>
            <a:endParaRPr lang="en-US" sz="1400" dirty="0" err="1"/>
          </a:p>
        </p:txBody>
      </p:sp>
      <p:sp>
        <p:nvSpPr>
          <p:cNvPr id="23" name="Rectangle 22">
            <a:extLst>
              <a:ext uri="{FF2B5EF4-FFF2-40B4-BE49-F238E27FC236}">
                <a16:creationId xmlns:a16="http://schemas.microsoft.com/office/drawing/2014/main" id="{D7E15A83-2B4A-D094-11AC-0980D146A679}"/>
              </a:ext>
            </a:extLst>
          </p:cNvPr>
          <p:cNvSpPr/>
          <p:nvPr/>
        </p:nvSpPr>
        <p:spPr>
          <a:xfrm>
            <a:off x="7749310" y="4027439"/>
            <a:ext cx="2558470" cy="30145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60%</a:t>
            </a:r>
            <a:endParaRPr lang="en-US" sz="1400" dirty="0" err="1"/>
          </a:p>
        </p:txBody>
      </p:sp>
      <p:sp>
        <p:nvSpPr>
          <p:cNvPr id="24" name="Rectangle 23">
            <a:extLst>
              <a:ext uri="{FF2B5EF4-FFF2-40B4-BE49-F238E27FC236}">
                <a16:creationId xmlns:a16="http://schemas.microsoft.com/office/drawing/2014/main" id="{F7CB4E9E-31E7-8B26-CF37-BC42276E0C34}"/>
              </a:ext>
            </a:extLst>
          </p:cNvPr>
          <p:cNvSpPr/>
          <p:nvPr/>
        </p:nvSpPr>
        <p:spPr>
          <a:xfrm>
            <a:off x="7749309" y="4490529"/>
            <a:ext cx="2346035" cy="30145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55%</a:t>
            </a:r>
            <a:endParaRPr lang="en-US" sz="1400" dirty="0" err="1"/>
          </a:p>
        </p:txBody>
      </p:sp>
      <p:sp>
        <p:nvSpPr>
          <p:cNvPr id="25" name="Rectangle 24">
            <a:extLst>
              <a:ext uri="{FF2B5EF4-FFF2-40B4-BE49-F238E27FC236}">
                <a16:creationId xmlns:a16="http://schemas.microsoft.com/office/drawing/2014/main" id="{138971A1-649C-AB7C-F4A5-DCA04952498F}"/>
              </a:ext>
            </a:extLst>
          </p:cNvPr>
          <p:cNvSpPr/>
          <p:nvPr/>
        </p:nvSpPr>
        <p:spPr>
          <a:xfrm>
            <a:off x="7749309" y="4942240"/>
            <a:ext cx="914399" cy="30145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23%</a:t>
            </a:r>
            <a:endParaRPr lang="en-US" sz="1400" dirty="0" err="1"/>
          </a:p>
        </p:txBody>
      </p:sp>
      <p:sp>
        <p:nvSpPr>
          <p:cNvPr id="27" name="Title 1">
            <a:extLst>
              <a:ext uri="{FF2B5EF4-FFF2-40B4-BE49-F238E27FC236}">
                <a16:creationId xmlns:a16="http://schemas.microsoft.com/office/drawing/2014/main" id="{C01CE66E-BA62-8748-13EE-531665877246}"/>
              </a:ext>
            </a:extLst>
          </p:cNvPr>
          <p:cNvSpPr txBox="1">
            <a:spLocks/>
          </p:cNvSpPr>
          <p:nvPr/>
        </p:nvSpPr>
        <p:spPr>
          <a:xfrm>
            <a:off x="5680917" y="3113121"/>
            <a:ext cx="1911373" cy="301453"/>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a:t>Affordability</a:t>
            </a:r>
          </a:p>
        </p:txBody>
      </p:sp>
      <p:sp>
        <p:nvSpPr>
          <p:cNvPr id="28" name="Title 1">
            <a:extLst>
              <a:ext uri="{FF2B5EF4-FFF2-40B4-BE49-F238E27FC236}">
                <a16:creationId xmlns:a16="http://schemas.microsoft.com/office/drawing/2014/main" id="{8EFC9F16-D465-CEDF-D448-6A3238FB8E50}"/>
              </a:ext>
            </a:extLst>
          </p:cNvPr>
          <p:cNvSpPr txBox="1">
            <a:spLocks/>
          </p:cNvSpPr>
          <p:nvPr/>
        </p:nvSpPr>
        <p:spPr>
          <a:xfrm>
            <a:off x="5680917" y="3585448"/>
            <a:ext cx="1911373" cy="301453"/>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a:t>Access</a:t>
            </a:r>
          </a:p>
        </p:txBody>
      </p:sp>
      <p:sp>
        <p:nvSpPr>
          <p:cNvPr id="29" name="Title 1">
            <a:extLst>
              <a:ext uri="{FF2B5EF4-FFF2-40B4-BE49-F238E27FC236}">
                <a16:creationId xmlns:a16="http://schemas.microsoft.com/office/drawing/2014/main" id="{371EDF07-C619-3014-8B52-A5FA23AF69F0}"/>
              </a:ext>
            </a:extLst>
          </p:cNvPr>
          <p:cNvSpPr txBox="1">
            <a:spLocks/>
          </p:cNvSpPr>
          <p:nvPr/>
        </p:nvSpPr>
        <p:spPr>
          <a:xfrm>
            <a:off x="5680917" y="4054682"/>
            <a:ext cx="1911373" cy="301453"/>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a:t>Cost</a:t>
            </a:r>
          </a:p>
        </p:txBody>
      </p:sp>
      <p:sp>
        <p:nvSpPr>
          <p:cNvPr id="30" name="Title 1">
            <a:extLst>
              <a:ext uri="{FF2B5EF4-FFF2-40B4-BE49-F238E27FC236}">
                <a16:creationId xmlns:a16="http://schemas.microsoft.com/office/drawing/2014/main" id="{4BD74664-A0A1-EB23-75AA-F75CDEE3A72D}"/>
              </a:ext>
            </a:extLst>
          </p:cNvPr>
          <p:cNvSpPr txBox="1">
            <a:spLocks/>
          </p:cNvSpPr>
          <p:nvPr/>
        </p:nvSpPr>
        <p:spPr>
          <a:xfrm>
            <a:off x="5680917" y="4522144"/>
            <a:ext cx="1911373" cy="301453"/>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a:t>Personalization</a:t>
            </a:r>
          </a:p>
        </p:txBody>
      </p:sp>
      <p:sp>
        <p:nvSpPr>
          <p:cNvPr id="31" name="Title 1">
            <a:extLst>
              <a:ext uri="{FF2B5EF4-FFF2-40B4-BE49-F238E27FC236}">
                <a16:creationId xmlns:a16="http://schemas.microsoft.com/office/drawing/2014/main" id="{40C64E3C-EBA8-7272-D742-4793936016DE}"/>
              </a:ext>
            </a:extLst>
          </p:cNvPr>
          <p:cNvSpPr txBox="1">
            <a:spLocks/>
          </p:cNvSpPr>
          <p:nvPr/>
        </p:nvSpPr>
        <p:spPr>
          <a:xfrm>
            <a:off x="5680917" y="5004183"/>
            <a:ext cx="1911373" cy="301453"/>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a:t>Brand name</a:t>
            </a:r>
          </a:p>
        </p:txBody>
      </p:sp>
      <p:sp>
        <p:nvSpPr>
          <p:cNvPr id="34" name="Rectangle: Rounded Corners 33">
            <a:extLst>
              <a:ext uri="{FF2B5EF4-FFF2-40B4-BE49-F238E27FC236}">
                <a16:creationId xmlns:a16="http://schemas.microsoft.com/office/drawing/2014/main" id="{731CE327-D058-D0D8-2DAC-97BBCBAB75D0}"/>
              </a:ext>
            </a:extLst>
          </p:cNvPr>
          <p:cNvSpPr/>
          <p:nvPr/>
        </p:nvSpPr>
        <p:spPr>
          <a:xfrm>
            <a:off x="554736" y="2130320"/>
            <a:ext cx="3924900" cy="566128"/>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rPr>
              <a:t>Title summarizes takeaway</a:t>
            </a:r>
            <a:endParaRPr lang="en-US" sz="1600" dirty="0" err="1">
              <a:solidFill>
                <a:schemeClr val="tx1"/>
              </a:solidFill>
            </a:endParaRPr>
          </a:p>
        </p:txBody>
      </p:sp>
      <p:sp>
        <p:nvSpPr>
          <p:cNvPr id="35" name="Rectangle: Rounded Corners 34">
            <a:extLst>
              <a:ext uri="{FF2B5EF4-FFF2-40B4-BE49-F238E27FC236}">
                <a16:creationId xmlns:a16="http://schemas.microsoft.com/office/drawing/2014/main" id="{283F4A93-3D72-9406-052A-1821AD5CECF7}"/>
              </a:ext>
            </a:extLst>
          </p:cNvPr>
          <p:cNvSpPr/>
          <p:nvPr/>
        </p:nvSpPr>
        <p:spPr>
          <a:xfrm>
            <a:off x="554736" y="2960777"/>
            <a:ext cx="3924900" cy="566128"/>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rPr>
              <a:t>Subtitle explains metrics, endcount</a:t>
            </a:r>
            <a:endParaRPr lang="en-US" sz="1600" dirty="0" err="1">
              <a:solidFill>
                <a:schemeClr val="tx1"/>
              </a:solidFill>
            </a:endParaRPr>
          </a:p>
        </p:txBody>
      </p:sp>
      <p:sp>
        <p:nvSpPr>
          <p:cNvPr id="36" name="Rectangle: Rounded Corners 35">
            <a:extLst>
              <a:ext uri="{FF2B5EF4-FFF2-40B4-BE49-F238E27FC236}">
                <a16:creationId xmlns:a16="http://schemas.microsoft.com/office/drawing/2014/main" id="{C2C89B77-CB28-93C6-E2DB-C5E2DEC4C5D8}"/>
              </a:ext>
            </a:extLst>
          </p:cNvPr>
          <p:cNvSpPr/>
          <p:nvPr/>
        </p:nvSpPr>
        <p:spPr>
          <a:xfrm>
            <a:off x="554736" y="3791234"/>
            <a:ext cx="3924900" cy="566128"/>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rPr>
              <a:t>Colored highlight draws attention</a:t>
            </a:r>
            <a:endParaRPr lang="en-US" sz="1600" dirty="0" err="1">
              <a:solidFill>
                <a:schemeClr val="tx1"/>
              </a:solidFill>
            </a:endParaRPr>
          </a:p>
        </p:txBody>
      </p:sp>
      <p:sp>
        <p:nvSpPr>
          <p:cNvPr id="37" name="Rectangle: Rounded Corners 36">
            <a:extLst>
              <a:ext uri="{FF2B5EF4-FFF2-40B4-BE49-F238E27FC236}">
                <a16:creationId xmlns:a16="http://schemas.microsoft.com/office/drawing/2014/main" id="{D48E9032-750F-568A-27EF-4B10E2B6F444}"/>
              </a:ext>
            </a:extLst>
          </p:cNvPr>
          <p:cNvSpPr/>
          <p:nvPr/>
        </p:nvSpPr>
        <p:spPr>
          <a:xfrm>
            <a:off x="554736" y="4621691"/>
            <a:ext cx="3924900" cy="566128"/>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rPr>
              <a:t>Attributes left-aligned, percentages in the middle of bar</a:t>
            </a:r>
            <a:endParaRPr lang="en-US" sz="1600" dirty="0" err="1">
              <a:solidFill>
                <a:schemeClr val="tx1"/>
              </a:solidFill>
            </a:endParaRPr>
          </a:p>
        </p:txBody>
      </p:sp>
      <p:sp>
        <p:nvSpPr>
          <p:cNvPr id="38" name="Rectangle: Rounded Corners 37">
            <a:extLst>
              <a:ext uri="{FF2B5EF4-FFF2-40B4-BE49-F238E27FC236}">
                <a16:creationId xmlns:a16="http://schemas.microsoft.com/office/drawing/2014/main" id="{703BBAEC-7FF7-4C4A-B00C-BDEA56279F52}"/>
              </a:ext>
            </a:extLst>
          </p:cNvPr>
          <p:cNvSpPr/>
          <p:nvPr/>
        </p:nvSpPr>
        <p:spPr>
          <a:xfrm>
            <a:off x="554736" y="5452148"/>
            <a:ext cx="3924900" cy="566128"/>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rPr>
              <a:t>Source in the footnotes</a:t>
            </a:r>
            <a:endParaRPr lang="en-US" sz="1600" dirty="0" err="1">
              <a:solidFill>
                <a:schemeClr val="tx1"/>
              </a:solidFill>
            </a:endParaRPr>
          </a:p>
        </p:txBody>
      </p:sp>
      <p:cxnSp>
        <p:nvCxnSpPr>
          <p:cNvPr id="40" name="Straight Connector 39">
            <a:extLst>
              <a:ext uri="{FF2B5EF4-FFF2-40B4-BE49-F238E27FC236}">
                <a16:creationId xmlns:a16="http://schemas.microsoft.com/office/drawing/2014/main" id="{BF03988A-A53C-3343-E31E-0FF5710AFE51}"/>
              </a:ext>
            </a:extLst>
          </p:cNvPr>
          <p:cNvCxnSpPr>
            <a:stCxn id="34" idx="3"/>
          </p:cNvCxnSpPr>
          <p:nvPr/>
        </p:nvCxnSpPr>
        <p:spPr>
          <a:xfrm>
            <a:off x="4479636" y="2413384"/>
            <a:ext cx="1071419" cy="0"/>
          </a:xfrm>
          <a:prstGeom prst="line">
            <a:avLst/>
          </a:prstGeom>
          <a:ln w="9525">
            <a:solidFill>
              <a:schemeClr val="bg1">
                <a:lumMod val="50000"/>
              </a:schemeClr>
            </a:solidFill>
            <a:prstDash val="dash"/>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16A29D51-1482-C41B-B69F-C412AB73C775}"/>
              </a:ext>
            </a:extLst>
          </p:cNvPr>
          <p:cNvCxnSpPr>
            <a:cxnSpLocks/>
          </p:cNvCxnSpPr>
          <p:nvPr/>
        </p:nvCxnSpPr>
        <p:spPr>
          <a:xfrm>
            <a:off x="4479636" y="5737991"/>
            <a:ext cx="1006485" cy="3278"/>
          </a:xfrm>
          <a:prstGeom prst="line">
            <a:avLst/>
          </a:prstGeom>
          <a:ln w="9525">
            <a:solidFill>
              <a:schemeClr val="bg1">
                <a:lumMod val="50000"/>
              </a:schemeClr>
            </a:solidFill>
            <a:prstDash val="dash"/>
          </a:ln>
        </p:spPr>
        <p:style>
          <a:lnRef idx="1">
            <a:schemeClr val="dk1"/>
          </a:lnRef>
          <a:fillRef idx="0">
            <a:schemeClr val="dk1"/>
          </a:fillRef>
          <a:effectRef idx="0">
            <a:schemeClr val="dk1"/>
          </a:effectRef>
          <a:fontRef idx="minor">
            <a:schemeClr val="tx1"/>
          </a:fontRef>
        </p:style>
      </p:cxnSp>
      <p:cxnSp>
        <p:nvCxnSpPr>
          <p:cNvPr id="4" name="Connector: Elbow 3">
            <a:extLst>
              <a:ext uri="{FF2B5EF4-FFF2-40B4-BE49-F238E27FC236}">
                <a16:creationId xmlns:a16="http://schemas.microsoft.com/office/drawing/2014/main" id="{BBEF2B1D-16C8-F894-D4A1-CAE54C6A2CB0}"/>
              </a:ext>
            </a:extLst>
          </p:cNvPr>
          <p:cNvCxnSpPr>
            <a:cxnSpLocks/>
            <a:stCxn id="35" idx="3"/>
          </p:cNvCxnSpPr>
          <p:nvPr/>
        </p:nvCxnSpPr>
        <p:spPr>
          <a:xfrm flipV="1">
            <a:off x="4479636" y="2841078"/>
            <a:ext cx="1103869" cy="402763"/>
          </a:xfrm>
          <a:prstGeom prst="bentConnector3">
            <a:avLst/>
          </a:prstGeom>
          <a:ln w="9525">
            <a:solidFill>
              <a:schemeClr val="bg1">
                <a:lumMod val="50000"/>
              </a:schemeClr>
            </a:solidFill>
            <a:prstDash val="dash"/>
          </a:ln>
        </p:spPr>
        <p:style>
          <a:lnRef idx="1">
            <a:schemeClr val="dk1"/>
          </a:lnRef>
          <a:fillRef idx="0">
            <a:schemeClr val="dk1"/>
          </a:fillRef>
          <a:effectRef idx="0">
            <a:schemeClr val="dk1"/>
          </a:effectRef>
          <a:fontRef idx="minor">
            <a:schemeClr val="tx1"/>
          </a:fontRef>
        </p:style>
      </p:cxnSp>
      <p:cxnSp>
        <p:nvCxnSpPr>
          <p:cNvPr id="11" name="Connector: Elbow 10">
            <a:extLst>
              <a:ext uri="{FF2B5EF4-FFF2-40B4-BE49-F238E27FC236}">
                <a16:creationId xmlns:a16="http://schemas.microsoft.com/office/drawing/2014/main" id="{B6721566-45D4-A647-8CEB-C967169AC89D}"/>
              </a:ext>
            </a:extLst>
          </p:cNvPr>
          <p:cNvCxnSpPr>
            <a:cxnSpLocks/>
            <a:stCxn id="36" idx="3"/>
            <a:endCxn id="27" idx="1"/>
          </p:cNvCxnSpPr>
          <p:nvPr/>
        </p:nvCxnSpPr>
        <p:spPr>
          <a:xfrm flipV="1">
            <a:off x="4479636" y="3263848"/>
            <a:ext cx="1201281" cy="810450"/>
          </a:xfrm>
          <a:prstGeom prst="bentConnector3">
            <a:avLst>
              <a:gd name="adj1" fmla="val 59417"/>
            </a:avLst>
          </a:prstGeom>
          <a:ln w="9525">
            <a:solidFill>
              <a:schemeClr val="bg1">
                <a:lumMod val="50000"/>
              </a:schemeClr>
            </a:solidFill>
            <a:prstDash val="dash"/>
          </a:ln>
        </p:spPr>
        <p:style>
          <a:lnRef idx="1">
            <a:schemeClr val="dk1"/>
          </a:lnRef>
          <a:fillRef idx="0">
            <a:schemeClr val="dk1"/>
          </a:fillRef>
          <a:effectRef idx="0">
            <a:schemeClr val="dk1"/>
          </a:effectRef>
          <a:fontRef idx="minor">
            <a:schemeClr val="tx1"/>
          </a:fontRef>
        </p:style>
      </p:cxnSp>
      <p:cxnSp>
        <p:nvCxnSpPr>
          <p:cNvPr id="17" name="Connector: Elbow 16">
            <a:extLst>
              <a:ext uri="{FF2B5EF4-FFF2-40B4-BE49-F238E27FC236}">
                <a16:creationId xmlns:a16="http://schemas.microsoft.com/office/drawing/2014/main" id="{AE5CDDC6-3F3E-95A7-7B66-B0946A62FB03}"/>
              </a:ext>
            </a:extLst>
          </p:cNvPr>
          <p:cNvCxnSpPr>
            <a:cxnSpLocks/>
            <a:stCxn id="37" idx="3"/>
            <a:endCxn id="23" idx="1"/>
          </p:cNvCxnSpPr>
          <p:nvPr/>
        </p:nvCxnSpPr>
        <p:spPr>
          <a:xfrm flipV="1">
            <a:off x="4479636" y="4178166"/>
            <a:ext cx="3269674" cy="726589"/>
          </a:xfrm>
          <a:prstGeom prst="bentConnector3">
            <a:avLst>
              <a:gd name="adj1" fmla="val 84885"/>
            </a:avLst>
          </a:prstGeom>
          <a:ln w="9525">
            <a:solidFill>
              <a:schemeClr val="bg1">
                <a:lumMod val="50000"/>
              </a:schemeClr>
            </a:solidFill>
            <a:prstDash val="dash"/>
          </a:ln>
        </p:spPr>
        <p:style>
          <a:lnRef idx="1">
            <a:schemeClr val="dk1"/>
          </a:lnRef>
          <a:fillRef idx="0">
            <a:schemeClr val="dk1"/>
          </a:fillRef>
          <a:effectRef idx="0">
            <a:schemeClr val="dk1"/>
          </a:effectRef>
          <a:fontRef idx="minor">
            <a:schemeClr val="tx1"/>
          </a:fontRef>
        </p:style>
      </p:cxnSp>
      <p:sp>
        <p:nvSpPr>
          <p:cNvPr id="6" name="Title 1">
            <a:extLst>
              <a:ext uri="{FF2B5EF4-FFF2-40B4-BE49-F238E27FC236}">
                <a16:creationId xmlns:a16="http://schemas.microsoft.com/office/drawing/2014/main" id="{B6C8864C-2EAB-75C4-E91F-453268F4013C}"/>
              </a:ext>
            </a:extLst>
          </p:cNvPr>
          <p:cNvSpPr txBox="1">
            <a:spLocks/>
          </p:cNvSpPr>
          <p:nvPr/>
        </p:nvSpPr>
        <p:spPr>
          <a:xfrm>
            <a:off x="554736" y="1784788"/>
            <a:ext cx="1832246" cy="213368"/>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400">
                <a:solidFill>
                  <a:schemeClr val="accent5"/>
                </a:solidFill>
              </a:rPr>
              <a:t>STYLE GUIDE</a:t>
            </a:r>
          </a:p>
        </p:txBody>
      </p:sp>
      <p:sp>
        <p:nvSpPr>
          <p:cNvPr id="9" name="Title 1">
            <a:extLst>
              <a:ext uri="{FF2B5EF4-FFF2-40B4-BE49-F238E27FC236}">
                <a16:creationId xmlns:a16="http://schemas.microsoft.com/office/drawing/2014/main" id="{3F93BB22-B6AE-3893-95A5-30685A82CC45}"/>
              </a:ext>
            </a:extLst>
          </p:cNvPr>
          <p:cNvSpPr txBox="1">
            <a:spLocks/>
          </p:cNvSpPr>
          <p:nvPr/>
        </p:nvSpPr>
        <p:spPr>
          <a:xfrm>
            <a:off x="5680917" y="1784788"/>
            <a:ext cx="1832246" cy="213368"/>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400">
                <a:solidFill>
                  <a:schemeClr val="accent5"/>
                </a:solidFill>
              </a:rPr>
              <a:t>EXAMPLE</a:t>
            </a:r>
          </a:p>
        </p:txBody>
      </p:sp>
    </p:spTree>
    <p:extLst>
      <p:ext uri="{BB962C8B-B14F-4D97-AF65-F5344CB8AC3E}">
        <p14:creationId xmlns:p14="http://schemas.microsoft.com/office/powerpoint/2010/main" val="34142343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3D974-1FF6-E43B-F31B-D53E5DE3B171}"/>
            </a:ext>
          </a:extLst>
        </p:cNvPr>
        <p:cNvGrpSpPr/>
        <p:nvPr/>
      </p:nvGrpSpPr>
      <p:grpSpPr>
        <a:xfrm>
          <a:off x="0" y="0"/>
          <a:ext cx="0" cy="0"/>
          <a:chOff x="0" y="0"/>
          <a:chExt cx="0" cy="0"/>
        </a:xfrm>
      </p:grpSpPr>
      <p:graphicFrame>
        <p:nvGraphicFramePr>
          <p:cNvPr id="32" name="think-cell data - do not delete" hidden="1">
            <a:extLst>
              <a:ext uri="{FF2B5EF4-FFF2-40B4-BE49-F238E27FC236}">
                <a16:creationId xmlns:a16="http://schemas.microsoft.com/office/drawing/2014/main" id="{BAC8F488-7FFC-7CA8-BC10-DCE5CA1C4062}"/>
              </a:ext>
            </a:extLst>
          </p:cNvPr>
          <p:cNvGraphicFramePr>
            <a:graphicFrameLocks/>
          </p:cNvGraphicFramePr>
          <p:nvPr>
            <p:custDataLst>
              <p:tags r:id="rId1"/>
            </p:custDataLst>
            <p:extLst>
              <p:ext uri="{D42A27DB-BD31-4B8C-83A1-F6EECF244321}">
                <p14:modId xmlns:p14="http://schemas.microsoft.com/office/powerpoint/2010/main" val="19147424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1" name="think-cell data - do not delete" hidden="1">
            <a:extLst>
              <a:ext uri="{FF2B5EF4-FFF2-40B4-BE49-F238E27FC236}">
                <a16:creationId xmlns:a16="http://schemas.microsoft.com/office/drawing/2014/main" id="{B58EA7ED-9BCD-3428-0CF1-4E722425B2AB}"/>
              </a:ext>
            </a:extLst>
          </p:cNvPr>
          <p:cNvGraphicFramePr>
            <a:graphicFrameLocks noChangeAspect="1"/>
          </p:cNvGraphicFramePr>
          <p:nvPr>
            <p:custDataLst>
              <p:tags r:id="rId2"/>
            </p:custDataLst>
            <p:extLst>
              <p:ext uri="{D42A27DB-BD31-4B8C-83A1-F6EECF244321}">
                <p14:modId xmlns:p14="http://schemas.microsoft.com/office/powerpoint/2010/main" val="11759379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7" imgH="348" progId="TCLayout.ActiveDocument.1">
                  <p:embed/>
                </p:oleObj>
              </mc:Choice>
              <mc:Fallback>
                <p:oleObj name="think-cell Slide" r:id="rId6"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7" name="Rectangle 26">
            <a:extLst>
              <a:ext uri="{FF2B5EF4-FFF2-40B4-BE49-F238E27FC236}">
                <a16:creationId xmlns:a16="http://schemas.microsoft.com/office/drawing/2014/main" id="{3F3E6215-AD0E-218D-8AB7-890355B8A01A}"/>
              </a:ext>
            </a:extLst>
          </p:cNvPr>
          <p:cNvSpPr/>
          <p:nvPr/>
        </p:nvSpPr>
        <p:spPr>
          <a:xfrm>
            <a:off x="562511" y="2177082"/>
            <a:ext cx="1875888" cy="105789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p>
        </p:txBody>
      </p:sp>
      <p:sp>
        <p:nvSpPr>
          <p:cNvPr id="15" name="Speech Bubble: Rectangle 14">
            <a:extLst>
              <a:ext uri="{FF2B5EF4-FFF2-40B4-BE49-F238E27FC236}">
                <a16:creationId xmlns:a16="http://schemas.microsoft.com/office/drawing/2014/main" id="{C05E2D97-2559-8C88-03AE-563810A3D833}"/>
              </a:ext>
            </a:extLst>
          </p:cNvPr>
          <p:cNvSpPr/>
          <p:nvPr/>
        </p:nvSpPr>
        <p:spPr>
          <a:xfrm>
            <a:off x="2656298" y="2180989"/>
            <a:ext cx="2675550" cy="907580"/>
          </a:xfrm>
          <a:prstGeom prst="wedgeRectCallout">
            <a:avLst>
              <a:gd name="adj1" fmla="val -20833"/>
              <a:gd name="adj2" fmla="val 6921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2" name="Title 1">
            <a:extLst>
              <a:ext uri="{FF2B5EF4-FFF2-40B4-BE49-F238E27FC236}">
                <a16:creationId xmlns:a16="http://schemas.microsoft.com/office/drawing/2014/main" id="{275D23E4-6E42-65EB-660D-801840B01B5A}"/>
              </a:ext>
            </a:extLst>
          </p:cNvPr>
          <p:cNvSpPr>
            <a:spLocks noGrp="1"/>
          </p:cNvSpPr>
          <p:nvPr>
            <p:ph type="title"/>
          </p:nvPr>
        </p:nvSpPr>
        <p:spPr>
          <a:xfrm>
            <a:off x="558800" y="635000"/>
            <a:ext cx="11087100" cy="838200"/>
          </a:xfrm>
        </p:spPr>
        <p:txBody>
          <a:bodyPr vert="horz" rIns="0" anchor="t" anchorCtr="0"/>
          <a:lstStyle/>
          <a:p>
            <a:r>
              <a:rPr lang="en-US"/>
              <a:t>Use page elements to provide visual cues and stickers to hedge</a:t>
            </a:r>
          </a:p>
        </p:txBody>
      </p:sp>
      <p:sp>
        <p:nvSpPr>
          <p:cNvPr id="5" name="Rectangle 4">
            <a:extLst>
              <a:ext uri="{FF2B5EF4-FFF2-40B4-BE49-F238E27FC236}">
                <a16:creationId xmlns:a16="http://schemas.microsoft.com/office/drawing/2014/main" id="{909DBB20-3186-6B35-9F80-D1E3BDFB417D}"/>
              </a:ext>
            </a:extLst>
          </p:cNvPr>
          <p:cNvSpPr/>
          <p:nvPr/>
        </p:nvSpPr>
        <p:spPr>
          <a:xfrm>
            <a:off x="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THINK</a:t>
            </a:r>
            <a:endParaRPr lang="en-US" sz="1100" dirty="0"/>
          </a:p>
        </p:txBody>
      </p:sp>
      <p:sp>
        <p:nvSpPr>
          <p:cNvPr id="8" name="Rectangle 7">
            <a:extLst>
              <a:ext uri="{FF2B5EF4-FFF2-40B4-BE49-F238E27FC236}">
                <a16:creationId xmlns:a16="http://schemas.microsoft.com/office/drawing/2014/main" id="{57F123E1-21D8-A2EA-6BC9-071CA462049F}"/>
              </a:ext>
            </a:extLst>
          </p:cNvPr>
          <p:cNvSpPr/>
          <p:nvPr/>
        </p:nvSpPr>
        <p:spPr>
          <a:xfrm>
            <a:off x="73152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AI WORKFLOW</a:t>
            </a:r>
            <a:endParaRPr lang="en-US" sz="1100" dirty="0"/>
          </a:p>
        </p:txBody>
      </p:sp>
      <p:sp>
        <p:nvSpPr>
          <p:cNvPr id="43" name="Rectangle 43"/>
          <p:cNvSpPr/>
          <p:nvPr/>
        </p:nvSpPr>
        <p:spPr>
          <a:xfrm>
            <a:off x="97536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QUALITY &amp; DATA</a:t>
            </a:r>
            <a:endParaRPr lang="en-US" sz="1100" dirty="0"/>
          </a:p>
        </p:txBody>
      </p:sp>
      <p:sp>
        <p:nvSpPr>
          <p:cNvPr id="14" name="Title 1">
            <a:extLst>
              <a:ext uri="{FF2B5EF4-FFF2-40B4-BE49-F238E27FC236}">
                <a16:creationId xmlns:a16="http://schemas.microsoft.com/office/drawing/2014/main" id="{5FC8381E-62E4-FB82-BA2C-9358665956BA}"/>
              </a:ext>
            </a:extLst>
          </p:cNvPr>
          <p:cNvSpPr txBox="1">
            <a:spLocks/>
          </p:cNvSpPr>
          <p:nvPr/>
        </p:nvSpPr>
        <p:spPr>
          <a:xfrm>
            <a:off x="958599" y="1610377"/>
            <a:ext cx="3999899"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800" b="1"/>
              <a:t>Callouts. </a:t>
            </a:r>
            <a:r>
              <a:rPr lang="en-US" sz="1800">
                <a:solidFill>
                  <a:schemeClr val="bg1">
                    <a:lumMod val="50000"/>
                  </a:schemeClr>
                </a:solidFill>
              </a:rPr>
              <a:t>Use for $, %, or quotes </a:t>
            </a:r>
          </a:p>
        </p:txBody>
      </p:sp>
      <p:sp>
        <p:nvSpPr>
          <p:cNvPr id="18" name="Rectangle 17">
            <a:extLst>
              <a:ext uri="{FF2B5EF4-FFF2-40B4-BE49-F238E27FC236}">
                <a16:creationId xmlns:a16="http://schemas.microsoft.com/office/drawing/2014/main" id="{F40236C6-B5F3-7632-41EA-EBE86F8E68B5}"/>
              </a:ext>
            </a:extLst>
          </p:cNvPr>
          <p:cNvSpPr/>
          <p:nvPr/>
        </p:nvSpPr>
        <p:spPr>
          <a:xfrm>
            <a:off x="24384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DECK</a:t>
            </a:r>
            <a:endParaRPr lang="en-US" sz="1100" dirty="0"/>
          </a:p>
        </p:txBody>
      </p:sp>
      <p:sp>
        <p:nvSpPr>
          <p:cNvPr id="20" name="Rectangle 19">
            <a:extLst>
              <a:ext uri="{FF2B5EF4-FFF2-40B4-BE49-F238E27FC236}">
                <a16:creationId xmlns:a16="http://schemas.microsoft.com/office/drawing/2014/main" id="{35B7C4CA-65F4-05AE-526E-B455EEA1EAE8}"/>
              </a:ext>
            </a:extLst>
          </p:cNvPr>
          <p:cNvSpPr/>
          <p:nvPr/>
        </p:nvSpPr>
        <p:spPr>
          <a:xfrm>
            <a:off x="4876800" y="-1"/>
            <a:ext cx="2438400" cy="29198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PAGE</a:t>
            </a:r>
            <a:endParaRPr lang="en-US" sz="1100" dirty="0"/>
          </a:p>
        </p:txBody>
      </p:sp>
      <p:sp>
        <p:nvSpPr>
          <p:cNvPr id="3" name="Title 1">
            <a:extLst>
              <a:ext uri="{FF2B5EF4-FFF2-40B4-BE49-F238E27FC236}">
                <a16:creationId xmlns:a16="http://schemas.microsoft.com/office/drawing/2014/main" id="{507743CF-CAD3-9DEB-18DB-9B10C9C0FAC6}"/>
              </a:ext>
            </a:extLst>
          </p:cNvPr>
          <p:cNvSpPr txBox="1">
            <a:spLocks/>
          </p:cNvSpPr>
          <p:nvPr/>
        </p:nvSpPr>
        <p:spPr>
          <a:xfrm>
            <a:off x="6305348" y="1610377"/>
            <a:ext cx="5220238"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800" b="1"/>
              <a:t>Stickers</a:t>
            </a:r>
            <a:r>
              <a:rPr lang="en-US" sz="1800"/>
              <a:t>. </a:t>
            </a:r>
            <a:r>
              <a:rPr lang="en-US" sz="1800">
                <a:solidFill>
                  <a:schemeClr val="bg1">
                    <a:lumMod val="50000"/>
                  </a:schemeClr>
                </a:solidFill>
              </a:rPr>
              <a:t>Use to indicate drafts and examples; bright working stickers come off in the final version</a:t>
            </a:r>
            <a:endParaRPr lang="en-US" sz="1800"/>
          </a:p>
        </p:txBody>
      </p:sp>
      <p:sp>
        <p:nvSpPr>
          <p:cNvPr id="4" name="Title 1">
            <a:extLst>
              <a:ext uri="{FF2B5EF4-FFF2-40B4-BE49-F238E27FC236}">
                <a16:creationId xmlns:a16="http://schemas.microsoft.com/office/drawing/2014/main" id="{653549A5-EEA6-7947-BBDF-2C9F889E42BF}"/>
              </a:ext>
            </a:extLst>
          </p:cNvPr>
          <p:cNvSpPr txBox="1">
            <a:spLocks/>
          </p:cNvSpPr>
          <p:nvPr/>
        </p:nvSpPr>
        <p:spPr>
          <a:xfrm>
            <a:off x="958600" y="3892355"/>
            <a:ext cx="4301557"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800" b="1"/>
              <a:t>Logos</a:t>
            </a:r>
            <a:r>
              <a:rPr lang="en-US" sz="1800"/>
              <a:t>. </a:t>
            </a:r>
            <a:r>
              <a:rPr lang="en-US" sz="1800">
                <a:solidFill>
                  <a:schemeClr val="bg1">
                    <a:lumMod val="50000"/>
                  </a:schemeClr>
                </a:solidFill>
              </a:rPr>
              <a:t>Use when referencing companies</a:t>
            </a:r>
            <a:endParaRPr lang="en-US" sz="1800"/>
          </a:p>
        </p:txBody>
      </p:sp>
      <p:sp>
        <p:nvSpPr>
          <p:cNvPr id="6" name="Title 1">
            <a:extLst>
              <a:ext uri="{FF2B5EF4-FFF2-40B4-BE49-F238E27FC236}">
                <a16:creationId xmlns:a16="http://schemas.microsoft.com/office/drawing/2014/main" id="{9BC37B8F-B300-C635-D2F0-4659C99906BB}"/>
              </a:ext>
            </a:extLst>
          </p:cNvPr>
          <p:cNvSpPr txBox="1">
            <a:spLocks/>
          </p:cNvSpPr>
          <p:nvPr/>
        </p:nvSpPr>
        <p:spPr>
          <a:xfrm>
            <a:off x="6305349" y="3892355"/>
            <a:ext cx="4682910"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800" b="1"/>
              <a:t>Highlights</a:t>
            </a:r>
            <a:r>
              <a:rPr lang="en-US" sz="1800"/>
              <a:t>. </a:t>
            </a:r>
            <a:r>
              <a:rPr lang="en-US" sz="1800">
                <a:solidFill>
                  <a:schemeClr val="bg1">
                    <a:lumMod val="50000"/>
                  </a:schemeClr>
                </a:solidFill>
              </a:rPr>
              <a:t>Use to reinforce “so what” in a table or chart</a:t>
            </a:r>
          </a:p>
        </p:txBody>
      </p:sp>
      <p:sp>
        <p:nvSpPr>
          <p:cNvPr id="9" name="Oval 8">
            <a:extLst>
              <a:ext uri="{FF2B5EF4-FFF2-40B4-BE49-F238E27FC236}">
                <a16:creationId xmlns:a16="http://schemas.microsoft.com/office/drawing/2014/main" id="{DB8C5990-D3AB-B7B0-B68A-EFFC0B85522F}"/>
              </a:ext>
            </a:extLst>
          </p:cNvPr>
          <p:cNvSpPr/>
          <p:nvPr/>
        </p:nvSpPr>
        <p:spPr>
          <a:xfrm>
            <a:off x="554735" y="1579710"/>
            <a:ext cx="324945" cy="324945"/>
          </a:xfrm>
          <a:prstGeom prst="ellipse">
            <a:avLst/>
          </a:prstGeom>
          <a:solidFill>
            <a:srgbClr val="005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A</a:t>
            </a:r>
            <a:endParaRPr lang="en-US" sz="1600" dirty="0" err="1"/>
          </a:p>
        </p:txBody>
      </p:sp>
      <p:sp>
        <p:nvSpPr>
          <p:cNvPr id="13" name="Oval 12">
            <a:extLst>
              <a:ext uri="{FF2B5EF4-FFF2-40B4-BE49-F238E27FC236}">
                <a16:creationId xmlns:a16="http://schemas.microsoft.com/office/drawing/2014/main" id="{403D2FBA-FFC2-C2F4-E9E1-125F1ABAEFC7}"/>
              </a:ext>
            </a:extLst>
          </p:cNvPr>
          <p:cNvSpPr/>
          <p:nvPr/>
        </p:nvSpPr>
        <p:spPr>
          <a:xfrm>
            <a:off x="5901483" y="1579711"/>
            <a:ext cx="324945" cy="324945"/>
          </a:xfrm>
          <a:prstGeom prst="ellipse">
            <a:avLst/>
          </a:prstGeom>
          <a:solidFill>
            <a:srgbClr val="005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B</a:t>
            </a:r>
            <a:endParaRPr lang="en-US" sz="1600" dirty="0" err="1"/>
          </a:p>
        </p:txBody>
      </p:sp>
      <p:sp>
        <p:nvSpPr>
          <p:cNvPr id="17" name="Oval 16">
            <a:extLst>
              <a:ext uri="{FF2B5EF4-FFF2-40B4-BE49-F238E27FC236}">
                <a16:creationId xmlns:a16="http://schemas.microsoft.com/office/drawing/2014/main" id="{1F42F10A-933F-693F-78A9-1C6033049A65}"/>
              </a:ext>
            </a:extLst>
          </p:cNvPr>
          <p:cNvSpPr/>
          <p:nvPr/>
        </p:nvSpPr>
        <p:spPr>
          <a:xfrm>
            <a:off x="475816" y="3871376"/>
            <a:ext cx="324945" cy="324945"/>
          </a:xfrm>
          <a:prstGeom prst="ellipse">
            <a:avLst/>
          </a:prstGeom>
          <a:solidFill>
            <a:srgbClr val="005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C</a:t>
            </a:r>
            <a:endParaRPr lang="en-US" sz="1600" dirty="0" err="1"/>
          </a:p>
        </p:txBody>
      </p:sp>
      <p:sp>
        <p:nvSpPr>
          <p:cNvPr id="21" name="Oval 20">
            <a:extLst>
              <a:ext uri="{FF2B5EF4-FFF2-40B4-BE49-F238E27FC236}">
                <a16:creationId xmlns:a16="http://schemas.microsoft.com/office/drawing/2014/main" id="{6F617E56-B374-3A84-4E20-AAA56C2F6349}"/>
              </a:ext>
            </a:extLst>
          </p:cNvPr>
          <p:cNvSpPr/>
          <p:nvPr/>
        </p:nvSpPr>
        <p:spPr>
          <a:xfrm>
            <a:off x="5901484" y="3871376"/>
            <a:ext cx="324945" cy="324945"/>
          </a:xfrm>
          <a:prstGeom prst="ellipse">
            <a:avLst/>
          </a:prstGeom>
          <a:solidFill>
            <a:srgbClr val="005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D</a:t>
            </a:r>
            <a:endParaRPr lang="en-US" sz="1600" dirty="0" err="1"/>
          </a:p>
        </p:txBody>
      </p:sp>
      <p:sp>
        <p:nvSpPr>
          <p:cNvPr id="11" name="Title 1">
            <a:extLst>
              <a:ext uri="{FF2B5EF4-FFF2-40B4-BE49-F238E27FC236}">
                <a16:creationId xmlns:a16="http://schemas.microsoft.com/office/drawing/2014/main" id="{ECDC7B10-AF66-C75A-D874-B3962D0A68EB}"/>
              </a:ext>
            </a:extLst>
          </p:cNvPr>
          <p:cNvSpPr txBox="1">
            <a:spLocks/>
          </p:cNvSpPr>
          <p:nvPr/>
        </p:nvSpPr>
        <p:spPr>
          <a:xfrm>
            <a:off x="651388" y="2637969"/>
            <a:ext cx="1530107" cy="527204"/>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200"/>
              <a:t>Have given up on scheduling because of long wait times</a:t>
            </a:r>
            <a:endParaRPr lang="en-US" sz="1200" b="1"/>
          </a:p>
        </p:txBody>
      </p:sp>
      <p:sp>
        <p:nvSpPr>
          <p:cNvPr id="19" name="PPT-Productivity-Comment">
            <a:extLst>
              <a:ext uri="{FF2B5EF4-FFF2-40B4-BE49-F238E27FC236}">
                <a16:creationId xmlns:a16="http://schemas.microsoft.com/office/drawing/2014/main" id="{439F0143-7A9F-B0CC-CF3F-577D6BB62A92}"/>
              </a:ext>
            </a:extLst>
          </p:cNvPr>
          <p:cNvSpPr>
            <a:spLocks/>
          </p:cNvSpPr>
          <p:nvPr/>
        </p:nvSpPr>
        <p:spPr>
          <a:xfrm>
            <a:off x="6295921" y="2371982"/>
            <a:ext cx="1996644" cy="320042"/>
          </a:xfrm>
          <a:prstGeom prst="foldedCorner">
            <a:avLst/>
          </a:prstGeom>
          <a:solidFill>
            <a:srgbClr val="FFFF89"/>
          </a:solidFill>
          <a:ln w="0" cap="flat" cmpd="sng" algn="ctr">
            <a:noFill/>
            <a:prstDash val="solid"/>
            <a:miter lim="800000"/>
          </a:ln>
          <a:effectLst/>
          <a:extLst>
            <a:ext uri="{91240B29-F687-4F45-9708-019B960494DF}">
              <a14:hiddenLine xmlns:a14="http://schemas.microsoft.com/office/drawing/2010/main" w="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0000" tIns="45000" rIns="90000" bIns="45000" rtlCol="0" anchor="t">
            <a:spAutoFit/>
          </a:bodyPr>
          <a:lstStyle/>
          <a:p>
            <a:pPr algn="ctr"/>
            <a:r>
              <a:rPr lang="en-US" sz="1152">
                <a:solidFill>
                  <a:srgbClr val="000000"/>
                </a:solidFill>
              </a:rPr>
              <a:t>DRAFT</a:t>
            </a:r>
            <a:endParaRPr lang="en-US" sz="1152" dirty="0" err="1">
              <a:solidFill>
                <a:srgbClr val="000000"/>
              </a:solidFill>
            </a:endParaRPr>
          </a:p>
        </p:txBody>
      </p:sp>
      <p:sp>
        <p:nvSpPr>
          <p:cNvPr id="23" name="PPT-Productivity-Comment">
            <a:extLst>
              <a:ext uri="{FF2B5EF4-FFF2-40B4-BE49-F238E27FC236}">
                <a16:creationId xmlns:a16="http://schemas.microsoft.com/office/drawing/2014/main" id="{AF435679-DDCC-6B80-E453-3026A8003D96}"/>
              </a:ext>
            </a:extLst>
          </p:cNvPr>
          <p:cNvSpPr>
            <a:spLocks/>
          </p:cNvSpPr>
          <p:nvPr/>
        </p:nvSpPr>
        <p:spPr>
          <a:xfrm>
            <a:off x="6295921" y="2870651"/>
            <a:ext cx="1996644" cy="320042"/>
          </a:xfrm>
          <a:prstGeom prst="foldedCorner">
            <a:avLst/>
          </a:prstGeom>
          <a:solidFill>
            <a:srgbClr val="FFFF89"/>
          </a:solidFill>
          <a:ln w="0" cap="flat" cmpd="sng" algn="ctr">
            <a:noFill/>
            <a:prstDash val="solid"/>
            <a:miter lim="800000"/>
          </a:ln>
          <a:effectLst/>
          <a:extLst>
            <a:ext uri="{91240B29-F687-4F45-9708-019B960494DF}">
              <a14:hiddenLine xmlns:a14="http://schemas.microsoft.com/office/drawing/2010/main" w="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0000" tIns="45000" rIns="90000" bIns="45000" rtlCol="0" anchor="t">
            <a:spAutoFit/>
          </a:bodyPr>
          <a:lstStyle/>
          <a:p>
            <a:pPr algn="ctr"/>
            <a:r>
              <a:rPr lang="en-US" sz="1152">
                <a:solidFill>
                  <a:srgbClr val="000000"/>
                </a:solidFill>
              </a:rPr>
              <a:t>WIP</a:t>
            </a:r>
            <a:endParaRPr lang="en-US" sz="1152" dirty="0" err="1">
              <a:solidFill>
                <a:srgbClr val="000000"/>
              </a:solidFill>
            </a:endParaRPr>
          </a:p>
        </p:txBody>
      </p:sp>
      <p:pic>
        <p:nvPicPr>
          <p:cNvPr id="33" name="Picture 32" descr="Bain &amp; Company Logo Vector Files Download | Logowik">
            <a:extLst>
              <a:ext uri="{FF2B5EF4-FFF2-40B4-BE49-F238E27FC236}">
                <a16:creationId xmlns:a16="http://schemas.microsoft.com/office/drawing/2014/main" id="{09055CA9-6F06-79EE-EEF7-835B98F4B406}"/>
              </a:ext>
            </a:extLst>
          </p:cNvPr>
          <p:cNvPicPr>
            <a:picLocks noChangeAspect="1"/>
          </p:cNvPicPr>
          <p:nvPr/>
        </p:nvPicPr>
        <p:blipFill>
          <a:blip r:embed="rId7"/>
          <a:srcRect l="6731" t="37016" r="8527" b="34767"/>
          <a:stretch>
            <a:fillRect/>
          </a:stretch>
        </p:blipFill>
        <p:spPr>
          <a:xfrm>
            <a:off x="914564" y="5174128"/>
            <a:ext cx="1649691" cy="401780"/>
          </a:xfrm>
          <a:prstGeom prst="rect">
            <a:avLst/>
          </a:prstGeom>
        </p:spPr>
      </p:pic>
      <p:pic>
        <p:nvPicPr>
          <p:cNvPr id="34" name="Picture 33" descr="BCG's Growing Future Leaders program - USC Viterbi | Career Services">
            <a:extLst>
              <a:ext uri="{FF2B5EF4-FFF2-40B4-BE49-F238E27FC236}">
                <a16:creationId xmlns:a16="http://schemas.microsoft.com/office/drawing/2014/main" id="{4D8B9E37-FF7E-2979-20A3-B8B2461E8036}"/>
              </a:ext>
            </a:extLst>
          </p:cNvPr>
          <p:cNvPicPr>
            <a:picLocks noChangeAspect="1"/>
          </p:cNvPicPr>
          <p:nvPr/>
        </p:nvPicPr>
        <p:blipFill>
          <a:blip r:embed="rId8"/>
          <a:stretch>
            <a:fillRect/>
          </a:stretch>
        </p:blipFill>
        <p:spPr>
          <a:xfrm>
            <a:off x="2629694" y="4578173"/>
            <a:ext cx="601712" cy="257463"/>
          </a:xfrm>
          <a:prstGeom prst="rect">
            <a:avLst/>
          </a:prstGeom>
        </p:spPr>
      </p:pic>
      <p:pic>
        <p:nvPicPr>
          <p:cNvPr id="35" name="Picture 34">
            <a:extLst>
              <a:ext uri="{FF2B5EF4-FFF2-40B4-BE49-F238E27FC236}">
                <a16:creationId xmlns:a16="http://schemas.microsoft.com/office/drawing/2014/main" id="{AAFE10A2-764F-ED7C-CA70-B8AF819CE0E5}"/>
              </a:ext>
            </a:extLst>
          </p:cNvPr>
          <p:cNvPicPr>
            <a:picLocks noChangeAspect="1" noChangeArrowheads="1"/>
          </p:cNvPicPr>
          <p:nvPr/>
        </p:nvPicPr>
        <p:blipFill>
          <a:blip r:embed="rId9" cstate="print">
            <a:extLst>
              <a:ext uri="{28A0092B-C50C-407E-A947-70E740481C1C}">
                <a14:useLocalDpi xmlns:a14="http://schemas.microsoft.com/office/drawing/2010/main"/>
              </a:ext>
            </a:extLst>
          </a:blip>
          <a:srcRect/>
          <a:stretch>
            <a:fillRect/>
          </a:stretch>
        </p:blipFill>
        <p:spPr bwMode="auto">
          <a:xfrm>
            <a:off x="914564" y="5636727"/>
            <a:ext cx="1276358" cy="277707"/>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McKinsey Logo and symbol, meaning, history, PNG">
            <a:extLst>
              <a:ext uri="{FF2B5EF4-FFF2-40B4-BE49-F238E27FC236}">
                <a16:creationId xmlns:a16="http://schemas.microsoft.com/office/drawing/2014/main" id="{E28F6837-4F63-E3A7-FE0E-2FECBB0ADE42}"/>
              </a:ext>
            </a:extLst>
          </p:cNvPr>
          <p:cNvPicPr>
            <a:picLocks noChangeAspect="1" noChangeArrowheads="1"/>
          </p:cNvPicPr>
          <p:nvPr/>
        </p:nvPicPr>
        <p:blipFill>
          <a:blip r:embed="rId10" cstate="print">
            <a:extLst>
              <a:ext uri="{28A0092B-C50C-407E-A947-70E740481C1C}">
                <a14:useLocalDpi xmlns:a14="http://schemas.microsoft.com/office/drawing/2010/main"/>
              </a:ext>
            </a:extLst>
          </a:blip>
          <a:srcRect/>
          <a:stretch>
            <a:fillRect/>
          </a:stretch>
        </p:blipFill>
        <p:spPr bwMode="auto">
          <a:xfrm>
            <a:off x="933805" y="4296760"/>
            <a:ext cx="1358566" cy="948669"/>
          </a:xfrm>
          <a:prstGeom prst="rect">
            <a:avLst/>
          </a:prstGeom>
          <a:noFill/>
          <a:ln w="9525">
            <a:noFill/>
          </a:ln>
          <a:extLst>
            <a:ext uri="{909E8E84-426E-40DD-AFC4-6F175D3DCCD1}">
              <a14:hiddenFill xmlns:a14="http://schemas.microsoft.com/office/drawing/2010/main">
                <a:solidFill>
                  <a:srgbClr val="FFFFFF"/>
                </a:solidFill>
              </a14:hiddenFill>
            </a:ext>
          </a:extLst>
        </p:spPr>
      </p:pic>
      <p:pic>
        <p:nvPicPr>
          <p:cNvPr id="37" name="Picture 36" descr="Ernst &amp; Young logo in transparent PNG and vectorized SVG formats">
            <a:extLst>
              <a:ext uri="{FF2B5EF4-FFF2-40B4-BE49-F238E27FC236}">
                <a16:creationId xmlns:a16="http://schemas.microsoft.com/office/drawing/2014/main" id="{8CEBFD4C-3256-82B6-8522-F14FBBB81761}"/>
              </a:ext>
            </a:extLst>
          </p:cNvPr>
          <p:cNvPicPr>
            <a:picLocks noChangeAspect="1"/>
          </p:cNvPicPr>
          <p:nvPr/>
        </p:nvPicPr>
        <p:blipFill>
          <a:blip r:embed="rId11"/>
          <a:stretch>
            <a:fillRect/>
          </a:stretch>
        </p:blipFill>
        <p:spPr>
          <a:xfrm>
            <a:off x="3034865" y="5036602"/>
            <a:ext cx="398103" cy="401780"/>
          </a:xfrm>
          <a:prstGeom prst="rect">
            <a:avLst/>
          </a:prstGeom>
        </p:spPr>
      </p:pic>
      <p:pic>
        <p:nvPicPr>
          <p:cNvPr id="38" name="Graphic 85">
            <a:extLst>
              <a:ext uri="{FF2B5EF4-FFF2-40B4-BE49-F238E27FC236}">
                <a16:creationId xmlns:a16="http://schemas.microsoft.com/office/drawing/2014/main" id="{8AB461C5-91B0-D98F-30AF-D11B02CA51F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509930" y="5679688"/>
            <a:ext cx="1276358" cy="351497"/>
          </a:xfrm>
          <a:prstGeom prst="rect">
            <a:avLst/>
          </a:prstGeom>
        </p:spPr>
      </p:pic>
      <p:sp>
        <p:nvSpPr>
          <p:cNvPr id="40" name="Rectangle 39">
            <a:extLst>
              <a:ext uri="{FF2B5EF4-FFF2-40B4-BE49-F238E27FC236}">
                <a16:creationId xmlns:a16="http://schemas.microsoft.com/office/drawing/2014/main" id="{6834C06A-403A-26FA-A318-95B0B3ACE64A}"/>
              </a:ext>
            </a:extLst>
          </p:cNvPr>
          <p:cNvSpPr/>
          <p:nvPr/>
        </p:nvSpPr>
        <p:spPr>
          <a:xfrm>
            <a:off x="5901483" y="4617231"/>
            <a:ext cx="2447270" cy="1226834"/>
          </a:xfrm>
          <a:prstGeom prst="rect">
            <a:avLst/>
          </a:prstGeom>
          <a:noFill/>
          <a:ln>
            <a:solidFill>
              <a:schemeClr val="accent5">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err="1"/>
          </a:p>
        </p:txBody>
      </p:sp>
      <p:sp>
        <p:nvSpPr>
          <p:cNvPr id="42" name="Rectangle 41">
            <a:extLst>
              <a:ext uri="{FF2B5EF4-FFF2-40B4-BE49-F238E27FC236}">
                <a16:creationId xmlns:a16="http://schemas.microsoft.com/office/drawing/2014/main" id="{E4D40F91-B023-6D2D-907F-CC93121C8D53}"/>
              </a:ext>
            </a:extLst>
          </p:cNvPr>
          <p:cNvSpPr/>
          <p:nvPr/>
        </p:nvSpPr>
        <p:spPr>
          <a:xfrm>
            <a:off x="8595570" y="4617231"/>
            <a:ext cx="2641115" cy="124527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p>
        </p:txBody>
      </p:sp>
      <p:sp>
        <p:nvSpPr>
          <p:cNvPr id="16" name="Rectangle 15">
            <a:extLst>
              <a:ext uri="{FF2B5EF4-FFF2-40B4-BE49-F238E27FC236}">
                <a16:creationId xmlns:a16="http://schemas.microsoft.com/office/drawing/2014/main" id="{10DE818D-3FAA-03DA-8A8A-4CDA30EF5174}"/>
              </a:ext>
            </a:extLst>
          </p:cNvPr>
          <p:cNvSpPr/>
          <p:nvPr/>
        </p:nvSpPr>
        <p:spPr>
          <a:xfrm>
            <a:off x="8771468" y="2371982"/>
            <a:ext cx="1996644" cy="320028"/>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t>CONFIDENTIAL</a:t>
            </a:r>
            <a:endParaRPr lang="en-US" sz="1100" b="1" dirty="0" err="1"/>
          </a:p>
        </p:txBody>
      </p:sp>
      <p:sp>
        <p:nvSpPr>
          <p:cNvPr id="25" name="Rectangle 24">
            <a:extLst>
              <a:ext uri="{FF2B5EF4-FFF2-40B4-BE49-F238E27FC236}">
                <a16:creationId xmlns:a16="http://schemas.microsoft.com/office/drawing/2014/main" id="{13C568C5-9AE7-327E-FC63-744C3D895F95}"/>
              </a:ext>
            </a:extLst>
          </p:cNvPr>
          <p:cNvSpPr/>
          <p:nvPr/>
        </p:nvSpPr>
        <p:spPr>
          <a:xfrm>
            <a:off x="8771468" y="2870665"/>
            <a:ext cx="1996644" cy="32002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t>ILLUSTRATIVE</a:t>
            </a:r>
            <a:endParaRPr lang="en-US" sz="1100" b="1" dirty="0" err="1"/>
          </a:p>
        </p:txBody>
      </p:sp>
      <p:sp>
        <p:nvSpPr>
          <p:cNvPr id="26" name="Title 1">
            <a:extLst>
              <a:ext uri="{FF2B5EF4-FFF2-40B4-BE49-F238E27FC236}">
                <a16:creationId xmlns:a16="http://schemas.microsoft.com/office/drawing/2014/main" id="{BDAC5BFC-2880-92A1-7319-A00FB9BD5300}"/>
              </a:ext>
            </a:extLst>
          </p:cNvPr>
          <p:cNvSpPr txBox="1">
            <a:spLocks/>
          </p:cNvSpPr>
          <p:nvPr/>
        </p:nvSpPr>
        <p:spPr>
          <a:xfrm>
            <a:off x="638288" y="2232887"/>
            <a:ext cx="787728" cy="62215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800" b="1"/>
              <a:t>76%</a:t>
            </a:r>
          </a:p>
        </p:txBody>
      </p:sp>
      <p:pic>
        <p:nvPicPr>
          <p:cNvPr id="29" name="Graphic 28" descr="Open quotation mark with solid fill">
            <a:extLst>
              <a:ext uri="{FF2B5EF4-FFF2-40B4-BE49-F238E27FC236}">
                <a16:creationId xmlns:a16="http://schemas.microsoft.com/office/drawing/2014/main" id="{598DB73C-A55B-2104-05A8-7ECC1784C2D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675986" y="2122215"/>
            <a:ext cx="348246" cy="348246"/>
          </a:xfrm>
          <a:prstGeom prst="rect">
            <a:avLst/>
          </a:prstGeom>
        </p:spPr>
      </p:pic>
      <p:sp>
        <p:nvSpPr>
          <p:cNvPr id="30" name="Title 1">
            <a:extLst>
              <a:ext uri="{FF2B5EF4-FFF2-40B4-BE49-F238E27FC236}">
                <a16:creationId xmlns:a16="http://schemas.microsoft.com/office/drawing/2014/main" id="{64D4E4E6-43ED-F2CD-3446-4705E3576C5B}"/>
              </a:ext>
            </a:extLst>
          </p:cNvPr>
          <p:cNvSpPr txBox="1">
            <a:spLocks/>
          </p:cNvSpPr>
          <p:nvPr/>
        </p:nvSpPr>
        <p:spPr>
          <a:xfrm>
            <a:off x="2802411" y="2418693"/>
            <a:ext cx="2431372" cy="527204"/>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112713"/>
            <a:r>
              <a:rPr lang="en-US" sz="1200"/>
              <a:t>In the future, everyone will have their own </a:t>
            </a:r>
            <a:r>
              <a:rPr lang="en-US" sz="1200" b="1">
                <a:solidFill>
                  <a:srgbClr val="009999"/>
                </a:solidFill>
              </a:rPr>
              <a:t>AI physician</a:t>
            </a:r>
            <a:r>
              <a:rPr lang="en-US" sz="1200"/>
              <a:t>.”</a:t>
            </a:r>
            <a:br>
              <a:rPr lang="en-US" sz="1200"/>
            </a:br>
            <a:r>
              <a:rPr lang="en-US" sz="1200"/>
              <a:t>    </a:t>
            </a:r>
            <a:r>
              <a:rPr lang="en-US" sz="1200" i="1"/>
              <a:t>CEO, National Health System</a:t>
            </a:r>
            <a:endParaRPr lang="en-US" sz="1200" b="1" i="1"/>
          </a:p>
        </p:txBody>
      </p:sp>
    </p:spTree>
    <p:extLst>
      <p:ext uri="{BB962C8B-B14F-4D97-AF65-F5344CB8AC3E}">
        <p14:creationId xmlns:p14="http://schemas.microsoft.com/office/powerpoint/2010/main" val="20598581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9A671-4F33-4142-AA45-67045014118E}"/>
            </a:ext>
          </a:extLst>
        </p:cNvPr>
        <p:cNvGrpSpPr/>
        <p:nvPr/>
      </p:nvGrpSpPr>
      <p:grpSpPr>
        <a:xfrm>
          <a:off x="0" y="0"/>
          <a:ext cx="0" cy="0"/>
          <a:chOff x="0" y="0"/>
          <a:chExt cx="0" cy="0"/>
        </a:xfrm>
      </p:grpSpPr>
      <p:graphicFrame>
        <p:nvGraphicFramePr>
          <p:cNvPr id="31" name="think-cell data - do not delete" hidden="1">
            <a:extLst>
              <a:ext uri="{FF2B5EF4-FFF2-40B4-BE49-F238E27FC236}">
                <a16:creationId xmlns:a16="http://schemas.microsoft.com/office/drawing/2014/main" id="{33F0D5E3-4952-8026-1C7E-F14E36998F7E}"/>
              </a:ext>
            </a:extLst>
          </p:cNvPr>
          <p:cNvGraphicFramePr>
            <a:graphicFrameLocks/>
          </p:cNvGraphicFramePr>
          <p:nvPr>
            <p:custDataLst>
              <p:tags r:id="rId1"/>
            </p:custDataLst>
            <p:extLst>
              <p:ext uri="{D42A27DB-BD31-4B8C-83A1-F6EECF244321}">
                <p14:modId xmlns:p14="http://schemas.microsoft.com/office/powerpoint/2010/main" val="7826974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0" name="think-cell data - do not delete" hidden="1">
            <a:extLst>
              <a:ext uri="{FF2B5EF4-FFF2-40B4-BE49-F238E27FC236}">
                <a16:creationId xmlns:a16="http://schemas.microsoft.com/office/drawing/2014/main" id="{1DC04F07-0C45-F8EF-C5D3-1716E96AD718}"/>
              </a:ext>
            </a:extLst>
          </p:cNvPr>
          <p:cNvGraphicFramePr>
            <a:graphicFrameLocks noChangeAspect="1"/>
          </p:cNvGraphicFramePr>
          <p:nvPr>
            <p:custDataLst>
              <p:tags r:id="rId2"/>
            </p:custDataLst>
            <p:extLst>
              <p:ext uri="{D42A27DB-BD31-4B8C-83A1-F6EECF244321}">
                <p14:modId xmlns:p14="http://schemas.microsoft.com/office/powerpoint/2010/main" val="15168765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7" imgH="348" progId="TCLayout.ActiveDocument.1">
                  <p:embed/>
                </p:oleObj>
              </mc:Choice>
              <mc:Fallback>
                <p:oleObj name="think-cell Slide" r:id="rId6"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3" name="Rectangle 22">
            <a:extLst>
              <a:ext uri="{FF2B5EF4-FFF2-40B4-BE49-F238E27FC236}">
                <a16:creationId xmlns:a16="http://schemas.microsoft.com/office/drawing/2014/main" id="{7B4E4150-F76C-57F3-6499-D8AD14AAC1F3}"/>
              </a:ext>
            </a:extLst>
          </p:cNvPr>
          <p:cNvSpPr/>
          <p:nvPr/>
        </p:nvSpPr>
        <p:spPr>
          <a:xfrm>
            <a:off x="7162860" y="1593128"/>
            <a:ext cx="4198040" cy="433631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err="1"/>
          </a:p>
        </p:txBody>
      </p:sp>
      <p:sp>
        <p:nvSpPr>
          <p:cNvPr id="2" name="Title 1">
            <a:extLst>
              <a:ext uri="{FF2B5EF4-FFF2-40B4-BE49-F238E27FC236}">
                <a16:creationId xmlns:a16="http://schemas.microsoft.com/office/drawing/2014/main" id="{9F00380C-756A-E72F-31F6-A7AA31A3A6CD}"/>
              </a:ext>
            </a:extLst>
          </p:cNvPr>
          <p:cNvSpPr>
            <a:spLocks noGrp="1"/>
          </p:cNvSpPr>
          <p:nvPr>
            <p:ph type="title"/>
          </p:nvPr>
        </p:nvSpPr>
        <p:spPr>
          <a:xfrm>
            <a:off x="558800" y="635000"/>
            <a:ext cx="11215278" cy="838200"/>
          </a:xfrm>
        </p:spPr>
        <p:txBody>
          <a:bodyPr vert="horz" rIns="0" anchor="t" anchorCtr="0"/>
          <a:lstStyle/>
          <a:p>
            <a:r>
              <a:rPr lang="en-US"/>
              <a:t>Clients’ own style and learned preferences should inform the page elements</a:t>
            </a:r>
          </a:p>
        </p:txBody>
      </p:sp>
      <p:sp>
        <p:nvSpPr>
          <p:cNvPr id="5" name="Rectangle 4">
            <a:extLst>
              <a:ext uri="{FF2B5EF4-FFF2-40B4-BE49-F238E27FC236}">
                <a16:creationId xmlns:a16="http://schemas.microsoft.com/office/drawing/2014/main" id="{E2862C91-C526-2E7D-5CFC-6F498748681D}"/>
              </a:ext>
            </a:extLst>
          </p:cNvPr>
          <p:cNvSpPr/>
          <p:nvPr/>
        </p:nvSpPr>
        <p:spPr>
          <a:xfrm>
            <a:off x="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THINK</a:t>
            </a:r>
            <a:endParaRPr lang="en-US" sz="1100" dirty="0"/>
          </a:p>
        </p:txBody>
      </p:sp>
      <p:sp>
        <p:nvSpPr>
          <p:cNvPr id="8" name="Rectangle 7">
            <a:extLst>
              <a:ext uri="{FF2B5EF4-FFF2-40B4-BE49-F238E27FC236}">
                <a16:creationId xmlns:a16="http://schemas.microsoft.com/office/drawing/2014/main" id="{F687F305-7E98-7B95-D0EF-A99FCBE255B5}"/>
              </a:ext>
            </a:extLst>
          </p:cNvPr>
          <p:cNvSpPr/>
          <p:nvPr/>
        </p:nvSpPr>
        <p:spPr>
          <a:xfrm>
            <a:off x="73152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AI WORKFLOW</a:t>
            </a:r>
            <a:endParaRPr lang="en-US" sz="1100" dirty="0"/>
          </a:p>
        </p:txBody>
      </p:sp>
      <p:sp>
        <p:nvSpPr>
          <p:cNvPr id="29" name="Rectangle 29"/>
          <p:cNvSpPr/>
          <p:nvPr/>
        </p:nvSpPr>
        <p:spPr>
          <a:xfrm>
            <a:off x="97536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QUALITY &amp; DATA</a:t>
            </a:r>
            <a:endParaRPr lang="en-US" sz="1100" dirty="0"/>
          </a:p>
        </p:txBody>
      </p:sp>
      <p:sp>
        <p:nvSpPr>
          <p:cNvPr id="14" name="Title 1">
            <a:extLst>
              <a:ext uri="{FF2B5EF4-FFF2-40B4-BE49-F238E27FC236}">
                <a16:creationId xmlns:a16="http://schemas.microsoft.com/office/drawing/2014/main" id="{88E91B07-2B0A-01CA-AF3B-1A61F1D8AFCA}"/>
              </a:ext>
            </a:extLst>
          </p:cNvPr>
          <p:cNvSpPr txBox="1">
            <a:spLocks/>
          </p:cNvSpPr>
          <p:nvPr/>
        </p:nvSpPr>
        <p:spPr>
          <a:xfrm>
            <a:off x="1218809" y="2466941"/>
            <a:ext cx="2105892"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t>Elevator pitch</a:t>
            </a:r>
          </a:p>
        </p:txBody>
      </p:sp>
      <p:sp>
        <p:nvSpPr>
          <p:cNvPr id="18" name="Rectangle 17">
            <a:extLst>
              <a:ext uri="{FF2B5EF4-FFF2-40B4-BE49-F238E27FC236}">
                <a16:creationId xmlns:a16="http://schemas.microsoft.com/office/drawing/2014/main" id="{CAF9837F-2A5D-7833-66A7-2C37CE5B94E1}"/>
              </a:ext>
            </a:extLst>
          </p:cNvPr>
          <p:cNvSpPr/>
          <p:nvPr/>
        </p:nvSpPr>
        <p:spPr>
          <a:xfrm>
            <a:off x="24384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DECK</a:t>
            </a:r>
            <a:endParaRPr lang="en-US" sz="1100" dirty="0"/>
          </a:p>
        </p:txBody>
      </p:sp>
      <p:sp>
        <p:nvSpPr>
          <p:cNvPr id="20" name="Rectangle 19">
            <a:extLst>
              <a:ext uri="{FF2B5EF4-FFF2-40B4-BE49-F238E27FC236}">
                <a16:creationId xmlns:a16="http://schemas.microsoft.com/office/drawing/2014/main" id="{CF13073D-A0F4-47BD-5E2B-998B93945791}"/>
              </a:ext>
            </a:extLst>
          </p:cNvPr>
          <p:cNvSpPr/>
          <p:nvPr/>
        </p:nvSpPr>
        <p:spPr>
          <a:xfrm>
            <a:off x="4876800" y="-1"/>
            <a:ext cx="2438400" cy="29198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PAGE</a:t>
            </a:r>
            <a:endParaRPr lang="en-US" sz="1100" dirty="0"/>
          </a:p>
        </p:txBody>
      </p:sp>
      <p:sp>
        <p:nvSpPr>
          <p:cNvPr id="3" name="Title 1">
            <a:extLst>
              <a:ext uri="{FF2B5EF4-FFF2-40B4-BE49-F238E27FC236}">
                <a16:creationId xmlns:a16="http://schemas.microsoft.com/office/drawing/2014/main" id="{24B7D9AE-037C-B416-2F3B-17DA8014316A}"/>
              </a:ext>
            </a:extLst>
          </p:cNvPr>
          <p:cNvSpPr txBox="1">
            <a:spLocks/>
          </p:cNvSpPr>
          <p:nvPr/>
        </p:nvSpPr>
        <p:spPr>
          <a:xfrm>
            <a:off x="554735" y="1672221"/>
            <a:ext cx="2751883"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solidFill>
                  <a:schemeClr val="accent5"/>
                </a:solidFill>
              </a:rPr>
              <a:t>Client archetype</a:t>
            </a:r>
          </a:p>
        </p:txBody>
      </p:sp>
      <p:sp>
        <p:nvSpPr>
          <p:cNvPr id="7" name="Title 1">
            <a:extLst>
              <a:ext uri="{FF2B5EF4-FFF2-40B4-BE49-F238E27FC236}">
                <a16:creationId xmlns:a16="http://schemas.microsoft.com/office/drawing/2014/main" id="{F1DF49AC-9981-4B4E-6DE4-ACE2647706A5}"/>
              </a:ext>
            </a:extLst>
          </p:cNvPr>
          <p:cNvSpPr txBox="1">
            <a:spLocks/>
          </p:cNvSpPr>
          <p:nvPr/>
        </p:nvSpPr>
        <p:spPr>
          <a:xfrm>
            <a:off x="1218809" y="3748485"/>
            <a:ext cx="2105892"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t>Detail-driven</a:t>
            </a:r>
          </a:p>
        </p:txBody>
      </p:sp>
      <p:sp>
        <p:nvSpPr>
          <p:cNvPr id="10" name="Title 1">
            <a:extLst>
              <a:ext uri="{FF2B5EF4-FFF2-40B4-BE49-F238E27FC236}">
                <a16:creationId xmlns:a16="http://schemas.microsoft.com/office/drawing/2014/main" id="{7143F5A8-7C29-99C8-A57B-73F21EA0916F}"/>
              </a:ext>
            </a:extLst>
          </p:cNvPr>
          <p:cNvSpPr txBox="1">
            <a:spLocks/>
          </p:cNvSpPr>
          <p:nvPr/>
        </p:nvSpPr>
        <p:spPr>
          <a:xfrm>
            <a:off x="1218809" y="5065449"/>
            <a:ext cx="2105892"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t>Public audience</a:t>
            </a:r>
          </a:p>
        </p:txBody>
      </p:sp>
      <p:sp>
        <p:nvSpPr>
          <p:cNvPr id="11" name="Title 1">
            <a:extLst>
              <a:ext uri="{FF2B5EF4-FFF2-40B4-BE49-F238E27FC236}">
                <a16:creationId xmlns:a16="http://schemas.microsoft.com/office/drawing/2014/main" id="{71584481-621D-57BB-F088-579331576670}"/>
              </a:ext>
            </a:extLst>
          </p:cNvPr>
          <p:cNvSpPr txBox="1">
            <a:spLocks/>
          </p:cNvSpPr>
          <p:nvPr/>
        </p:nvSpPr>
        <p:spPr>
          <a:xfrm>
            <a:off x="7305304" y="1672221"/>
            <a:ext cx="3096148"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solidFill>
                  <a:schemeClr val="accent5"/>
                </a:solidFill>
              </a:rPr>
              <a:t>Design shift</a:t>
            </a:r>
          </a:p>
        </p:txBody>
      </p:sp>
      <p:cxnSp>
        <p:nvCxnSpPr>
          <p:cNvPr id="16" name="Straight Connector 15">
            <a:extLst>
              <a:ext uri="{FF2B5EF4-FFF2-40B4-BE49-F238E27FC236}">
                <a16:creationId xmlns:a16="http://schemas.microsoft.com/office/drawing/2014/main" id="{B104F7B1-6EF0-345E-68C2-D419327EEA91}"/>
              </a:ext>
            </a:extLst>
          </p:cNvPr>
          <p:cNvCxnSpPr/>
          <p:nvPr/>
        </p:nvCxnSpPr>
        <p:spPr>
          <a:xfrm>
            <a:off x="554735" y="1992421"/>
            <a:ext cx="10741338"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F8691564-84B5-672A-3899-B7288E93BC5C}"/>
              </a:ext>
            </a:extLst>
          </p:cNvPr>
          <p:cNvCxnSpPr/>
          <p:nvPr/>
        </p:nvCxnSpPr>
        <p:spPr>
          <a:xfrm>
            <a:off x="554735" y="3201229"/>
            <a:ext cx="10741338" cy="0"/>
          </a:xfrm>
          <a:prstGeom prst="line">
            <a:avLst/>
          </a:prstGeom>
          <a:ln w="9525">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73F597F9-DE83-C4C5-41E8-1B9187823909}"/>
              </a:ext>
            </a:extLst>
          </p:cNvPr>
          <p:cNvCxnSpPr/>
          <p:nvPr/>
        </p:nvCxnSpPr>
        <p:spPr>
          <a:xfrm>
            <a:off x="554735" y="4595920"/>
            <a:ext cx="10741338" cy="0"/>
          </a:xfrm>
          <a:prstGeom prst="line">
            <a:avLst/>
          </a:prstGeom>
          <a:ln w="9525">
            <a:solidFill>
              <a:schemeClr val="tx1"/>
            </a:solidFill>
            <a:prstDash val="dash"/>
          </a:ln>
        </p:spPr>
        <p:style>
          <a:lnRef idx="1">
            <a:schemeClr val="dk1"/>
          </a:lnRef>
          <a:fillRef idx="0">
            <a:schemeClr val="dk1"/>
          </a:fillRef>
          <a:effectRef idx="0">
            <a:schemeClr val="dk1"/>
          </a:effectRef>
          <a:fontRef idx="minor">
            <a:schemeClr val="tx1"/>
          </a:fontRef>
        </p:style>
      </p:cxnSp>
      <p:sp>
        <p:nvSpPr>
          <p:cNvPr id="4" name="Title 1">
            <a:extLst>
              <a:ext uri="{FF2B5EF4-FFF2-40B4-BE49-F238E27FC236}">
                <a16:creationId xmlns:a16="http://schemas.microsoft.com/office/drawing/2014/main" id="{0C3F5880-9787-D369-7849-355B5C919513}"/>
              </a:ext>
            </a:extLst>
          </p:cNvPr>
          <p:cNvSpPr txBox="1">
            <a:spLocks/>
          </p:cNvSpPr>
          <p:nvPr/>
        </p:nvSpPr>
        <p:spPr>
          <a:xfrm>
            <a:off x="7305305" y="2107874"/>
            <a:ext cx="3412972" cy="945573"/>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342900" indent="-342900">
              <a:buFont typeface="Arial" panose="020B0604020202020204" pitchFamily="34" charset="0"/>
              <a:buChar char="•"/>
            </a:pPr>
            <a:r>
              <a:rPr lang="en-US" sz="1600"/>
              <a:t>Distill everything down to top 1, top 3, “so what”</a:t>
            </a:r>
          </a:p>
          <a:p>
            <a:pPr marL="342900" indent="-342900">
              <a:buFont typeface="Arial" panose="020B0604020202020204" pitchFamily="34" charset="0"/>
              <a:buChar char="•"/>
            </a:pPr>
            <a:r>
              <a:rPr lang="en-US" sz="1600"/>
              <a:t>Keep text size large and sentences short</a:t>
            </a:r>
          </a:p>
        </p:txBody>
      </p:sp>
      <p:sp>
        <p:nvSpPr>
          <p:cNvPr id="6" name="Title 1">
            <a:extLst>
              <a:ext uri="{FF2B5EF4-FFF2-40B4-BE49-F238E27FC236}">
                <a16:creationId xmlns:a16="http://schemas.microsoft.com/office/drawing/2014/main" id="{30F24AF8-0746-62D8-F7FF-D573031D09DA}"/>
              </a:ext>
            </a:extLst>
          </p:cNvPr>
          <p:cNvSpPr txBox="1">
            <a:spLocks/>
          </p:cNvSpPr>
          <p:nvPr/>
        </p:nvSpPr>
        <p:spPr>
          <a:xfrm>
            <a:off x="3653901" y="1672221"/>
            <a:ext cx="2751883"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solidFill>
                  <a:schemeClr val="accent5"/>
                </a:solidFill>
              </a:rPr>
              <a:t>Commonly found in</a:t>
            </a:r>
          </a:p>
        </p:txBody>
      </p:sp>
      <p:sp>
        <p:nvSpPr>
          <p:cNvPr id="9" name="Title 1">
            <a:extLst>
              <a:ext uri="{FF2B5EF4-FFF2-40B4-BE49-F238E27FC236}">
                <a16:creationId xmlns:a16="http://schemas.microsoft.com/office/drawing/2014/main" id="{E62C272F-4E66-5F2F-6BC1-4BFE7D1DD1BD}"/>
              </a:ext>
            </a:extLst>
          </p:cNvPr>
          <p:cNvSpPr txBox="1">
            <a:spLocks/>
          </p:cNvSpPr>
          <p:nvPr/>
        </p:nvSpPr>
        <p:spPr>
          <a:xfrm>
            <a:off x="3662421" y="2093632"/>
            <a:ext cx="2600672" cy="852048"/>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342900" indent="-342900">
              <a:buFont typeface="Arial" panose="020B0604020202020204" pitchFamily="34" charset="0"/>
              <a:buChar char="•"/>
            </a:pPr>
            <a:r>
              <a:rPr lang="en-US" sz="1600"/>
              <a:t>C-suite</a:t>
            </a:r>
          </a:p>
          <a:p>
            <a:pPr marL="342900" indent="-342900">
              <a:buFont typeface="Arial" panose="020B0604020202020204" pitchFamily="34" charset="0"/>
              <a:buChar char="•"/>
            </a:pPr>
            <a:r>
              <a:rPr lang="en-US" sz="1600"/>
              <a:t>Board members</a:t>
            </a:r>
          </a:p>
          <a:p>
            <a:pPr marL="342900" indent="-342900">
              <a:buFont typeface="Arial" panose="020B0604020202020204" pitchFamily="34" charset="0"/>
              <a:buChar char="•"/>
            </a:pPr>
            <a:r>
              <a:rPr lang="en-US" sz="1600"/>
              <a:t>Founders</a:t>
            </a:r>
          </a:p>
          <a:p>
            <a:pPr marL="342900" indent="-342900">
              <a:buFont typeface="Arial" panose="020B0604020202020204" pitchFamily="34" charset="0"/>
              <a:buChar char="•"/>
            </a:pPr>
            <a:r>
              <a:rPr lang="en-US" sz="1600"/>
              <a:t>Partners</a:t>
            </a:r>
          </a:p>
          <a:p>
            <a:pPr marL="342900" indent="-342900">
              <a:buFont typeface="Arial" panose="020B0604020202020204" pitchFamily="34" charset="0"/>
              <a:buChar char="•"/>
            </a:pPr>
            <a:endParaRPr lang="en-US" sz="1600"/>
          </a:p>
        </p:txBody>
      </p:sp>
      <p:sp>
        <p:nvSpPr>
          <p:cNvPr id="13" name="Title 1">
            <a:extLst>
              <a:ext uri="{FF2B5EF4-FFF2-40B4-BE49-F238E27FC236}">
                <a16:creationId xmlns:a16="http://schemas.microsoft.com/office/drawing/2014/main" id="{DBAEC136-1863-2632-01F6-93E929E0DBE1}"/>
              </a:ext>
            </a:extLst>
          </p:cNvPr>
          <p:cNvSpPr txBox="1">
            <a:spLocks/>
          </p:cNvSpPr>
          <p:nvPr/>
        </p:nvSpPr>
        <p:spPr>
          <a:xfrm>
            <a:off x="3653901" y="3412513"/>
            <a:ext cx="2600672" cy="852048"/>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342900" indent="-342900">
              <a:buFont typeface="Arial" panose="020B0604020202020204" pitchFamily="34" charset="0"/>
              <a:buChar char="•"/>
            </a:pPr>
            <a:r>
              <a:rPr lang="en-US" sz="1600"/>
              <a:t>Technical experts</a:t>
            </a:r>
          </a:p>
          <a:p>
            <a:pPr marL="342900" indent="-342900">
              <a:buFont typeface="Arial" panose="020B0604020202020204" pitchFamily="34" charset="0"/>
              <a:buChar char="•"/>
            </a:pPr>
            <a:r>
              <a:rPr lang="en-US" sz="1600"/>
              <a:t>Finance &amp; Accounting</a:t>
            </a:r>
          </a:p>
          <a:p>
            <a:pPr marL="342900" indent="-342900">
              <a:buFont typeface="Arial" panose="020B0604020202020204" pitchFamily="34" charset="0"/>
              <a:buChar char="•"/>
            </a:pPr>
            <a:r>
              <a:rPr lang="en-US" sz="1600"/>
              <a:t>Legal</a:t>
            </a:r>
          </a:p>
          <a:p>
            <a:pPr marL="342900" indent="-342900">
              <a:buFont typeface="Arial" panose="020B0604020202020204" pitchFamily="34" charset="0"/>
              <a:buChar char="•"/>
            </a:pPr>
            <a:r>
              <a:rPr lang="en-US" sz="1600"/>
              <a:t>Skeptical clients</a:t>
            </a:r>
          </a:p>
          <a:p>
            <a:pPr marL="342900" indent="-342900">
              <a:buFont typeface="Arial" panose="020B0604020202020204" pitchFamily="34" charset="0"/>
              <a:buChar char="•"/>
            </a:pPr>
            <a:endParaRPr lang="en-US" sz="1600"/>
          </a:p>
        </p:txBody>
      </p:sp>
      <p:sp>
        <p:nvSpPr>
          <p:cNvPr id="15" name="Title 1">
            <a:extLst>
              <a:ext uri="{FF2B5EF4-FFF2-40B4-BE49-F238E27FC236}">
                <a16:creationId xmlns:a16="http://schemas.microsoft.com/office/drawing/2014/main" id="{04A80403-28C8-45BA-111C-4EF5457B2243}"/>
              </a:ext>
            </a:extLst>
          </p:cNvPr>
          <p:cNvSpPr txBox="1">
            <a:spLocks/>
          </p:cNvSpPr>
          <p:nvPr/>
        </p:nvSpPr>
        <p:spPr>
          <a:xfrm>
            <a:off x="3653901" y="4728686"/>
            <a:ext cx="3161570" cy="1273466"/>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342900" indent="-342900">
              <a:buFont typeface="Arial" panose="020B0604020202020204" pitchFamily="34" charset="0"/>
              <a:buChar char="•"/>
            </a:pPr>
            <a:r>
              <a:rPr lang="en-US" sz="1600"/>
              <a:t>Audience in a seminar or public presentation</a:t>
            </a:r>
          </a:p>
          <a:p>
            <a:pPr marL="342900" indent="-342900">
              <a:buFont typeface="Arial" panose="020B0604020202020204" pitchFamily="34" charset="0"/>
              <a:buChar char="•"/>
            </a:pPr>
            <a:r>
              <a:rPr lang="en-US" sz="1600"/>
              <a:t>People unfamiliar with the topic or project</a:t>
            </a:r>
          </a:p>
        </p:txBody>
      </p:sp>
      <p:pic>
        <p:nvPicPr>
          <p:cNvPr id="21" name="Graphic 20" descr="Classroom outline">
            <a:extLst>
              <a:ext uri="{FF2B5EF4-FFF2-40B4-BE49-F238E27FC236}">
                <a16:creationId xmlns:a16="http://schemas.microsoft.com/office/drawing/2014/main" id="{BF5231EC-A5A5-EA36-CB32-1A87DC72B4E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7817" y="4909397"/>
            <a:ext cx="598698" cy="598698"/>
          </a:xfrm>
          <a:prstGeom prst="rect">
            <a:avLst/>
          </a:prstGeom>
        </p:spPr>
      </p:pic>
      <p:pic>
        <p:nvPicPr>
          <p:cNvPr id="24" name="Graphic 23" descr="Clipboard Partially Checked outline">
            <a:extLst>
              <a:ext uri="{FF2B5EF4-FFF2-40B4-BE49-F238E27FC236}">
                <a16:creationId xmlns:a16="http://schemas.microsoft.com/office/drawing/2014/main" id="{6951F64D-B8C3-D0F3-906B-BDEE645C6A6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13606" y="3514119"/>
            <a:ext cx="692909" cy="692909"/>
          </a:xfrm>
          <a:prstGeom prst="rect">
            <a:avLst/>
          </a:prstGeom>
        </p:spPr>
      </p:pic>
      <p:sp>
        <p:nvSpPr>
          <p:cNvPr id="27" name="Title 1">
            <a:extLst>
              <a:ext uri="{FF2B5EF4-FFF2-40B4-BE49-F238E27FC236}">
                <a16:creationId xmlns:a16="http://schemas.microsoft.com/office/drawing/2014/main" id="{A9C38CA8-A12E-082B-BA83-34AB98B77FFF}"/>
              </a:ext>
            </a:extLst>
          </p:cNvPr>
          <p:cNvSpPr txBox="1">
            <a:spLocks/>
          </p:cNvSpPr>
          <p:nvPr/>
        </p:nvSpPr>
        <p:spPr>
          <a:xfrm>
            <a:off x="7305304" y="3400969"/>
            <a:ext cx="3839939" cy="945573"/>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342900" indent="-342900">
              <a:buFont typeface="Arial" panose="020B0604020202020204" pitchFamily="34" charset="0"/>
              <a:buChar char="•"/>
            </a:pPr>
            <a:r>
              <a:rPr lang="en-US" sz="1600"/>
              <a:t>Be ready to present quantitative slides or methodology</a:t>
            </a:r>
          </a:p>
          <a:p>
            <a:pPr marL="342900" indent="-342900">
              <a:buFont typeface="Arial" panose="020B0604020202020204" pitchFamily="34" charset="0"/>
              <a:buChar char="•"/>
            </a:pPr>
            <a:r>
              <a:rPr lang="en-US" sz="1600"/>
              <a:t>Guide them towards the bigger picture, not the detail</a:t>
            </a:r>
          </a:p>
        </p:txBody>
      </p:sp>
      <p:sp>
        <p:nvSpPr>
          <p:cNvPr id="28" name="Title 1">
            <a:extLst>
              <a:ext uri="{FF2B5EF4-FFF2-40B4-BE49-F238E27FC236}">
                <a16:creationId xmlns:a16="http://schemas.microsoft.com/office/drawing/2014/main" id="{CE2D6C09-A92E-6D42-CF44-F48F745CADFC}"/>
              </a:ext>
            </a:extLst>
          </p:cNvPr>
          <p:cNvSpPr txBox="1">
            <a:spLocks/>
          </p:cNvSpPr>
          <p:nvPr/>
        </p:nvSpPr>
        <p:spPr>
          <a:xfrm>
            <a:off x="7305304" y="4728686"/>
            <a:ext cx="3990769" cy="945573"/>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342900" indent="-342900">
              <a:buFont typeface="Arial" panose="020B0604020202020204" pitchFamily="34" charset="0"/>
              <a:buChar char="•"/>
            </a:pPr>
            <a:r>
              <a:rPr lang="en-US" sz="1600"/>
              <a:t>Use more design elements, visual cues</a:t>
            </a:r>
          </a:p>
          <a:p>
            <a:pPr marL="342900" indent="-342900">
              <a:buFont typeface="Arial" panose="020B0604020202020204" pitchFamily="34" charset="0"/>
              <a:buChar char="•"/>
            </a:pPr>
            <a:r>
              <a:rPr lang="en-US" sz="1600"/>
              <a:t>Use larger fonts, big numbers</a:t>
            </a:r>
          </a:p>
          <a:p>
            <a:pPr marL="342900" indent="-342900">
              <a:buFont typeface="Arial" panose="020B0604020202020204" pitchFamily="34" charset="0"/>
              <a:buChar char="•"/>
            </a:pPr>
            <a:r>
              <a:rPr lang="en-US" sz="1600"/>
              <a:t>Open-ended discussion slides and questions may be used</a:t>
            </a:r>
          </a:p>
        </p:txBody>
      </p:sp>
      <p:pic>
        <p:nvPicPr>
          <p:cNvPr id="25" name="Graphic 24" descr="Stopwatch outline">
            <a:extLst>
              <a:ext uri="{FF2B5EF4-FFF2-40B4-BE49-F238E27FC236}">
                <a16:creationId xmlns:a16="http://schemas.microsoft.com/office/drawing/2014/main" id="{09FCED8D-BE67-31E0-8A04-A24D9CB47AB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07817" y="2254912"/>
            <a:ext cx="598698" cy="598698"/>
          </a:xfrm>
          <a:prstGeom prst="rect">
            <a:avLst/>
          </a:prstGeom>
        </p:spPr>
      </p:pic>
    </p:spTree>
    <p:extLst>
      <p:ext uri="{BB962C8B-B14F-4D97-AF65-F5344CB8AC3E}">
        <p14:creationId xmlns:p14="http://schemas.microsoft.com/office/powerpoint/2010/main" val="42760170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5FB84-F9A7-7396-7AE4-40EE427970FC}"/>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CE2608D7-181A-ACE3-015C-63908013CC5C}"/>
              </a:ext>
            </a:extLst>
          </p:cNvPr>
          <p:cNvGraphicFramePr>
            <a:graphicFrameLocks/>
          </p:cNvGraphicFramePr>
          <p:nvPr>
            <p:custDataLst>
              <p:tags r:id="rId1"/>
            </p:custDataLst>
            <p:extLst>
              <p:ext uri="{D42A27DB-BD31-4B8C-83A1-F6EECF244321}">
                <p14:modId xmlns:p14="http://schemas.microsoft.com/office/powerpoint/2010/main" val="22736116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17" name="think-cell data - do not delete" hidden="1">
            <a:extLst>
              <a:ext uri="{FF2B5EF4-FFF2-40B4-BE49-F238E27FC236}">
                <a16:creationId xmlns:a16="http://schemas.microsoft.com/office/drawing/2014/main" id="{2742883C-3593-253E-77F0-C5FD0F4EEB21}"/>
              </a:ext>
            </a:extLst>
          </p:cNvPr>
          <p:cNvGraphicFramePr>
            <a:graphicFrameLocks noChangeAspect="1"/>
          </p:cNvGraphicFramePr>
          <p:nvPr>
            <p:custDataLst>
              <p:tags r:id="rId2"/>
            </p:custDataLst>
            <p:extLst>
              <p:ext uri="{D42A27DB-BD31-4B8C-83A1-F6EECF244321}">
                <p14:modId xmlns:p14="http://schemas.microsoft.com/office/powerpoint/2010/main" val="1798550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7" imgH="348" progId="TCLayout.ActiveDocument.1">
                  <p:embed/>
                </p:oleObj>
              </mc:Choice>
              <mc:Fallback>
                <p:oleObj name="think-cell Slide" r:id="rId6"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47C21F0-6ED1-9132-0B98-99098A7032B4}"/>
              </a:ext>
            </a:extLst>
          </p:cNvPr>
          <p:cNvSpPr>
            <a:spLocks noGrp="1"/>
          </p:cNvSpPr>
          <p:nvPr>
            <p:ph type="title"/>
          </p:nvPr>
        </p:nvSpPr>
        <p:spPr>
          <a:xfrm>
            <a:off x="558800" y="635000"/>
            <a:ext cx="11087100" cy="838200"/>
          </a:xfrm>
        </p:spPr>
        <p:txBody>
          <a:bodyPr vert="horz" rIns="0" anchor="t" anchorCtr="0"/>
          <a:lstStyle/>
          <a:p>
            <a:r>
              <a:rPr lang="en-US"/>
              <a:t>Page building | Key takeaways</a:t>
            </a:r>
          </a:p>
        </p:txBody>
      </p:sp>
      <p:sp>
        <p:nvSpPr>
          <p:cNvPr id="5" name="Title 1">
            <a:extLst>
              <a:ext uri="{FF2B5EF4-FFF2-40B4-BE49-F238E27FC236}">
                <a16:creationId xmlns:a16="http://schemas.microsoft.com/office/drawing/2014/main" id="{EC084AE8-E815-56C7-95FE-FB0FCF523EA9}"/>
              </a:ext>
            </a:extLst>
          </p:cNvPr>
          <p:cNvSpPr txBox="1">
            <a:spLocks/>
          </p:cNvSpPr>
          <p:nvPr/>
        </p:nvSpPr>
        <p:spPr>
          <a:xfrm>
            <a:off x="1071418" y="3283365"/>
            <a:ext cx="9910618" cy="73152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bg1"/>
                </a:solidFill>
                <a:latin typeface="+mj-lt"/>
                <a:ea typeface="+mj-ea"/>
                <a:cs typeface="+mj-cs"/>
              </a:defRPr>
            </a:lvl1pPr>
          </a:lstStyle>
          <a:p>
            <a:r>
              <a:rPr lang="en-US"/>
              <a:t>Once you master common elements in a page, creating slides becomes templatized and simple</a:t>
            </a:r>
          </a:p>
        </p:txBody>
      </p:sp>
      <p:sp>
        <p:nvSpPr>
          <p:cNvPr id="6" name="Title 1">
            <a:extLst>
              <a:ext uri="{FF2B5EF4-FFF2-40B4-BE49-F238E27FC236}">
                <a16:creationId xmlns:a16="http://schemas.microsoft.com/office/drawing/2014/main" id="{F870E1DD-0D27-90CD-8D71-221F4013A237}"/>
              </a:ext>
            </a:extLst>
          </p:cNvPr>
          <p:cNvSpPr txBox="1">
            <a:spLocks/>
          </p:cNvSpPr>
          <p:nvPr/>
        </p:nvSpPr>
        <p:spPr>
          <a:xfrm>
            <a:off x="1071417" y="3063240"/>
            <a:ext cx="9910618" cy="113930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bg1"/>
                </a:solidFill>
                <a:latin typeface="+mj-lt"/>
                <a:ea typeface="+mj-ea"/>
                <a:cs typeface="+mj-cs"/>
              </a:defRPr>
            </a:lvl1pPr>
          </a:lstStyle>
          <a:p>
            <a:endParaRPr lang="en-US"/>
          </a:p>
        </p:txBody>
      </p:sp>
      <p:sp>
        <p:nvSpPr>
          <p:cNvPr id="7" name="Title 1">
            <a:extLst>
              <a:ext uri="{FF2B5EF4-FFF2-40B4-BE49-F238E27FC236}">
                <a16:creationId xmlns:a16="http://schemas.microsoft.com/office/drawing/2014/main" id="{6A2079DE-6DB8-87CD-6E46-5CF14762BD85}"/>
              </a:ext>
            </a:extLst>
          </p:cNvPr>
          <p:cNvSpPr txBox="1">
            <a:spLocks/>
          </p:cNvSpPr>
          <p:nvPr/>
        </p:nvSpPr>
        <p:spPr>
          <a:xfrm>
            <a:off x="1071418" y="4719002"/>
            <a:ext cx="10565846" cy="73152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bg1"/>
                </a:solidFill>
                <a:latin typeface="+mj-lt"/>
                <a:ea typeface="+mj-ea"/>
                <a:cs typeface="+mj-cs"/>
              </a:defRPr>
            </a:lvl1pPr>
          </a:lstStyle>
          <a:p>
            <a:r>
              <a:rPr lang="en-US"/>
              <a:t>Add or subtract page elements to fit the audience and client preference; the level of detail needed is often different across stakeholders</a:t>
            </a:r>
          </a:p>
        </p:txBody>
      </p:sp>
      <p:sp>
        <p:nvSpPr>
          <p:cNvPr id="3" name="Title 1">
            <a:extLst>
              <a:ext uri="{FF2B5EF4-FFF2-40B4-BE49-F238E27FC236}">
                <a16:creationId xmlns:a16="http://schemas.microsoft.com/office/drawing/2014/main" id="{86807C82-EC9C-AEE8-E7CC-A466947EA6EC}"/>
              </a:ext>
            </a:extLst>
          </p:cNvPr>
          <p:cNvSpPr txBox="1">
            <a:spLocks/>
          </p:cNvSpPr>
          <p:nvPr/>
        </p:nvSpPr>
        <p:spPr>
          <a:xfrm>
            <a:off x="1071418" y="1815263"/>
            <a:ext cx="9910618" cy="73152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bg1"/>
                </a:solidFill>
                <a:latin typeface="+mj-lt"/>
                <a:ea typeface="+mj-ea"/>
                <a:cs typeface="+mj-cs"/>
              </a:defRPr>
            </a:lvl1pPr>
          </a:lstStyle>
          <a:p>
            <a:r>
              <a:rPr lang="en-US"/>
              <a:t>Keep things simple and readable; mixing different fonts, colors, and elements should be kept to a minimum</a:t>
            </a:r>
          </a:p>
        </p:txBody>
      </p:sp>
      <p:sp>
        <p:nvSpPr>
          <p:cNvPr id="12" name="Oval 11">
            <a:extLst>
              <a:ext uri="{FF2B5EF4-FFF2-40B4-BE49-F238E27FC236}">
                <a16:creationId xmlns:a16="http://schemas.microsoft.com/office/drawing/2014/main" id="{95A5EF71-D35D-D8D9-59F8-8A7207AF1180}"/>
              </a:ext>
            </a:extLst>
          </p:cNvPr>
          <p:cNvSpPr/>
          <p:nvPr/>
        </p:nvSpPr>
        <p:spPr>
          <a:xfrm>
            <a:off x="554736" y="1774623"/>
            <a:ext cx="406400" cy="406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2"/>
                </a:solidFill>
              </a:rPr>
              <a:t>1</a:t>
            </a:r>
            <a:endParaRPr lang="en-US" b="1" dirty="0" err="1">
              <a:solidFill>
                <a:schemeClr val="bg2"/>
              </a:solidFill>
            </a:endParaRPr>
          </a:p>
        </p:txBody>
      </p:sp>
      <p:sp>
        <p:nvSpPr>
          <p:cNvPr id="14" name="Oval 13">
            <a:extLst>
              <a:ext uri="{FF2B5EF4-FFF2-40B4-BE49-F238E27FC236}">
                <a16:creationId xmlns:a16="http://schemas.microsoft.com/office/drawing/2014/main" id="{ABECF12F-6C30-5487-4C72-81B41D2D34A3}"/>
              </a:ext>
            </a:extLst>
          </p:cNvPr>
          <p:cNvSpPr/>
          <p:nvPr/>
        </p:nvSpPr>
        <p:spPr>
          <a:xfrm>
            <a:off x="554736" y="3226493"/>
            <a:ext cx="406400" cy="406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2"/>
                </a:solidFill>
              </a:rPr>
              <a:t>2</a:t>
            </a:r>
            <a:endParaRPr lang="en-US" b="1" dirty="0" err="1">
              <a:solidFill>
                <a:schemeClr val="bg2"/>
              </a:solidFill>
            </a:endParaRPr>
          </a:p>
        </p:txBody>
      </p:sp>
      <p:sp>
        <p:nvSpPr>
          <p:cNvPr id="16" name="Oval 15">
            <a:extLst>
              <a:ext uri="{FF2B5EF4-FFF2-40B4-BE49-F238E27FC236}">
                <a16:creationId xmlns:a16="http://schemas.microsoft.com/office/drawing/2014/main" id="{F191A174-9663-1058-346B-CC5DE18C4538}"/>
              </a:ext>
            </a:extLst>
          </p:cNvPr>
          <p:cNvSpPr/>
          <p:nvPr/>
        </p:nvSpPr>
        <p:spPr>
          <a:xfrm>
            <a:off x="554736" y="4678362"/>
            <a:ext cx="406400" cy="406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2"/>
                </a:solidFill>
              </a:rPr>
              <a:t>3</a:t>
            </a:r>
            <a:endParaRPr lang="en-US" b="1" dirty="0" err="1">
              <a:solidFill>
                <a:schemeClr val="bg2"/>
              </a:solidFill>
            </a:endParaRPr>
          </a:p>
        </p:txBody>
      </p:sp>
    </p:spTree>
    <p:extLst>
      <p:ext uri="{BB962C8B-B14F-4D97-AF65-F5344CB8AC3E}">
        <p14:creationId xmlns:p14="http://schemas.microsoft.com/office/powerpoint/2010/main" val="23744025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8AC4-44C0-2DEA-A95A-F6D097379AE9}"/>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B07152D-5E25-03E6-9F08-10811055456F}"/>
              </a:ext>
            </a:extLst>
          </p:cNvPr>
          <p:cNvGraphicFramePr>
            <a:graphicFrameLocks/>
          </p:cNvGraphicFramePr>
          <p:nvPr>
            <p:custDataLst>
              <p:tags r:id="rId1"/>
            </p:custDataLst>
            <p:extLst>
              <p:ext uri="{D42A27DB-BD31-4B8C-83A1-F6EECF244321}">
                <p14:modId xmlns:p14="http://schemas.microsoft.com/office/powerpoint/2010/main" val="32354015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2" name="think-cell data - do not delete" hidden="1">
            <a:extLst>
              <a:ext uri="{FF2B5EF4-FFF2-40B4-BE49-F238E27FC236}">
                <a16:creationId xmlns:a16="http://schemas.microsoft.com/office/drawing/2014/main" id="{6334EC42-E606-1165-56D8-0B26DD95B456}"/>
              </a:ext>
            </a:extLst>
          </p:cNvPr>
          <p:cNvGraphicFramePr>
            <a:graphicFrameLocks noChangeAspect="1"/>
          </p:cNvGraphicFramePr>
          <p:nvPr>
            <p:custDataLst>
              <p:tags r:id="rId2"/>
            </p:custDataLst>
            <p:extLst>
              <p:ext uri="{D42A27DB-BD31-4B8C-83A1-F6EECF244321}">
                <p14:modId xmlns:p14="http://schemas.microsoft.com/office/powerpoint/2010/main" val="39488431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7" imgH="348" progId="TCLayout.ActiveDocument.1">
                  <p:embed/>
                </p:oleObj>
              </mc:Choice>
              <mc:Fallback>
                <p:oleObj name="think-cell Slide" r:id="rId6"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52AD72A8-2C44-B817-54B2-BB4EA73681A2}"/>
              </a:ext>
            </a:extLst>
          </p:cNvPr>
          <p:cNvSpPr>
            <a:spLocks noGrp="1"/>
          </p:cNvSpPr>
          <p:nvPr>
            <p:ph type="title"/>
          </p:nvPr>
        </p:nvSpPr>
        <p:spPr>
          <a:xfrm>
            <a:off x="554736" y="1921164"/>
            <a:ext cx="1384900" cy="1780167"/>
          </a:xfrm>
        </p:spPr>
        <p:txBody>
          <a:bodyPr vert="horz" rIns="0"/>
          <a:lstStyle/>
          <a:p>
            <a:r>
              <a:rPr lang="en-US" sz="11500" b="1"/>
              <a:t>4</a:t>
            </a:r>
          </a:p>
        </p:txBody>
      </p:sp>
      <p:sp>
        <p:nvSpPr>
          <p:cNvPr id="7" name="Title 3">
            <a:extLst>
              <a:ext uri="{FF2B5EF4-FFF2-40B4-BE49-F238E27FC236}">
                <a16:creationId xmlns:a16="http://schemas.microsoft.com/office/drawing/2014/main" id="{F9FF5BFA-60FE-CE85-02A4-D7E629E0ECA2}"/>
              </a:ext>
            </a:extLst>
          </p:cNvPr>
          <p:cNvSpPr txBox="1">
            <a:spLocks/>
          </p:cNvSpPr>
          <p:nvPr/>
        </p:nvSpPr>
        <p:spPr>
          <a:xfrm>
            <a:off x="554736" y="3525840"/>
            <a:ext cx="5065776" cy="1341724"/>
          </a:xfrm>
          <a:prstGeom prst="rect">
            <a:avLst/>
          </a:prstGeom>
        </p:spPr>
        <p:txBody>
          <a:bodyPr vert="horz" wrap="square" lIns="0" tIns="0" rIns="0" bIns="0" rtlCol="0" anchor="b" anchorCtr="0">
            <a:noAutofit/>
          </a:bodyPr>
          <a:lstStyle>
            <a:lvl1pPr algn="l" defTabSz="914400" rtl="0" eaLnBrk="1" latinLnBrk="0" hangingPunct="1">
              <a:lnSpc>
                <a:spcPct val="90000"/>
              </a:lnSpc>
              <a:spcBef>
                <a:spcPct val="0"/>
              </a:spcBef>
              <a:buNone/>
              <a:defRPr sz="2600" kern="1200">
                <a:solidFill>
                  <a:schemeClr val="bg1"/>
                </a:solidFill>
                <a:latin typeface="+mj-lt"/>
                <a:ea typeface="+mj-ea"/>
                <a:cs typeface="+mj-cs"/>
              </a:defRPr>
            </a:lvl1pPr>
          </a:lstStyle>
          <a:p>
            <a:r>
              <a:rPr lang="en-US" sz="4800" b="1"/>
              <a:t>How we work with AI</a:t>
            </a:r>
          </a:p>
        </p:txBody>
      </p:sp>
      <p:sp>
        <p:nvSpPr>
          <p:cNvPr id="9" name="Title 1">
            <a:extLst>
              <a:ext uri="{FF2B5EF4-FFF2-40B4-BE49-F238E27FC236}">
                <a16:creationId xmlns:a16="http://schemas.microsoft.com/office/drawing/2014/main" id="{116F24CB-CDB9-9969-DE8C-E58B9323E3E7}"/>
              </a:ext>
            </a:extLst>
          </p:cNvPr>
          <p:cNvSpPr txBox="1">
            <a:spLocks/>
          </p:cNvSpPr>
          <p:nvPr/>
        </p:nvSpPr>
        <p:spPr>
          <a:xfrm>
            <a:off x="6474691" y="1625601"/>
            <a:ext cx="5162572" cy="153187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800" b="1"/>
              <a:t>WHAT</a:t>
            </a:r>
          </a:p>
          <a:p>
            <a:br>
              <a:rPr lang="en-US" sz="1800"/>
            </a:br>
            <a:r>
              <a:rPr lang="en-US" sz="1800"/>
              <a:t>This section is meant to be updated as AI tools develop; as of 2026, it outlines best practices in applying AI to consulting outputs</a:t>
            </a:r>
          </a:p>
        </p:txBody>
      </p:sp>
      <p:sp>
        <p:nvSpPr>
          <p:cNvPr id="10" name="Title 1">
            <a:extLst>
              <a:ext uri="{FF2B5EF4-FFF2-40B4-BE49-F238E27FC236}">
                <a16:creationId xmlns:a16="http://schemas.microsoft.com/office/drawing/2014/main" id="{B92EED2C-9F68-DA5F-BA39-37279CA5B6FE}"/>
              </a:ext>
            </a:extLst>
          </p:cNvPr>
          <p:cNvSpPr txBox="1">
            <a:spLocks/>
          </p:cNvSpPr>
          <p:nvPr/>
        </p:nvSpPr>
        <p:spPr>
          <a:xfrm>
            <a:off x="6474691" y="3429000"/>
            <a:ext cx="5162572" cy="153187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800" b="1"/>
              <a:t>WHY</a:t>
            </a:r>
          </a:p>
          <a:p>
            <a:br>
              <a:rPr lang="en-US" sz="1800"/>
            </a:br>
            <a:r>
              <a:rPr lang="en-US" sz="1800"/>
              <a:t>AI-native and agentic workflows allow one person to take on the work of several analysts; that said, it still requires direction and human review, just like a human analyst</a:t>
            </a:r>
          </a:p>
        </p:txBody>
      </p:sp>
    </p:spTree>
    <p:extLst>
      <p:ext uri="{BB962C8B-B14F-4D97-AF65-F5344CB8AC3E}">
        <p14:creationId xmlns:p14="http://schemas.microsoft.com/office/powerpoint/2010/main" val="37043652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06B37-BBA5-F277-F7CE-44830EDB75EC}"/>
            </a:ext>
          </a:extLst>
        </p:cNvPr>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4E17B310-41CA-972A-BD5C-9AA6C97A504F}"/>
              </a:ext>
            </a:extLst>
          </p:cNvPr>
          <p:cNvGraphicFramePr>
            <a:graphicFrameLocks/>
          </p:cNvGraphicFramePr>
          <p:nvPr>
            <p:custDataLst>
              <p:tags r:id="rId1"/>
            </p:custDataLst>
            <p:extLst>
              <p:ext uri="{D42A27DB-BD31-4B8C-83A1-F6EECF244321}">
                <p14:modId xmlns:p14="http://schemas.microsoft.com/office/powerpoint/2010/main" val="35803098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7" name="think-cell data - do not delete" hidden="1">
            <a:extLst>
              <a:ext uri="{FF2B5EF4-FFF2-40B4-BE49-F238E27FC236}">
                <a16:creationId xmlns:a16="http://schemas.microsoft.com/office/drawing/2014/main" id="{FEFCD5F6-9DA9-8661-A8FA-6C17F00A39D5}"/>
              </a:ext>
            </a:extLst>
          </p:cNvPr>
          <p:cNvGraphicFramePr>
            <a:graphicFrameLocks noChangeAspect="1"/>
          </p:cNvGraphicFramePr>
          <p:nvPr>
            <p:custDataLst>
              <p:tags r:id="rId2"/>
            </p:custDataLst>
            <p:extLst>
              <p:ext uri="{D42A27DB-BD31-4B8C-83A1-F6EECF244321}">
                <p14:modId xmlns:p14="http://schemas.microsoft.com/office/powerpoint/2010/main" val="6589044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7" imgH="348" progId="TCLayout.ActiveDocument.1">
                  <p:embed/>
                </p:oleObj>
              </mc:Choice>
              <mc:Fallback>
                <p:oleObj name="think-cell Slide" r:id="rId6"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8974EC9-D971-CA05-E54B-4351FBDE0237}"/>
              </a:ext>
            </a:extLst>
          </p:cNvPr>
          <p:cNvSpPr>
            <a:spLocks noGrp="1"/>
          </p:cNvSpPr>
          <p:nvPr>
            <p:ph type="title"/>
          </p:nvPr>
        </p:nvSpPr>
        <p:spPr>
          <a:xfrm>
            <a:off x="558800" y="635000"/>
            <a:ext cx="10582230" cy="838200"/>
          </a:xfrm>
        </p:spPr>
        <p:txBody>
          <a:bodyPr vert="horz" rIns="0" anchor="t" anchorCtr="0"/>
          <a:lstStyle/>
          <a:p>
            <a:r>
              <a:rPr lang="en-US"/>
              <a:t>To grow as a nimble, AI-native firm, Telesto is moving towards more agentic uses and new forms of deliverables</a:t>
            </a:r>
          </a:p>
        </p:txBody>
      </p:sp>
      <p:sp>
        <p:nvSpPr>
          <p:cNvPr id="5" name="Rectangle 4">
            <a:extLst>
              <a:ext uri="{FF2B5EF4-FFF2-40B4-BE49-F238E27FC236}">
                <a16:creationId xmlns:a16="http://schemas.microsoft.com/office/drawing/2014/main" id="{9AB2F872-4BA4-AB3B-E80D-5A9DE98A52EC}"/>
              </a:ext>
            </a:extLst>
          </p:cNvPr>
          <p:cNvSpPr/>
          <p:nvPr/>
        </p:nvSpPr>
        <p:spPr>
          <a:xfrm>
            <a:off x="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THINK</a:t>
            </a:r>
            <a:endParaRPr lang="en-US" sz="1100" dirty="0"/>
          </a:p>
        </p:txBody>
      </p:sp>
      <p:sp>
        <p:nvSpPr>
          <p:cNvPr id="8" name="Rectangle 7">
            <a:extLst>
              <a:ext uri="{FF2B5EF4-FFF2-40B4-BE49-F238E27FC236}">
                <a16:creationId xmlns:a16="http://schemas.microsoft.com/office/drawing/2014/main" id="{716257E7-70C5-9B78-6408-151CBC6B65AF}"/>
              </a:ext>
            </a:extLst>
          </p:cNvPr>
          <p:cNvSpPr/>
          <p:nvPr/>
        </p:nvSpPr>
        <p:spPr>
          <a:xfrm>
            <a:off x="7315200" y="-1"/>
            <a:ext cx="2438400" cy="29198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AI WORKFLOW</a:t>
            </a:r>
            <a:endParaRPr lang="en-US" sz="1100" dirty="0"/>
          </a:p>
        </p:txBody>
      </p:sp>
      <p:sp>
        <p:nvSpPr>
          <p:cNvPr id="39" name="Rectangle 39"/>
          <p:cNvSpPr/>
          <p:nvPr/>
        </p:nvSpPr>
        <p:spPr>
          <a:xfrm>
            <a:off x="97536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QUALITY &amp; DATA</a:t>
            </a:r>
            <a:endParaRPr lang="en-US" sz="1100" dirty="0"/>
          </a:p>
        </p:txBody>
      </p:sp>
      <p:sp>
        <p:nvSpPr>
          <p:cNvPr id="18" name="Rectangle 17">
            <a:extLst>
              <a:ext uri="{FF2B5EF4-FFF2-40B4-BE49-F238E27FC236}">
                <a16:creationId xmlns:a16="http://schemas.microsoft.com/office/drawing/2014/main" id="{6D2EA28B-6531-1907-AD12-EC5A56731397}"/>
              </a:ext>
            </a:extLst>
          </p:cNvPr>
          <p:cNvSpPr/>
          <p:nvPr/>
        </p:nvSpPr>
        <p:spPr>
          <a:xfrm>
            <a:off x="24384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DECK</a:t>
            </a:r>
            <a:endParaRPr lang="en-US" sz="1100" dirty="0"/>
          </a:p>
        </p:txBody>
      </p:sp>
      <p:sp>
        <p:nvSpPr>
          <p:cNvPr id="20" name="Rectangle 19">
            <a:extLst>
              <a:ext uri="{FF2B5EF4-FFF2-40B4-BE49-F238E27FC236}">
                <a16:creationId xmlns:a16="http://schemas.microsoft.com/office/drawing/2014/main" id="{80A9EA0F-9615-65C6-5385-EF85FB6FF404}"/>
              </a:ext>
            </a:extLst>
          </p:cNvPr>
          <p:cNvSpPr/>
          <p:nvPr/>
        </p:nvSpPr>
        <p:spPr>
          <a:xfrm>
            <a:off x="48768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PAGE</a:t>
            </a:r>
            <a:endParaRPr lang="en-US" sz="1100" dirty="0"/>
          </a:p>
        </p:txBody>
      </p:sp>
      <p:sp>
        <p:nvSpPr>
          <p:cNvPr id="4" name="Title 1">
            <a:extLst>
              <a:ext uri="{FF2B5EF4-FFF2-40B4-BE49-F238E27FC236}">
                <a16:creationId xmlns:a16="http://schemas.microsoft.com/office/drawing/2014/main" id="{55E1E3A6-21A4-66F7-D456-E751D6655B10}"/>
              </a:ext>
            </a:extLst>
          </p:cNvPr>
          <p:cNvSpPr txBox="1">
            <a:spLocks/>
          </p:cNvSpPr>
          <p:nvPr/>
        </p:nvSpPr>
        <p:spPr>
          <a:xfrm>
            <a:off x="1423510" y="1776188"/>
            <a:ext cx="2751882" cy="533267"/>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800" b="1">
                <a:solidFill>
                  <a:schemeClr val="accent5"/>
                </a:solidFill>
              </a:rPr>
              <a:t>No agency</a:t>
            </a:r>
            <a:br>
              <a:rPr lang="en-US" sz="1800" b="1">
                <a:solidFill>
                  <a:schemeClr val="accent5"/>
                </a:solidFill>
              </a:rPr>
            </a:br>
            <a:r>
              <a:rPr lang="en-US" sz="1400">
                <a:solidFill>
                  <a:schemeClr val="bg1">
                    <a:lumMod val="50000"/>
                  </a:schemeClr>
                </a:solidFill>
              </a:rPr>
              <a:t>Human-initiated, AI executes narrow tasks</a:t>
            </a:r>
            <a:endParaRPr lang="en-US" sz="1800">
              <a:solidFill>
                <a:schemeClr val="bg1">
                  <a:lumMod val="50000"/>
                </a:schemeClr>
              </a:solidFill>
            </a:endParaRPr>
          </a:p>
        </p:txBody>
      </p:sp>
      <p:sp>
        <p:nvSpPr>
          <p:cNvPr id="6" name="Title 1">
            <a:extLst>
              <a:ext uri="{FF2B5EF4-FFF2-40B4-BE49-F238E27FC236}">
                <a16:creationId xmlns:a16="http://schemas.microsoft.com/office/drawing/2014/main" id="{B2654E29-FFA5-9625-9616-EB201F346BE5}"/>
              </a:ext>
            </a:extLst>
          </p:cNvPr>
          <p:cNvSpPr txBox="1">
            <a:spLocks/>
          </p:cNvSpPr>
          <p:nvPr/>
        </p:nvSpPr>
        <p:spPr>
          <a:xfrm>
            <a:off x="4706320" y="1776188"/>
            <a:ext cx="2533464" cy="838199"/>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800" b="1">
                <a:solidFill>
                  <a:schemeClr val="accent5"/>
                </a:solidFill>
              </a:rPr>
              <a:t>Prescribed agency</a:t>
            </a:r>
            <a:br>
              <a:rPr lang="en-US" sz="1800" b="1">
                <a:solidFill>
                  <a:schemeClr val="accent5"/>
                </a:solidFill>
              </a:rPr>
            </a:br>
            <a:r>
              <a:rPr lang="en-US" sz="1400">
                <a:solidFill>
                  <a:schemeClr val="bg1">
                    <a:lumMod val="50000"/>
                  </a:schemeClr>
                </a:solidFill>
              </a:rPr>
              <a:t>Human-initiated, AI makes some judgment calls</a:t>
            </a:r>
            <a:endParaRPr lang="en-US" sz="1800" b="1">
              <a:solidFill>
                <a:schemeClr val="accent5"/>
              </a:solidFill>
            </a:endParaRPr>
          </a:p>
        </p:txBody>
      </p:sp>
      <p:sp>
        <p:nvSpPr>
          <p:cNvPr id="9" name="Title 1">
            <a:extLst>
              <a:ext uri="{FF2B5EF4-FFF2-40B4-BE49-F238E27FC236}">
                <a16:creationId xmlns:a16="http://schemas.microsoft.com/office/drawing/2014/main" id="{2565E214-E8B4-00B6-1B06-E3EDDEF2BE1B}"/>
              </a:ext>
            </a:extLst>
          </p:cNvPr>
          <p:cNvSpPr txBox="1">
            <a:spLocks/>
          </p:cNvSpPr>
          <p:nvPr/>
        </p:nvSpPr>
        <p:spPr>
          <a:xfrm>
            <a:off x="8252958" y="1776188"/>
            <a:ext cx="3032398" cy="71477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800" b="1">
                <a:solidFill>
                  <a:schemeClr val="accent5"/>
                </a:solidFill>
              </a:rPr>
              <a:t>Full agency</a:t>
            </a:r>
            <a:br>
              <a:rPr lang="en-US" sz="1800" b="1">
                <a:solidFill>
                  <a:schemeClr val="accent5"/>
                </a:solidFill>
              </a:rPr>
            </a:br>
            <a:r>
              <a:rPr lang="en-US" sz="1400">
                <a:solidFill>
                  <a:schemeClr val="bg1">
                    <a:lumMod val="50000"/>
                  </a:schemeClr>
                </a:solidFill>
              </a:rPr>
              <a:t>AI plans, reads, and writes on its own</a:t>
            </a:r>
            <a:endParaRPr lang="en-US" sz="1800" b="1">
              <a:solidFill>
                <a:schemeClr val="accent5"/>
              </a:solidFill>
            </a:endParaRPr>
          </a:p>
        </p:txBody>
      </p:sp>
      <p:sp>
        <p:nvSpPr>
          <p:cNvPr id="11" name="Title 1">
            <a:extLst>
              <a:ext uri="{FF2B5EF4-FFF2-40B4-BE49-F238E27FC236}">
                <a16:creationId xmlns:a16="http://schemas.microsoft.com/office/drawing/2014/main" id="{B564A4FE-6254-2C2C-9801-C2DD163BAD90}"/>
              </a:ext>
            </a:extLst>
          </p:cNvPr>
          <p:cNvSpPr txBox="1">
            <a:spLocks/>
          </p:cNvSpPr>
          <p:nvPr/>
        </p:nvSpPr>
        <p:spPr>
          <a:xfrm>
            <a:off x="1365143" y="4131786"/>
            <a:ext cx="3032400" cy="1446439"/>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233363" indent="-233363">
              <a:buFont typeface="Arial" panose="020B0604020202020204" pitchFamily="34" charset="0"/>
              <a:buChar char="•"/>
            </a:pPr>
            <a:r>
              <a:rPr lang="en-US" sz="1600"/>
              <a:t>Formatting</a:t>
            </a:r>
          </a:p>
          <a:p>
            <a:pPr marL="233363" indent="-233363">
              <a:buFont typeface="Arial" panose="020B0604020202020204" pitchFamily="34" charset="0"/>
              <a:buChar char="•"/>
            </a:pPr>
            <a:r>
              <a:rPr lang="en-US" sz="1600"/>
              <a:t>Bulk edits</a:t>
            </a:r>
          </a:p>
          <a:p>
            <a:pPr marL="233363" indent="-233363">
              <a:buFont typeface="Arial" panose="020B0604020202020204" pitchFamily="34" charset="0"/>
              <a:buChar char="•"/>
            </a:pPr>
            <a:r>
              <a:rPr lang="en-US" sz="1600"/>
              <a:t>Data manipulation </a:t>
            </a:r>
          </a:p>
          <a:p>
            <a:pPr marL="233363" indent="-233363">
              <a:buFont typeface="Arial" panose="020B0604020202020204" pitchFamily="34" charset="0"/>
              <a:buChar char="•"/>
            </a:pPr>
            <a:r>
              <a:rPr lang="en-US" sz="1600"/>
              <a:t>QC</a:t>
            </a:r>
          </a:p>
        </p:txBody>
      </p:sp>
      <p:sp>
        <p:nvSpPr>
          <p:cNvPr id="16" name="Title 1">
            <a:extLst>
              <a:ext uri="{FF2B5EF4-FFF2-40B4-BE49-F238E27FC236}">
                <a16:creationId xmlns:a16="http://schemas.microsoft.com/office/drawing/2014/main" id="{1737AB00-652B-1901-356F-67487639040D}"/>
              </a:ext>
            </a:extLst>
          </p:cNvPr>
          <p:cNvSpPr txBox="1">
            <a:spLocks/>
          </p:cNvSpPr>
          <p:nvPr/>
        </p:nvSpPr>
        <p:spPr>
          <a:xfrm>
            <a:off x="4706320" y="4131786"/>
            <a:ext cx="3032399" cy="1251008"/>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233363" indent="-233363">
              <a:buFont typeface="Arial" panose="020B0604020202020204" pitchFamily="34" charset="0"/>
              <a:buChar char="•"/>
            </a:pPr>
            <a:r>
              <a:rPr lang="en-US" sz="1600"/>
              <a:t>Synthesizing data into findings</a:t>
            </a:r>
          </a:p>
          <a:p>
            <a:pPr marL="233363" indent="-233363">
              <a:buFont typeface="Arial" panose="020B0604020202020204" pitchFamily="34" charset="0"/>
              <a:buChar char="•"/>
            </a:pPr>
            <a:r>
              <a:rPr lang="en-US" sz="1600"/>
              <a:t>Drafting storylines</a:t>
            </a:r>
          </a:p>
          <a:p>
            <a:pPr marL="233363" indent="-233363">
              <a:buFont typeface="Arial" panose="020B0604020202020204" pitchFamily="34" charset="0"/>
              <a:buChar char="•"/>
            </a:pPr>
            <a:r>
              <a:rPr lang="en-US" sz="1600"/>
              <a:t>Creating dashboards</a:t>
            </a:r>
          </a:p>
          <a:p>
            <a:pPr marL="233363" indent="-233363">
              <a:buFont typeface="Arial" panose="020B0604020202020204" pitchFamily="34" charset="0"/>
              <a:buChar char="•"/>
            </a:pPr>
            <a:r>
              <a:rPr lang="en-US" sz="1600"/>
              <a:t>Creating crosstabs and charts</a:t>
            </a:r>
          </a:p>
          <a:p>
            <a:pPr marL="233363" indent="-233363">
              <a:buFont typeface="Arial" panose="020B0604020202020204" pitchFamily="34" charset="0"/>
              <a:buChar char="•"/>
            </a:pPr>
            <a:r>
              <a:rPr lang="en-US" sz="1600"/>
              <a:t>Writing survey instruments</a:t>
            </a:r>
          </a:p>
        </p:txBody>
      </p:sp>
      <p:sp>
        <p:nvSpPr>
          <p:cNvPr id="17" name="Title 1">
            <a:extLst>
              <a:ext uri="{FF2B5EF4-FFF2-40B4-BE49-F238E27FC236}">
                <a16:creationId xmlns:a16="http://schemas.microsoft.com/office/drawing/2014/main" id="{03A4AFBD-A184-9C9A-E8B2-B4F76D45DF75}"/>
              </a:ext>
            </a:extLst>
          </p:cNvPr>
          <p:cNvSpPr txBox="1">
            <a:spLocks/>
          </p:cNvSpPr>
          <p:nvPr/>
        </p:nvSpPr>
        <p:spPr>
          <a:xfrm>
            <a:off x="8252959" y="4131786"/>
            <a:ext cx="3032398" cy="1251008"/>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233363" indent="-233363">
              <a:buFont typeface="Arial" panose="020B0604020202020204" pitchFamily="34" charset="0"/>
              <a:buChar char="•"/>
            </a:pPr>
            <a:r>
              <a:rPr lang="en-US" sz="1600"/>
              <a:t>Agents that direct other agents</a:t>
            </a:r>
          </a:p>
          <a:p>
            <a:pPr marL="233363" indent="-233363">
              <a:buFont typeface="Arial" panose="020B0604020202020204" pitchFamily="34" charset="0"/>
              <a:buChar char="•"/>
            </a:pPr>
            <a:r>
              <a:rPr lang="en-US" sz="1600"/>
              <a:t>Proprietary AI models with reinforcement learning</a:t>
            </a:r>
          </a:p>
        </p:txBody>
      </p:sp>
      <p:sp>
        <p:nvSpPr>
          <p:cNvPr id="36" name="Title 1">
            <a:extLst>
              <a:ext uri="{FF2B5EF4-FFF2-40B4-BE49-F238E27FC236}">
                <a16:creationId xmlns:a16="http://schemas.microsoft.com/office/drawing/2014/main" id="{5DE45F95-9E1C-5A38-A293-D6B7041E7C75}"/>
              </a:ext>
            </a:extLst>
          </p:cNvPr>
          <p:cNvSpPr txBox="1">
            <a:spLocks/>
          </p:cNvSpPr>
          <p:nvPr/>
        </p:nvSpPr>
        <p:spPr>
          <a:xfrm>
            <a:off x="1365143" y="2566378"/>
            <a:ext cx="3167946" cy="1235003"/>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233363" indent="-233363">
              <a:buFont typeface="Arial" panose="020B0604020202020204" pitchFamily="34" charset="0"/>
              <a:buChar char="•"/>
            </a:pPr>
            <a:r>
              <a:rPr lang="en-US" sz="1600"/>
              <a:t>Expense coding</a:t>
            </a:r>
          </a:p>
          <a:p>
            <a:pPr marL="233363" indent="-233363">
              <a:buFont typeface="Arial" panose="020B0604020202020204" pitchFamily="34" charset="0"/>
              <a:buChar char="•"/>
            </a:pPr>
            <a:r>
              <a:rPr lang="en-US" sz="1600"/>
              <a:t>Project tracking</a:t>
            </a:r>
          </a:p>
          <a:p>
            <a:pPr marL="233363" indent="-233363">
              <a:buFont typeface="Arial" panose="020B0604020202020204" pitchFamily="34" charset="0"/>
              <a:buChar char="•"/>
            </a:pPr>
            <a:r>
              <a:rPr lang="en-US" sz="1600"/>
              <a:t>Compiling meeting notes</a:t>
            </a:r>
          </a:p>
          <a:p>
            <a:pPr marL="233363" indent="-233363">
              <a:buFont typeface="Arial" panose="020B0604020202020204" pitchFamily="34" charset="0"/>
              <a:buChar char="•"/>
            </a:pPr>
            <a:r>
              <a:rPr lang="en-US" sz="1600"/>
              <a:t>Drafting internal memos</a:t>
            </a:r>
          </a:p>
        </p:txBody>
      </p:sp>
      <p:sp>
        <p:nvSpPr>
          <p:cNvPr id="37" name="Title 1">
            <a:extLst>
              <a:ext uri="{FF2B5EF4-FFF2-40B4-BE49-F238E27FC236}">
                <a16:creationId xmlns:a16="http://schemas.microsoft.com/office/drawing/2014/main" id="{FD44F576-1CDA-327D-4DFE-B4DAD8F699F1}"/>
              </a:ext>
            </a:extLst>
          </p:cNvPr>
          <p:cNvSpPr txBox="1">
            <a:spLocks/>
          </p:cNvSpPr>
          <p:nvPr/>
        </p:nvSpPr>
        <p:spPr>
          <a:xfrm>
            <a:off x="4706320" y="2566378"/>
            <a:ext cx="3032399" cy="939914"/>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233363" indent="-233363">
              <a:buFont typeface="Arial" panose="020B0604020202020204" pitchFamily="34" charset="0"/>
              <a:buChar char="•"/>
            </a:pPr>
            <a:r>
              <a:rPr lang="en-US" sz="1600"/>
              <a:t>Automated reminders</a:t>
            </a:r>
          </a:p>
          <a:p>
            <a:pPr marL="233363" indent="-233363">
              <a:buFont typeface="Arial" panose="020B0604020202020204" pitchFamily="34" charset="0"/>
              <a:buChar char="•"/>
            </a:pPr>
            <a:r>
              <a:rPr lang="en-US" sz="1600"/>
              <a:t>Utilization tracking</a:t>
            </a:r>
          </a:p>
          <a:p>
            <a:pPr marL="233363" indent="-233363">
              <a:buFont typeface="Arial" panose="020B0604020202020204" pitchFamily="34" charset="0"/>
              <a:buChar char="•"/>
            </a:pPr>
            <a:r>
              <a:rPr lang="en-US" sz="1600"/>
              <a:t>Financial projection</a:t>
            </a:r>
          </a:p>
        </p:txBody>
      </p:sp>
      <p:sp>
        <p:nvSpPr>
          <p:cNvPr id="38" name="Title 1">
            <a:extLst>
              <a:ext uri="{FF2B5EF4-FFF2-40B4-BE49-F238E27FC236}">
                <a16:creationId xmlns:a16="http://schemas.microsoft.com/office/drawing/2014/main" id="{9EF2B205-776D-395D-E1F6-B4DD036A0166}"/>
              </a:ext>
            </a:extLst>
          </p:cNvPr>
          <p:cNvSpPr txBox="1">
            <a:spLocks/>
          </p:cNvSpPr>
          <p:nvPr/>
        </p:nvSpPr>
        <p:spPr>
          <a:xfrm>
            <a:off x="8252958" y="2566378"/>
            <a:ext cx="2862719" cy="939914"/>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233363" indent="-233363">
              <a:buFont typeface="Arial" panose="020B0604020202020204" pitchFamily="34" charset="0"/>
              <a:buChar char="•"/>
            </a:pPr>
            <a:r>
              <a:rPr lang="en-US" sz="1600"/>
              <a:t>BD and recruiting research agents</a:t>
            </a:r>
          </a:p>
          <a:p>
            <a:pPr marL="233363" indent="-233363">
              <a:buFont typeface="Arial" panose="020B0604020202020204" pitchFamily="34" charset="0"/>
              <a:buChar char="•"/>
            </a:pPr>
            <a:r>
              <a:rPr lang="en-US" sz="1600"/>
              <a:t>Autonomous marketing outreach</a:t>
            </a:r>
          </a:p>
        </p:txBody>
      </p:sp>
      <p:cxnSp>
        <p:nvCxnSpPr>
          <p:cNvPr id="3" name="Straight Arrow Connector 2">
            <a:extLst>
              <a:ext uri="{FF2B5EF4-FFF2-40B4-BE49-F238E27FC236}">
                <a16:creationId xmlns:a16="http://schemas.microsoft.com/office/drawing/2014/main" id="{3C0BA269-CF6C-1A2C-7A0A-3A04149D5FD3}"/>
              </a:ext>
            </a:extLst>
          </p:cNvPr>
          <p:cNvCxnSpPr>
            <a:cxnSpLocks/>
          </p:cNvCxnSpPr>
          <p:nvPr/>
        </p:nvCxnSpPr>
        <p:spPr>
          <a:xfrm>
            <a:off x="476107" y="5571933"/>
            <a:ext cx="10586295" cy="0"/>
          </a:xfrm>
          <a:prstGeom prst="straightConnector1">
            <a:avLst/>
          </a:prstGeom>
          <a:ln w="9525">
            <a:solidFill>
              <a:schemeClr val="accent5"/>
            </a:solidFill>
            <a:tailEnd type="triangle"/>
          </a:ln>
        </p:spPr>
        <p:style>
          <a:lnRef idx="1">
            <a:schemeClr val="dk1"/>
          </a:lnRef>
          <a:fillRef idx="0">
            <a:schemeClr val="dk1"/>
          </a:fillRef>
          <a:effectRef idx="0">
            <a:schemeClr val="dk1"/>
          </a:effectRef>
          <a:fontRef idx="minor">
            <a:schemeClr val="tx1"/>
          </a:fontRef>
        </p:style>
      </p:cxnSp>
      <p:sp>
        <p:nvSpPr>
          <p:cNvPr id="14" name="Title 1">
            <a:extLst>
              <a:ext uri="{FF2B5EF4-FFF2-40B4-BE49-F238E27FC236}">
                <a16:creationId xmlns:a16="http://schemas.microsoft.com/office/drawing/2014/main" id="{E413468A-31BC-27B3-A4DD-73470230236F}"/>
              </a:ext>
            </a:extLst>
          </p:cNvPr>
          <p:cNvSpPr txBox="1">
            <a:spLocks/>
          </p:cNvSpPr>
          <p:nvPr/>
        </p:nvSpPr>
        <p:spPr>
          <a:xfrm>
            <a:off x="5564058" y="5482847"/>
            <a:ext cx="959189" cy="252641"/>
          </a:xfrm>
          <a:prstGeom prst="rect">
            <a:avLst/>
          </a:prstGeom>
          <a:solidFill>
            <a:schemeClr val="bg1"/>
          </a:solidFill>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n-US" sz="1100">
                <a:solidFill>
                  <a:schemeClr val="accent5"/>
                </a:solidFill>
              </a:rPr>
              <a:t>Level of risk</a:t>
            </a:r>
          </a:p>
          <a:p>
            <a:pPr marL="342900" indent="-342900" algn="ctr">
              <a:buFont typeface="Arial" panose="020B0604020202020204" pitchFamily="34" charset="0"/>
              <a:buChar char="•"/>
            </a:pPr>
            <a:endParaRPr lang="en-US" sz="1100">
              <a:solidFill>
                <a:schemeClr val="accent5"/>
              </a:solidFill>
            </a:endParaRPr>
          </a:p>
        </p:txBody>
      </p:sp>
      <p:sp>
        <p:nvSpPr>
          <p:cNvPr id="15" name="Rectangle 14">
            <a:extLst>
              <a:ext uri="{FF2B5EF4-FFF2-40B4-BE49-F238E27FC236}">
                <a16:creationId xmlns:a16="http://schemas.microsoft.com/office/drawing/2014/main" id="{D08FE7B8-98F3-66EE-5D0C-C5A1C58CA39B}"/>
              </a:ext>
            </a:extLst>
          </p:cNvPr>
          <p:cNvSpPr/>
          <p:nvPr/>
        </p:nvSpPr>
        <p:spPr>
          <a:xfrm>
            <a:off x="469900" y="2505717"/>
            <a:ext cx="749300" cy="140577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t>Firm ops</a:t>
            </a:r>
          </a:p>
        </p:txBody>
      </p:sp>
      <p:sp>
        <p:nvSpPr>
          <p:cNvPr id="19" name="Rectangle 18">
            <a:extLst>
              <a:ext uri="{FF2B5EF4-FFF2-40B4-BE49-F238E27FC236}">
                <a16:creationId xmlns:a16="http://schemas.microsoft.com/office/drawing/2014/main" id="{0D160F4E-8FA5-0477-8C79-0ECBEDD1AC14}"/>
              </a:ext>
            </a:extLst>
          </p:cNvPr>
          <p:cNvSpPr/>
          <p:nvPr/>
        </p:nvSpPr>
        <p:spPr>
          <a:xfrm>
            <a:off x="469900" y="4054285"/>
            <a:ext cx="749300" cy="144643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t>Client work</a:t>
            </a:r>
          </a:p>
        </p:txBody>
      </p:sp>
      <p:cxnSp>
        <p:nvCxnSpPr>
          <p:cNvPr id="22" name="Straight Connector 21">
            <a:extLst>
              <a:ext uri="{FF2B5EF4-FFF2-40B4-BE49-F238E27FC236}">
                <a16:creationId xmlns:a16="http://schemas.microsoft.com/office/drawing/2014/main" id="{AF43D372-77AF-6A79-93E6-257B81186E34}"/>
              </a:ext>
            </a:extLst>
          </p:cNvPr>
          <p:cNvCxnSpPr>
            <a:cxnSpLocks/>
          </p:cNvCxnSpPr>
          <p:nvPr/>
        </p:nvCxnSpPr>
        <p:spPr>
          <a:xfrm>
            <a:off x="476107" y="3982886"/>
            <a:ext cx="10664923" cy="0"/>
          </a:xfrm>
          <a:prstGeom prst="line">
            <a:avLst/>
          </a:prstGeom>
          <a:ln w="9525">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C916CD10-8958-626F-A034-4CAB56F20035}"/>
              </a:ext>
            </a:extLst>
          </p:cNvPr>
          <p:cNvCxnSpPr>
            <a:cxnSpLocks/>
          </p:cNvCxnSpPr>
          <p:nvPr/>
        </p:nvCxnSpPr>
        <p:spPr>
          <a:xfrm>
            <a:off x="476107" y="2445294"/>
            <a:ext cx="10586295"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947418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7FDD8-1E19-9A66-B6D9-3FD36202B866}"/>
            </a:ext>
          </a:extLst>
        </p:cNvPr>
        <p:cNvGrpSpPr/>
        <p:nvPr/>
      </p:nvGrpSpPr>
      <p:grpSpPr>
        <a:xfrm>
          <a:off x="0" y="0"/>
          <a:ext cx="0" cy="0"/>
          <a:chOff x="0" y="0"/>
          <a:chExt cx="0" cy="0"/>
        </a:xfrm>
      </p:grpSpPr>
      <p:graphicFrame>
        <p:nvGraphicFramePr>
          <p:cNvPr id="25" name="think-cell data - do not delete" hidden="1">
            <a:extLst>
              <a:ext uri="{FF2B5EF4-FFF2-40B4-BE49-F238E27FC236}">
                <a16:creationId xmlns:a16="http://schemas.microsoft.com/office/drawing/2014/main" id="{6783E1F7-051F-39E6-D49C-AC8987F3BCED}"/>
              </a:ext>
            </a:extLst>
          </p:cNvPr>
          <p:cNvGraphicFramePr>
            <a:graphicFrameLocks/>
          </p:cNvGraphicFramePr>
          <p:nvPr>
            <p:custDataLst>
              <p:tags r:id="rId1"/>
            </p:custDataLst>
            <p:extLst>
              <p:ext uri="{D42A27DB-BD31-4B8C-83A1-F6EECF244321}">
                <p14:modId xmlns:p14="http://schemas.microsoft.com/office/powerpoint/2010/main" val="18233988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24" name="think-cell data - do not delete" hidden="1">
            <a:extLst>
              <a:ext uri="{FF2B5EF4-FFF2-40B4-BE49-F238E27FC236}">
                <a16:creationId xmlns:a16="http://schemas.microsoft.com/office/drawing/2014/main" id="{2405CD2B-040A-B36D-FBEC-827F9FE1773C}"/>
              </a:ext>
            </a:extLst>
          </p:cNvPr>
          <p:cNvGraphicFramePr>
            <a:graphicFrameLocks noChangeAspect="1"/>
          </p:cNvGraphicFramePr>
          <p:nvPr>
            <p:custDataLst>
              <p:tags r:id="rId2"/>
            </p:custDataLst>
            <p:extLst>
              <p:ext uri="{D42A27DB-BD31-4B8C-83A1-F6EECF244321}">
                <p14:modId xmlns:p14="http://schemas.microsoft.com/office/powerpoint/2010/main" val="16574288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7" imgH="348" progId="TCLayout.ActiveDocument.1">
                  <p:embed/>
                </p:oleObj>
              </mc:Choice>
              <mc:Fallback>
                <p:oleObj name="think-cell Slide" r:id="rId6"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7" name="Rectangle 16">
            <a:extLst>
              <a:ext uri="{FF2B5EF4-FFF2-40B4-BE49-F238E27FC236}">
                <a16:creationId xmlns:a16="http://schemas.microsoft.com/office/drawing/2014/main" id="{7B398172-221D-5D66-D289-E19948346BA3}"/>
              </a:ext>
            </a:extLst>
          </p:cNvPr>
          <p:cNvSpPr/>
          <p:nvPr/>
        </p:nvSpPr>
        <p:spPr>
          <a:xfrm>
            <a:off x="6342630" y="2102468"/>
            <a:ext cx="4780999" cy="3370813"/>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err="1"/>
          </a:p>
        </p:txBody>
      </p:sp>
      <p:sp>
        <p:nvSpPr>
          <p:cNvPr id="16" name="Rectangle 15">
            <a:extLst>
              <a:ext uri="{FF2B5EF4-FFF2-40B4-BE49-F238E27FC236}">
                <a16:creationId xmlns:a16="http://schemas.microsoft.com/office/drawing/2014/main" id="{F548C94A-9A81-22C1-D128-1DA5A1270EF5}"/>
              </a:ext>
            </a:extLst>
          </p:cNvPr>
          <p:cNvSpPr/>
          <p:nvPr/>
        </p:nvSpPr>
        <p:spPr>
          <a:xfrm>
            <a:off x="554736" y="4135815"/>
            <a:ext cx="4211817" cy="1998483"/>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err="1"/>
          </a:p>
        </p:txBody>
      </p:sp>
      <p:sp>
        <p:nvSpPr>
          <p:cNvPr id="14" name="Rectangle 13">
            <a:extLst>
              <a:ext uri="{FF2B5EF4-FFF2-40B4-BE49-F238E27FC236}">
                <a16:creationId xmlns:a16="http://schemas.microsoft.com/office/drawing/2014/main" id="{AF132EF8-FF87-D703-1759-6DE4A9B2B6AC}"/>
              </a:ext>
            </a:extLst>
          </p:cNvPr>
          <p:cNvSpPr/>
          <p:nvPr/>
        </p:nvSpPr>
        <p:spPr>
          <a:xfrm>
            <a:off x="554736" y="1544909"/>
            <a:ext cx="4211817" cy="1998483"/>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err="1"/>
          </a:p>
        </p:txBody>
      </p:sp>
      <p:sp>
        <p:nvSpPr>
          <p:cNvPr id="2" name="Title 1">
            <a:extLst>
              <a:ext uri="{FF2B5EF4-FFF2-40B4-BE49-F238E27FC236}">
                <a16:creationId xmlns:a16="http://schemas.microsoft.com/office/drawing/2014/main" id="{F373F916-956D-45C0-01C8-8989DFE4A61F}"/>
              </a:ext>
            </a:extLst>
          </p:cNvPr>
          <p:cNvSpPr>
            <a:spLocks noGrp="1"/>
          </p:cNvSpPr>
          <p:nvPr>
            <p:ph type="title"/>
          </p:nvPr>
        </p:nvSpPr>
        <p:spPr>
          <a:xfrm>
            <a:off x="558800" y="635000"/>
            <a:ext cx="11270034" cy="838200"/>
          </a:xfrm>
        </p:spPr>
        <p:txBody>
          <a:bodyPr vert="horz" rIns="0" anchor="t" anchorCtr="0"/>
          <a:lstStyle/>
          <a:p>
            <a:r>
              <a:rPr lang="en-US"/>
              <a:t>AI workflow can only be a moat when original IP and firm data are combined</a:t>
            </a:r>
          </a:p>
        </p:txBody>
      </p:sp>
      <p:sp>
        <p:nvSpPr>
          <p:cNvPr id="15" name="Title 1">
            <a:extLst>
              <a:ext uri="{FF2B5EF4-FFF2-40B4-BE49-F238E27FC236}">
                <a16:creationId xmlns:a16="http://schemas.microsoft.com/office/drawing/2014/main" id="{2D3EFED3-4738-5D62-B0F3-AA9ECA045F5A}"/>
              </a:ext>
            </a:extLst>
          </p:cNvPr>
          <p:cNvSpPr txBox="1">
            <a:spLocks/>
          </p:cNvSpPr>
          <p:nvPr/>
        </p:nvSpPr>
        <p:spPr>
          <a:xfrm>
            <a:off x="708297" y="2159762"/>
            <a:ext cx="3741155" cy="1156403"/>
          </a:xfrm>
          <a:prstGeom prst="rect">
            <a:avLst/>
          </a:prstGeom>
        </p:spPr>
        <p:txBody>
          <a:bodyPr vert="horz" lIns="18000" tIns="18000" rIns="18000" bIns="1800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285750" indent="-285750" algn="l">
              <a:spcAft>
                <a:spcPts val="600"/>
              </a:spcAft>
              <a:buFont typeface="Arial" panose="020B0604020202020204" pitchFamily="34" charset="0"/>
              <a:buChar char="•"/>
            </a:pPr>
            <a:r>
              <a:rPr lang="en-US" sz="1600">
                <a:latin typeface="Arial" panose="020B0604020202020204" pitchFamily="34" charset="0"/>
                <a:cs typeface="Arial" panose="020B0604020202020204" pitchFamily="34" charset="0"/>
              </a:rPr>
              <a:t>The firm’s repeatable, proprietary approach to solving problems (e.g., this manual)</a:t>
            </a:r>
          </a:p>
          <a:p>
            <a:pPr marL="285750" indent="-285750" algn="l">
              <a:spcAft>
                <a:spcPts val="600"/>
              </a:spcAft>
              <a:buFont typeface="Arial" panose="020B0604020202020204" pitchFamily="34" charset="0"/>
              <a:buChar char="•"/>
            </a:pPr>
            <a:r>
              <a:rPr lang="en-US" sz="1600">
                <a:latin typeface="Arial" panose="020B0604020202020204" pitchFamily="34" charset="0"/>
                <a:cs typeface="Arial" panose="020B0604020202020204" pitchFamily="34" charset="0"/>
              </a:rPr>
              <a:t>Includes deep domain knowledge and industry-specific insights</a:t>
            </a:r>
          </a:p>
        </p:txBody>
      </p:sp>
      <p:sp>
        <p:nvSpPr>
          <p:cNvPr id="20" name="Title 1">
            <a:extLst>
              <a:ext uri="{FF2B5EF4-FFF2-40B4-BE49-F238E27FC236}">
                <a16:creationId xmlns:a16="http://schemas.microsoft.com/office/drawing/2014/main" id="{58472159-7920-9084-7026-6C45D2145C5E}"/>
              </a:ext>
            </a:extLst>
          </p:cNvPr>
          <p:cNvSpPr txBox="1">
            <a:spLocks/>
          </p:cNvSpPr>
          <p:nvPr/>
        </p:nvSpPr>
        <p:spPr>
          <a:xfrm>
            <a:off x="6566170" y="2944940"/>
            <a:ext cx="4439102" cy="1688723"/>
          </a:xfrm>
          <a:prstGeom prst="rect">
            <a:avLst/>
          </a:prstGeom>
        </p:spPr>
        <p:txBody>
          <a:bodyPr vert="horz" lIns="18000" tIns="18000" rIns="18000" bIns="1800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285750" indent="-285750" algn="l">
              <a:spcAft>
                <a:spcPts val="600"/>
              </a:spcAft>
              <a:buFont typeface="Arial" panose="020B0604020202020204" pitchFamily="34" charset="0"/>
              <a:buChar char="•"/>
            </a:pPr>
            <a:r>
              <a:rPr lang="en-US" sz="1600">
                <a:latin typeface="Arial" panose="020B0604020202020204" pitchFamily="34" charset="0"/>
                <a:cs typeface="Arial" panose="020B0604020202020204" pitchFamily="34" charset="0"/>
              </a:rPr>
              <a:t>The set of repeatable AI prompts, agents, and models built for common tasks</a:t>
            </a:r>
          </a:p>
          <a:p>
            <a:pPr marL="285750" indent="-285750" algn="l">
              <a:spcAft>
                <a:spcPts val="600"/>
              </a:spcAft>
              <a:buFont typeface="Arial" panose="020B0604020202020204" pitchFamily="34" charset="0"/>
              <a:buChar char="•"/>
            </a:pPr>
            <a:r>
              <a:rPr lang="en-US" sz="1600">
                <a:latin typeface="Arial" panose="020B0604020202020204" pitchFamily="34" charset="0"/>
                <a:cs typeface="Arial" panose="020B0604020202020204" pitchFamily="34" charset="0"/>
              </a:rPr>
              <a:t>This is where methodology and repository combine to execute the analytical work; without either pillar, output is generic</a:t>
            </a:r>
          </a:p>
          <a:p>
            <a:pPr marL="285750" indent="-285750" algn="l">
              <a:spcAft>
                <a:spcPts val="600"/>
              </a:spcAft>
              <a:buFont typeface="Arial" panose="020B0604020202020204" pitchFamily="34" charset="0"/>
              <a:buChar char="•"/>
            </a:pPr>
            <a:r>
              <a:rPr lang="en-US" sz="1600">
                <a:latin typeface="Arial" panose="020B0604020202020204" pitchFamily="34" charset="0"/>
                <a:cs typeface="Arial" panose="020B0604020202020204" pitchFamily="34" charset="0"/>
              </a:rPr>
              <a:t>Continuously updated to encode the firm’s templates, playbooks, case studies</a:t>
            </a:r>
          </a:p>
        </p:txBody>
      </p:sp>
      <p:sp>
        <p:nvSpPr>
          <p:cNvPr id="30" name="Title 1">
            <a:extLst>
              <a:ext uri="{FF2B5EF4-FFF2-40B4-BE49-F238E27FC236}">
                <a16:creationId xmlns:a16="http://schemas.microsoft.com/office/drawing/2014/main" id="{AC3EECB6-4459-6C19-3C9C-714C56F6E06A}"/>
              </a:ext>
            </a:extLst>
          </p:cNvPr>
          <p:cNvSpPr txBox="1">
            <a:spLocks/>
          </p:cNvSpPr>
          <p:nvPr/>
        </p:nvSpPr>
        <p:spPr>
          <a:xfrm>
            <a:off x="630990" y="4762771"/>
            <a:ext cx="3892371" cy="1116851"/>
          </a:xfrm>
          <a:prstGeom prst="rect">
            <a:avLst/>
          </a:prstGeom>
        </p:spPr>
        <p:txBody>
          <a:bodyPr vert="horz" lIns="18000" tIns="18000" rIns="18000" bIns="1800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285750" indent="-285750" algn="l">
              <a:spcAft>
                <a:spcPts val="600"/>
              </a:spcAft>
              <a:buFont typeface="Arial" panose="020B0604020202020204" pitchFamily="34" charset="0"/>
              <a:buChar char="•"/>
            </a:pPr>
            <a:r>
              <a:rPr lang="en-US" sz="1600">
                <a:latin typeface="Arial" panose="020B0604020202020204" pitchFamily="34" charset="0"/>
                <a:cs typeface="Arial" panose="020B0604020202020204" pitchFamily="34" charset="0"/>
              </a:rPr>
              <a:t>The firm’s accumulated data including past client work</a:t>
            </a:r>
          </a:p>
          <a:p>
            <a:pPr marL="285750" indent="-285750" algn="l">
              <a:spcAft>
                <a:spcPts val="600"/>
              </a:spcAft>
              <a:buFont typeface="Arial" panose="020B0604020202020204" pitchFamily="34" charset="0"/>
              <a:buChar char="•"/>
            </a:pPr>
            <a:r>
              <a:rPr lang="en-US" sz="1600">
                <a:latin typeface="Arial" panose="020B0604020202020204" pitchFamily="34" charset="0"/>
                <a:cs typeface="Arial" panose="020B0604020202020204" pitchFamily="34" charset="0"/>
              </a:rPr>
              <a:t>Includes metadata and labels for accurate retrieval</a:t>
            </a:r>
          </a:p>
        </p:txBody>
      </p:sp>
      <p:sp>
        <p:nvSpPr>
          <p:cNvPr id="4" name="Title 1">
            <a:extLst>
              <a:ext uri="{FF2B5EF4-FFF2-40B4-BE49-F238E27FC236}">
                <a16:creationId xmlns:a16="http://schemas.microsoft.com/office/drawing/2014/main" id="{546681EC-B424-323F-24F3-18AD7D87979A}"/>
              </a:ext>
            </a:extLst>
          </p:cNvPr>
          <p:cNvSpPr txBox="1">
            <a:spLocks/>
          </p:cNvSpPr>
          <p:nvPr/>
        </p:nvSpPr>
        <p:spPr>
          <a:xfrm>
            <a:off x="708297" y="1751776"/>
            <a:ext cx="3278355"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solidFill>
                  <a:schemeClr val="accent5"/>
                </a:solidFill>
              </a:rPr>
              <a:t>Methodology</a:t>
            </a:r>
          </a:p>
        </p:txBody>
      </p:sp>
      <p:sp>
        <p:nvSpPr>
          <p:cNvPr id="6" name="Title 1">
            <a:extLst>
              <a:ext uri="{FF2B5EF4-FFF2-40B4-BE49-F238E27FC236}">
                <a16:creationId xmlns:a16="http://schemas.microsoft.com/office/drawing/2014/main" id="{4A0F490B-3E81-65FA-7AF5-305C0975BDEB}"/>
              </a:ext>
            </a:extLst>
          </p:cNvPr>
          <p:cNvSpPr txBox="1">
            <a:spLocks/>
          </p:cNvSpPr>
          <p:nvPr/>
        </p:nvSpPr>
        <p:spPr>
          <a:xfrm>
            <a:off x="708297" y="4289282"/>
            <a:ext cx="3278355"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solidFill>
                  <a:schemeClr val="accent5"/>
                </a:solidFill>
              </a:rPr>
              <a:t>Repository</a:t>
            </a:r>
          </a:p>
        </p:txBody>
      </p:sp>
      <p:sp>
        <p:nvSpPr>
          <p:cNvPr id="8" name="Title 1">
            <a:extLst>
              <a:ext uri="{FF2B5EF4-FFF2-40B4-BE49-F238E27FC236}">
                <a16:creationId xmlns:a16="http://schemas.microsoft.com/office/drawing/2014/main" id="{B9B95395-61FD-6F45-2A6B-AA47711FC01C}"/>
              </a:ext>
            </a:extLst>
          </p:cNvPr>
          <p:cNvSpPr txBox="1">
            <a:spLocks/>
          </p:cNvSpPr>
          <p:nvPr/>
        </p:nvSpPr>
        <p:spPr>
          <a:xfrm>
            <a:off x="6566170" y="2322814"/>
            <a:ext cx="3278355" cy="40178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solidFill>
                  <a:schemeClr val="accent5"/>
                </a:solidFill>
              </a:rPr>
              <a:t>AI workflow</a:t>
            </a:r>
          </a:p>
        </p:txBody>
      </p:sp>
      <p:sp>
        <p:nvSpPr>
          <p:cNvPr id="18" name="Plus Sign 17">
            <a:extLst>
              <a:ext uri="{FF2B5EF4-FFF2-40B4-BE49-F238E27FC236}">
                <a16:creationId xmlns:a16="http://schemas.microsoft.com/office/drawing/2014/main" id="{FECC8475-8030-4454-A78F-8D0EDD2E095A}"/>
              </a:ext>
            </a:extLst>
          </p:cNvPr>
          <p:cNvSpPr/>
          <p:nvPr/>
        </p:nvSpPr>
        <p:spPr>
          <a:xfrm>
            <a:off x="2577175" y="3615101"/>
            <a:ext cx="471340" cy="471340"/>
          </a:xfrm>
          <a:prstGeom prst="mathPlus">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err="1"/>
          </a:p>
        </p:txBody>
      </p:sp>
      <p:sp>
        <p:nvSpPr>
          <p:cNvPr id="19" name="Equals 18">
            <a:extLst>
              <a:ext uri="{FF2B5EF4-FFF2-40B4-BE49-F238E27FC236}">
                <a16:creationId xmlns:a16="http://schemas.microsoft.com/office/drawing/2014/main" id="{194FCB2A-40D8-7FE4-E369-F895EEB12A8F}"/>
              </a:ext>
            </a:extLst>
          </p:cNvPr>
          <p:cNvSpPr/>
          <p:nvPr/>
        </p:nvSpPr>
        <p:spPr>
          <a:xfrm>
            <a:off x="5354424" y="3615101"/>
            <a:ext cx="656007" cy="459361"/>
          </a:xfrm>
          <a:prstGeom prst="mathEqual">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err="1">
              <a:solidFill>
                <a:schemeClr val="tx1"/>
              </a:solidFill>
            </a:endParaRPr>
          </a:p>
        </p:txBody>
      </p:sp>
      <p:sp>
        <p:nvSpPr>
          <p:cNvPr id="5" name="Rectangle 4">
            <a:extLst>
              <a:ext uri="{FF2B5EF4-FFF2-40B4-BE49-F238E27FC236}">
                <a16:creationId xmlns:a16="http://schemas.microsoft.com/office/drawing/2014/main" id="{2455073B-6E43-D5A9-7020-1D2F5C2C44E0}"/>
              </a:ext>
            </a:extLst>
          </p:cNvPr>
          <p:cNvSpPr/>
          <p:nvPr/>
        </p:nvSpPr>
        <p:spPr>
          <a:xfrm>
            <a:off x="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THINK</a:t>
            </a:r>
            <a:endParaRPr lang="en-US" sz="1100" dirty="0"/>
          </a:p>
        </p:txBody>
      </p:sp>
      <p:sp>
        <p:nvSpPr>
          <p:cNvPr id="9" name="Rectangle 8">
            <a:extLst>
              <a:ext uri="{FF2B5EF4-FFF2-40B4-BE49-F238E27FC236}">
                <a16:creationId xmlns:a16="http://schemas.microsoft.com/office/drawing/2014/main" id="{F72BEC06-8B19-DC8F-36D9-8932D8F96364}"/>
              </a:ext>
            </a:extLst>
          </p:cNvPr>
          <p:cNvSpPr/>
          <p:nvPr/>
        </p:nvSpPr>
        <p:spPr>
          <a:xfrm>
            <a:off x="7315200" y="-1"/>
            <a:ext cx="2438400" cy="29198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AI WORKFLOW</a:t>
            </a:r>
            <a:endParaRPr lang="en-US" sz="1100" dirty="0"/>
          </a:p>
        </p:txBody>
      </p:sp>
      <p:sp>
        <p:nvSpPr>
          <p:cNvPr id="11" name="Rectangle 39">
            <a:extLst>
              <a:ext uri="{FF2B5EF4-FFF2-40B4-BE49-F238E27FC236}">
                <a16:creationId xmlns:a16="http://schemas.microsoft.com/office/drawing/2014/main" id="{CC369A8C-B148-9973-695D-C12C66B766ED}"/>
              </a:ext>
            </a:extLst>
          </p:cNvPr>
          <p:cNvSpPr/>
          <p:nvPr/>
        </p:nvSpPr>
        <p:spPr>
          <a:xfrm>
            <a:off x="97536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QUALITY &amp; DATA</a:t>
            </a:r>
            <a:endParaRPr lang="en-US" sz="1100" dirty="0"/>
          </a:p>
        </p:txBody>
      </p:sp>
      <p:sp>
        <p:nvSpPr>
          <p:cNvPr id="21" name="Rectangle 20">
            <a:extLst>
              <a:ext uri="{FF2B5EF4-FFF2-40B4-BE49-F238E27FC236}">
                <a16:creationId xmlns:a16="http://schemas.microsoft.com/office/drawing/2014/main" id="{9D7FC228-7BD4-5587-E6AB-F82E2987AD05}"/>
              </a:ext>
            </a:extLst>
          </p:cNvPr>
          <p:cNvSpPr/>
          <p:nvPr/>
        </p:nvSpPr>
        <p:spPr>
          <a:xfrm>
            <a:off x="24384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DECK</a:t>
            </a:r>
            <a:endParaRPr lang="en-US" sz="1100" dirty="0"/>
          </a:p>
        </p:txBody>
      </p:sp>
      <p:sp>
        <p:nvSpPr>
          <p:cNvPr id="23" name="Rectangle 22">
            <a:extLst>
              <a:ext uri="{FF2B5EF4-FFF2-40B4-BE49-F238E27FC236}">
                <a16:creationId xmlns:a16="http://schemas.microsoft.com/office/drawing/2014/main" id="{1061CB32-D1E2-FF22-D6EB-E46F3607327A}"/>
              </a:ext>
            </a:extLst>
          </p:cNvPr>
          <p:cNvSpPr/>
          <p:nvPr/>
        </p:nvSpPr>
        <p:spPr>
          <a:xfrm>
            <a:off x="48768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PAGE</a:t>
            </a:r>
            <a:endParaRPr lang="en-US" sz="1100" dirty="0"/>
          </a:p>
        </p:txBody>
      </p:sp>
    </p:spTree>
    <p:extLst>
      <p:ext uri="{BB962C8B-B14F-4D97-AF65-F5344CB8AC3E}">
        <p14:creationId xmlns:p14="http://schemas.microsoft.com/office/powerpoint/2010/main" val="18007431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C1302-351D-9A8C-8CF8-6F105403B9CB}"/>
            </a:ext>
          </a:extLst>
        </p:cNvPr>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CA97CE5E-C01F-3DBE-EAF0-47A1C733FC5A}"/>
              </a:ext>
            </a:extLst>
          </p:cNvPr>
          <p:cNvGraphicFramePr>
            <a:graphicFrameLocks/>
          </p:cNvGraphicFramePr>
          <p:nvPr>
            <p:custDataLst>
              <p:tags r:id="rId1"/>
            </p:custDataLst>
            <p:extLst>
              <p:ext uri="{D42A27DB-BD31-4B8C-83A1-F6EECF244321}">
                <p14:modId xmlns:p14="http://schemas.microsoft.com/office/powerpoint/2010/main" val="34212534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7" name="think-cell data - do not delete" hidden="1">
            <a:extLst>
              <a:ext uri="{FF2B5EF4-FFF2-40B4-BE49-F238E27FC236}">
                <a16:creationId xmlns:a16="http://schemas.microsoft.com/office/drawing/2014/main" id="{9E493DFE-371E-0262-20BC-AE6D774C14F6}"/>
              </a:ext>
            </a:extLst>
          </p:cNvPr>
          <p:cNvGraphicFramePr>
            <a:graphicFrameLocks noChangeAspect="1"/>
          </p:cNvGraphicFramePr>
          <p:nvPr>
            <p:custDataLst>
              <p:tags r:id="rId2"/>
            </p:custDataLst>
            <p:extLst>
              <p:ext uri="{D42A27DB-BD31-4B8C-83A1-F6EECF244321}">
                <p14:modId xmlns:p14="http://schemas.microsoft.com/office/powerpoint/2010/main" val="809701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7" imgH="348" progId="TCLayout.ActiveDocument.1">
                  <p:embed/>
                </p:oleObj>
              </mc:Choice>
              <mc:Fallback>
                <p:oleObj name="think-cell Slide" r:id="rId6"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7BFF9F2-E12A-C572-E05D-021C9A2153D8}"/>
              </a:ext>
            </a:extLst>
          </p:cNvPr>
          <p:cNvSpPr>
            <a:spLocks noGrp="1"/>
          </p:cNvSpPr>
          <p:nvPr>
            <p:ph type="title"/>
          </p:nvPr>
        </p:nvSpPr>
        <p:spPr>
          <a:xfrm>
            <a:off x="558800" y="635000"/>
            <a:ext cx="11087100" cy="838200"/>
          </a:xfrm>
        </p:spPr>
        <p:txBody>
          <a:bodyPr vert="horz" rIns="0" anchor="t" anchorCtr="0"/>
          <a:lstStyle/>
          <a:p>
            <a:r>
              <a:rPr lang="en-US"/>
              <a:t>For any task that requires complex judgment, AI is best used like a colleague, not an outsourced worker</a:t>
            </a:r>
          </a:p>
        </p:txBody>
      </p:sp>
      <p:sp>
        <p:nvSpPr>
          <p:cNvPr id="5" name="Rectangle 4">
            <a:extLst>
              <a:ext uri="{FF2B5EF4-FFF2-40B4-BE49-F238E27FC236}">
                <a16:creationId xmlns:a16="http://schemas.microsoft.com/office/drawing/2014/main" id="{AB2721F2-C44F-EC90-7FD7-59FEA924F185}"/>
              </a:ext>
            </a:extLst>
          </p:cNvPr>
          <p:cNvSpPr/>
          <p:nvPr/>
        </p:nvSpPr>
        <p:spPr>
          <a:xfrm>
            <a:off x="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THINK</a:t>
            </a:r>
            <a:endParaRPr lang="en-US" sz="1100" dirty="0"/>
          </a:p>
        </p:txBody>
      </p:sp>
      <p:sp>
        <p:nvSpPr>
          <p:cNvPr id="8" name="Rectangle 7">
            <a:extLst>
              <a:ext uri="{FF2B5EF4-FFF2-40B4-BE49-F238E27FC236}">
                <a16:creationId xmlns:a16="http://schemas.microsoft.com/office/drawing/2014/main" id="{E7C24CFC-2170-7984-A9A0-AE2BA8F99091}"/>
              </a:ext>
            </a:extLst>
          </p:cNvPr>
          <p:cNvSpPr/>
          <p:nvPr/>
        </p:nvSpPr>
        <p:spPr>
          <a:xfrm>
            <a:off x="7315200" y="-1"/>
            <a:ext cx="2438400" cy="29198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AI WORKFLOW</a:t>
            </a:r>
            <a:endParaRPr lang="en-US" sz="1100" dirty="0"/>
          </a:p>
        </p:txBody>
      </p:sp>
      <p:sp>
        <p:nvSpPr>
          <p:cNvPr id="40" name="Rectangle 40"/>
          <p:cNvSpPr/>
          <p:nvPr/>
        </p:nvSpPr>
        <p:spPr>
          <a:xfrm>
            <a:off x="97536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QUALITY &amp; DATA</a:t>
            </a:r>
            <a:endParaRPr lang="en-US" sz="1100" dirty="0"/>
          </a:p>
        </p:txBody>
      </p:sp>
      <p:sp>
        <p:nvSpPr>
          <p:cNvPr id="18" name="Rectangle 17">
            <a:extLst>
              <a:ext uri="{FF2B5EF4-FFF2-40B4-BE49-F238E27FC236}">
                <a16:creationId xmlns:a16="http://schemas.microsoft.com/office/drawing/2014/main" id="{7ABDF21F-1F65-9E77-F649-4288252DE8F5}"/>
              </a:ext>
            </a:extLst>
          </p:cNvPr>
          <p:cNvSpPr/>
          <p:nvPr/>
        </p:nvSpPr>
        <p:spPr>
          <a:xfrm>
            <a:off x="24384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DECK</a:t>
            </a:r>
            <a:endParaRPr lang="en-US" sz="1100" dirty="0"/>
          </a:p>
        </p:txBody>
      </p:sp>
      <p:sp>
        <p:nvSpPr>
          <p:cNvPr id="20" name="Rectangle 19">
            <a:extLst>
              <a:ext uri="{FF2B5EF4-FFF2-40B4-BE49-F238E27FC236}">
                <a16:creationId xmlns:a16="http://schemas.microsoft.com/office/drawing/2014/main" id="{B6663789-10CA-B41D-DD9B-8E63DF64FFBD}"/>
              </a:ext>
            </a:extLst>
          </p:cNvPr>
          <p:cNvSpPr/>
          <p:nvPr/>
        </p:nvSpPr>
        <p:spPr>
          <a:xfrm>
            <a:off x="48768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PAGE</a:t>
            </a:r>
            <a:endParaRPr lang="en-US" sz="1100" dirty="0"/>
          </a:p>
        </p:txBody>
      </p:sp>
      <p:sp>
        <p:nvSpPr>
          <p:cNvPr id="11" name="Title 1">
            <a:extLst>
              <a:ext uri="{FF2B5EF4-FFF2-40B4-BE49-F238E27FC236}">
                <a16:creationId xmlns:a16="http://schemas.microsoft.com/office/drawing/2014/main" id="{A6CE46AF-EA54-B4ED-822D-19933C07D49D}"/>
              </a:ext>
            </a:extLst>
          </p:cNvPr>
          <p:cNvSpPr txBox="1">
            <a:spLocks/>
          </p:cNvSpPr>
          <p:nvPr/>
        </p:nvSpPr>
        <p:spPr>
          <a:xfrm>
            <a:off x="1234915" y="2454812"/>
            <a:ext cx="4272745" cy="742979"/>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b="1">
                <a:solidFill>
                  <a:srgbClr val="009999"/>
                </a:solidFill>
              </a:rPr>
              <a:t>Acquaint AI with contexts</a:t>
            </a:r>
            <a:r>
              <a:rPr lang="en-US" sz="1600"/>
              <a:t>: the industry at large, the client organization’s strategic position, and learnings from the client</a:t>
            </a:r>
          </a:p>
        </p:txBody>
      </p:sp>
      <p:sp>
        <p:nvSpPr>
          <p:cNvPr id="4" name="Title 1">
            <a:extLst>
              <a:ext uri="{FF2B5EF4-FFF2-40B4-BE49-F238E27FC236}">
                <a16:creationId xmlns:a16="http://schemas.microsoft.com/office/drawing/2014/main" id="{7115E3EA-58FC-5E59-C87F-D794B5DDB2BB}"/>
              </a:ext>
            </a:extLst>
          </p:cNvPr>
          <p:cNvSpPr txBox="1">
            <a:spLocks/>
          </p:cNvSpPr>
          <p:nvPr/>
        </p:nvSpPr>
        <p:spPr>
          <a:xfrm>
            <a:off x="554735" y="1800220"/>
            <a:ext cx="4846824" cy="327572"/>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800" b="1">
                <a:solidFill>
                  <a:schemeClr val="accent5"/>
                </a:solidFill>
              </a:rPr>
              <a:t>Best practices for AI in consulting</a:t>
            </a:r>
          </a:p>
        </p:txBody>
      </p:sp>
      <p:sp>
        <p:nvSpPr>
          <p:cNvPr id="6" name="Title 1">
            <a:extLst>
              <a:ext uri="{FF2B5EF4-FFF2-40B4-BE49-F238E27FC236}">
                <a16:creationId xmlns:a16="http://schemas.microsoft.com/office/drawing/2014/main" id="{E28905A0-3822-30D4-9C65-23A8591E383A}"/>
              </a:ext>
            </a:extLst>
          </p:cNvPr>
          <p:cNvSpPr txBox="1">
            <a:spLocks/>
          </p:cNvSpPr>
          <p:nvPr/>
        </p:nvSpPr>
        <p:spPr>
          <a:xfrm>
            <a:off x="1234915" y="3781247"/>
            <a:ext cx="4272741" cy="742979"/>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b="1">
                <a:solidFill>
                  <a:srgbClr val="009999"/>
                </a:solidFill>
              </a:rPr>
              <a:t>Prompt AI to clarify and expand</a:t>
            </a:r>
            <a:r>
              <a:rPr lang="en-US" sz="1600"/>
              <a:t>: have it come back with multiple suggestions and clarifying questions</a:t>
            </a:r>
          </a:p>
        </p:txBody>
      </p:sp>
      <p:sp>
        <p:nvSpPr>
          <p:cNvPr id="9" name="Title 1">
            <a:extLst>
              <a:ext uri="{FF2B5EF4-FFF2-40B4-BE49-F238E27FC236}">
                <a16:creationId xmlns:a16="http://schemas.microsoft.com/office/drawing/2014/main" id="{B52FCF44-3C6E-32F3-03E0-71B54C8A5DD3}"/>
              </a:ext>
            </a:extLst>
          </p:cNvPr>
          <p:cNvSpPr txBox="1">
            <a:spLocks/>
          </p:cNvSpPr>
          <p:nvPr/>
        </p:nvSpPr>
        <p:spPr>
          <a:xfrm>
            <a:off x="1234915" y="5124733"/>
            <a:ext cx="4272745" cy="742979"/>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b="1">
                <a:solidFill>
                  <a:srgbClr val="009999"/>
                </a:solidFill>
              </a:rPr>
              <a:t>Simulate an adversarial review</a:t>
            </a:r>
            <a:r>
              <a:rPr lang="en-US" sz="1600"/>
              <a:t>: what would a skeptical client question? What assumptions are not explained?</a:t>
            </a:r>
          </a:p>
        </p:txBody>
      </p:sp>
      <p:sp>
        <p:nvSpPr>
          <p:cNvPr id="21" name="Rectangle: Rounded Corners 20">
            <a:extLst>
              <a:ext uri="{FF2B5EF4-FFF2-40B4-BE49-F238E27FC236}">
                <a16:creationId xmlns:a16="http://schemas.microsoft.com/office/drawing/2014/main" id="{7D41C5B8-678C-D1A5-A2A8-BC4284C7E76E}"/>
              </a:ext>
            </a:extLst>
          </p:cNvPr>
          <p:cNvSpPr/>
          <p:nvPr/>
        </p:nvSpPr>
        <p:spPr>
          <a:xfrm>
            <a:off x="6545054" y="2420376"/>
            <a:ext cx="4267417" cy="1128151"/>
          </a:xfrm>
          <a:prstGeom prst="roundRect">
            <a:avLst>
              <a:gd name="adj" fmla="val 8832"/>
            </a:avLst>
          </a:prstGeom>
          <a:solidFill>
            <a:schemeClr val="accent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bg1"/>
                </a:solidFill>
              </a:rPr>
              <a:t>Draft only; do not copy &amp; paste</a:t>
            </a:r>
            <a:br>
              <a:rPr lang="en-US" sz="1600" b="1">
                <a:solidFill>
                  <a:schemeClr val="bg1"/>
                </a:solidFill>
              </a:rPr>
            </a:br>
            <a:r>
              <a:rPr lang="en-US" sz="1400">
                <a:solidFill>
                  <a:schemeClr val="bg1"/>
                </a:solidFill>
              </a:rPr>
              <a:t>Executive summary, action titles, </a:t>
            </a:r>
            <a:br>
              <a:rPr lang="en-US" sz="1400">
                <a:solidFill>
                  <a:schemeClr val="bg1"/>
                </a:solidFill>
              </a:rPr>
            </a:br>
            <a:r>
              <a:rPr lang="en-US" sz="1400">
                <a:solidFill>
                  <a:schemeClr val="bg1"/>
                </a:solidFill>
              </a:rPr>
              <a:t>business recommendations</a:t>
            </a:r>
            <a:endParaRPr lang="en-US" sz="1200" b="1">
              <a:solidFill>
                <a:schemeClr val="bg1"/>
              </a:solidFill>
            </a:endParaRPr>
          </a:p>
        </p:txBody>
      </p:sp>
      <p:sp>
        <p:nvSpPr>
          <p:cNvPr id="22" name="Rectangle: Rounded Corners 21">
            <a:extLst>
              <a:ext uri="{FF2B5EF4-FFF2-40B4-BE49-F238E27FC236}">
                <a16:creationId xmlns:a16="http://schemas.microsoft.com/office/drawing/2014/main" id="{F6DDD782-3D4E-F656-AF8B-94D280A1A17C}"/>
              </a:ext>
            </a:extLst>
          </p:cNvPr>
          <p:cNvSpPr/>
          <p:nvPr/>
        </p:nvSpPr>
        <p:spPr>
          <a:xfrm>
            <a:off x="6545054" y="3663689"/>
            <a:ext cx="4267417" cy="1128151"/>
          </a:xfrm>
          <a:prstGeom prst="roundRect">
            <a:avLst>
              <a:gd name="adj" fmla="val 8832"/>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Human review needed</a:t>
            </a:r>
            <a:br>
              <a:rPr lang="en-US" sz="1600" b="1">
                <a:solidFill>
                  <a:schemeClr val="tx1"/>
                </a:solidFill>
              </a:rPr>
            </a:br>
            <a:r>
              <a:rPr lang="en-US" sz="1400">
                <a:solidFill>
                  <a:schemeClr val="tx1"/>
                </a:solidFill>
              </a:rPr>
              <a:t>Articles, surveys, quantitative models, data synthesis, storyline first draft</a:t>
            </a:r>
            <a:endParaRPr lang="en-US" sz="1200" b="1">
              <a:solidFill>
                <a:schemeClr val="tx1"/>
              </a:solidFill>
            </a:endParaRPr>
          </a:p>
        </p:txBody>
      </p:sp>
      <p:sp>
        <p:nvSpPr>
          <p:cNvPr id="23" name="Rectangle: Rounded Corners 22">
            <a:extLst>
              <a:ext uri="{FF2B5EF4-FFF2-40B4-BE49-F238E27FC236}">
                <a16:creationId xmlns:a16="http://schemas.microsoft.com/office/drawing/2014/main" id="{D6240F9C-0B30-E746-1D3D-12A255B6987F}"/>
              </a:ext>
            </a:extLst>
          </p:cNvPr>
          <p:cNvSpPr/>
          <p:nvPr/>
        </p:nvSpPr>
        <p:spPr>
          <a:xfrm>
            <a:off x="6545054" y="4907002"/>
            <a:ext cx="4267417" cy="1128151"/>
          </a:xfrm>
          <a:prstGeom prst="roundRect">
            <a:avLst>
              <a:gd name="adj" fmla="val 8832"/>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Quality check only</a:t>
            </a:r>
            <a:br>
              <a:rPr lang="en-US" sz="1600" b="1">
                <a:solidFill>
                  <a:schemeClr val="tx1"/>
                </a:solidFill>
              </a:rPr>
            </a:br>
            <a:r>
              <a:rPr lang="en-US" sz="1400">
                <a:solidFill>
                  <a:schemeClr val="tx1"/>
                </a:solidFill>
              </a:rPr>
              <a:t>Data collection &amp; manipulation, background research, systematic edits</a:t>
            </a:r>
            <a:endParaRPr lang="en-US" sz="1200" b="1">
              <a:solidFill>
                <a:schemeClr val="tx1"/>
              </a:solidFill>
            </a:endParaRPr>
          </a:p>
        </p:txBody>
      </p:sp>
      <p:sp>
        <p:nvSpPr>
          <p:cNvPr id="27" name="Title 1">
            <a:extLst>
              <a:ext uri="{FF2B5EF4-FFF2-40B4-BE49-F238E27FC236}">
                <a16:creationId xmlns:a16="http://schemas.microsoft.com/office/drawing/2014/main" id="{CA7B41E3-B381-8769-5D4B-AC692736E9C1}"/>
              </a:ext>
            </a:extLst>
          </p:cNvPr>
          <p:cNvSpPr txBox="1">
            <a:spLocks/>
          </p:cNvSpPr>
          <p:nvPr/>
        </p:nvSpPr>
        <p:spPr>
          <a:xfrm>
            <a:off x="6545055" y="1624751"/>
            <a:ext cx="3569616" cy="50304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800" b="1">
                <a:solidFill>
                  <a:schemeClr val="accent5"/>
                </a:solidFill>
              </a:rPr>
              <a:t>When every word counts, do not outsource judgment to AI</a:t>
            </a:r>
          </a:p>
        </p:txBody>
      </p:sp>
      <p:cxnSp>
        <p:nvCxnSpPr>
          <p:cNvPr id="32" name="Straight Arrow Connector 31">
            <a:extLst>
              <a:ext uri="{FF2B5EF4-FFF2-40B4-BE49-F238E27FC236}">
                <a16:creationId xmlns:a16="http://schemas.microsoft.com/office/drawing/2014/main" id="{2D418ECD-A265-A601-2E09-323C7849CE7F}"/>
              </a:ext>
            </a:extLst>
          </p:cNvPr>
          <p:cNvCxnSpPr>
            <a:cxnSpLocks/>
          </p:cNvCxnSpPr>
          <p:nvPr/>
        </p:nvCxnSpPr>
        <p:spPr>
          <a:xfrm flipV="1">
            <a:off x="11135726" y="2420376"/>
            <a:ext cx="0" cy="3614777"/>
          </a:xfrm>
          <a:prstGeom prst="straightConnector1">
            <a:avLst/>
          </a:prstGeom>
          <a:ln w="9525">
            <a:solidFill>
              <a:schemeClr val="accent5"/>
            </a:solidFill>
            <a:tailEnd type="triangle"/>
          </a:ln>
        </p:spPr>
        <p:style>
          <a:lnRef idx="1">
            <a:schemeClr val="dk1"/>
          </a:lnRef>
          <a:fillRef idx="0">
            <a:schemeClr val="dk1"/>
          </a:fillRef>
          <a:effectRef idx="0">
            <a:schemeClr val="dk1"/>
          </a:effectRef>
          <a:fontRef idx="minor">
            <a:schemeClr val="tx1"/>
          </a:fontRef>
        </p:style>
      </p:cxnSp>
      <p:sp>
        <p:nvSpPr>
          <p:cNvPr id="30" name="Title 1">
            <a:extLst>
              <a:ext uri="{FF2B5EF4-FFF2-40B4-BE49-F238E27FC236}">
                <a16:creationId xmlns:a16="http://schemas.microsoft.com/office/drawing/2014/main" id="{F6EC72ED-248F-D5DA-6677-C1BCA32420FF}"/>
              </a:ext>
            </a:extLst>
          </p:cNvPr>
          <p:cNvSpPr txBox="1">
            <a:spLocks/>
          </p:cNvSpPr>
          <p:nvPr/>
        </p:nvSpPr>
        <p:spPr>
          <a:xfrm>
            <a:off x="10900283" y="4050303"/>
            <a:ext cx="567142" cy="377073"/>
          </a:xfrm>
          <a:prstGeom prst="rect">
            <a:avLst/>
          </a:prstGeom>
          <a:solidFill>
            <a:schemeClr val="bg1"/>
          </a:solidFill>
        </p:spPr>
        <p:txBody>
          <a:bodyPr vert="horz" wrap="square" lIns="0" tIns="0" rIns="0" bIns="0" rtlCol="0" anchor="ctr"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100">
                <a:solidFill>
                  <a:schemeClr val="accent5"/>
                </a:solidFill>
              </a:rPr>
              <a:t>Context required</a:t>
            </a:r>
          </a:p>
        </p:txBody>
      </p:sp>
      <p:pic>
        <p:nvPicPr>
          <p:cNvPr id="35" name="Graphic 34" descr="Boardroom outline">
            <a:extLst>
              <a:ext uri="{FF2B5EF4-FFF2-40B4-BE49-F238E27FC236}">
                <a16:creationId xmlns:a16="http://schemas.microsoft.com/office/drawing/2014/main" id="{119D007B-4B5F-52D7-DF95-7794600602E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49191" y="4994558"/>
            <a:ext cx="567140" cy="567140"/>
          </a:xfrm>
          <a:prstGeom prst="rect">
            <a:avLst/>
          </a:prstGeom>
        </p:spPr>
      </p:pic>
      <p:pic>
        <p:nvPicPr>
          <p:cNvPr id="37" name="Graphic 36" descr="Presentation with checklist outline">
            <a:extLst>
              <a:ext uri="{FF2B5EF4-FFF2-40B4-BE49-F238E27FC236}">
                <a16:creationId xmlns:a16="http://schemas.microsoft.com/office/drawing/2014/main" id="{A15F1E88-4F97-D891-48FA-8C61136B4F5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49191" y="3692594"/>
            <a:ext cx="567140" cy="567140"/>
          </a:xfrm>
          <a:prstGeom prst="rect">
            <a:avLst/>
          </a:prstGeom>
        </p:spPr>
      </p:pic>
      <p:pic>
        <p:nvPicPr>
          <p:cNvPr id="39" name="Graphic 38" descr="Document outline">
            <a:extLst>
              <a:ext uri="{FF2B5EF4-FFF2-40B4-BE49-F238E27FC236}">
                <a16:creationId xmlns:a16="http://schemas.microsoft.com/office/drawing/2014/main" id="{C33CB5AE-F02C-6CAA-DCFA-11224185A52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49191" y="2407680"/>
            <a:ext cx="567140" cy="567140"/>
          </a:xfrm>
          <a:prstGeom prst="rect">
            <a:avLst/>
          </a:prstGeom>
        </p:spPr>
      </p:pic>
    </p:spTree>
    <p:extLst>
      <p:ext uri="{BB962C8B-B14F-4D97-AF65-F5344CB8AC3E}">
        <p14:creationId xmlns:p14="http://schemas.microsoft.com/office/powerpoint/2010/main" val="25953228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06BAD-6720-EFAC-0762-9C57681E5D55}"/>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49D68E39-7834-DCD3-1D9A-A540FC5EF396}"/>
              </a:ext>
            </a:extLst>
          </p:cNvPr>
          <p:cNvGraphicFramePr>
            <a:graphicFrameLocks/>
          </p:cNvGraphicFramePr>
          <p:nvPr>
            <p:custDataLst>
              <p:tags r:id="rId1"/>
            </p:custDataLst>
            <p:extLst>
              <p:ext uri="{D42A27DB-BD31-4B8C-83A1-F6EECF244321}">
                <p14:modId xmlns:p14="http://schemas.microsoft.com/office/powerpoint/2010/main" val="2081951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17" name="think-cell data - do not delete" hidden="1">
            <a:extLst>
              <a:ext uri="{FF2B5EF4-FFF2-40B4-BE49-F238E27FC236}">
                <a16:creationId xmlns:a16="http://schemas.microsoft.com/office/drawing/2014/main" id="{5DFB83A8-CF76-1C14-AAA9-DAEE0EFA3931}"/>
              </a:ext>
            </a:extLst>
          </p:cNvPr>
          <p:cNvGraphicFramePr>
            <a:graphicFrameLocks noChangeAspect="1"/>
          </p:cNvGraphicFramePr>
          <p:nvPr>
            <p:custDataLst>
              <p:tags r:id="rId2"/>
            </p:custDataLst>
            <p:extLst>
              <p:ext uri="{D42A27DB-BD31-4B8C-83A1-F6EECF244321}">
                <p14:modId xmlns:p14="http://schemas.microsoft.com/office/powerpoint/2010/main" val="7382906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7" imgH="348" progId="TCLayout.ActiveDocument.1">
                  <p:embed/>
                </p:oleObj>
              </mc:Choice>
              <mc:Fallback>
                <p:oleObj name="think-cell Slide" r:id="rId6"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6343649-745A-64E4-78C5-0709F18973FF}"/>
              </a:ext>
            </a:extLst>
          </p:cNvPr>
          <p:cNvSpPr>
            <a:spLocks noGrp="1"/>
          </p:cNvSpPr>
          <p:nvPr>
            <p:ph type="title"/>
          </p:nvPr>
        </p:nvSpPr>
        <p:spPr>
          <a:xfrm>
            <a:off x="558800" y="635000"/>
            <a:ext cx="11087100" cy="838200"/>
          </a:xfrm>
        </p:spPr>
        <p:txBody>
          <a:bodyPr vert="horz" rIns="0" anchor="t" anchorCtr="0"/>
          <a:lstStyle/>
          <a:p>
            <a:r>
              <a:rPr lang="en-US"/>
              <a:t>AI | Key takeaways</a:t>
            </a:r>
          </a:p>
        </p:txBody>
      </p:sp>
      <p:sp>
        <p:nvSpPr>
          <p:cNvPr id="5" name="Title 1">
            <a:extLst>
              <a:ext uri="{FF2B5EF4-FFF2-40B4-BE49-F238E27FC236}">
                <a16:creationId xmlns:a16="http://schemas.microsoft.com/office/drawing/2014/main" id="{9754DBB1-1D20-3F0F-AA98-13A4FCA76FE7}"/>
              </a:ext>
            </a:extLst>
          </p:cNvPr>
          <p:cNvSpPr txBox="1">
            <a:spLocks/>
          </p:cNvSpPr>
          <p:nvPr/>
        </p:nvSpPr>
        <p:spPr>
          <a:xfrm>
            <a:off x="1071418" y="3285986"/>
            <a:ext cx="9910618" cy="73152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bg1"/>
                </a:solidFill>
                <a:latin typeface="+mj-lt"/>
                <a:ea typeface="+mj-ea"/>
                <a:cs typeface="+mj-cs"/>
              </a:defRPr>
            </a:lvl1pPr>
          </a:lstStyle>
          <a:p>
            <a:r>
              <a:rPr lang="en-US"/>
              <a:t>The firm’s methodology and accumulated data are essential inputs; without either, the result risks becoming “AI slop”</a:t>
            </a:r>
          </a:p>
        </p:txBody>
      </p:sp>
      <p:sp>
        <p:nvSpPr>
          <p:cNvPr id="6" name="Title 1">
            <a:extLst>
              <a:ext uri="{FF2B5EF4-FFF2-40B4-BE49-F238E27FC236}">
                <a16:creationId xmlns:a16="http://schemas.microsoft.com/office/drawing/2014/main" id="{BE6AD439-7ECD-EEC2-B7E0-F9372F12B799}"/>
              </a:ext>
            </a:extLst>
          </p:cNvPr>
          <p:cNvSpPr txBox="1">
            <a:spLocks/>
          </p:cNvSpPr>
          <p:nvPr/>
        </p:nvSpPr>
        <p:spPr>
          <a:xfrm>
            <a:off x="1071417" y="3063240"/>
            <a:ext cx="9910618" cy="113930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bg1"/>
                </a:solidFill>
                <a:latin typeface="+mj-lt"/>
                <a:ea typeface="+mj-ea"/>
                <a:cs typeface="+mj-cs"/>
              </a:defRPr>
            </a:lvl1pPr>
          </a:lstStyle>
          <a:p>
            <a:endParaRPr lang="en-US"/>
          </a:p>
        </p:txBody>
      </p:sp>
      <p:sp>
        <p:nvSpPr>
          <p:cNvPr id="7" name="Title 1">
            <a:extLst>
              <a:ext uri="{FF2B5EF4-FFF2-40B4-BE49-F238E27FC236}">
                <a16:creationId xmlns:a16="http://schemas.microsoft.com/office/drawing/2014/main" id="{9F9CD3E8-F17D-D555-B803-2805AE90B00A}"/>
              </a:ext>
            </a:extLst>
          </p:cNvPr>
          <p:cNvSpPr txBox="1">
            <a:spLocks/>
          </p:cNvSpPr>
          <p:nvPr/>
        </p:nvSpPr>
        <p:spPr>
          <a:xfrm>
            <a:off x="1071418" y="4719002"/>
            <a:ext cx="10565846" cy="73152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bg1"/>
                </a:solidFill>
                <a:latin typeface="+mj-lt"/>
                <a:ea typeface="+mj-ea"/>
                <a:cs typeface="+mj-cs"/>
              </a:defRPr>
            </a:lvl1pPr>
          </a:lstStyle>
          <a:p>
            <a:r>
              <a:rPr lang="en-US"/>
              <a:t>AI cannot judge its own output; you have to be the skilled consultant that makes the call</a:t>
            </a:r>
          </a:p>
        </p:txBody>
      </p:sp>
      <p:sp>
        <p:nvSpPr>
          <p:cNvPr id="3" name="Title 1">
            <a:extLst>
              <a:ext uri="{FF2B5EF4-FFF2-40B4-BE49-F238E27FC236}">
                <a16:creationId xmlns:a16="http://schemas.microsoft.com/office/drawing/2014/main" id="{16B7BAA7-42C0-8149-1C4B-FDD160A9C0C1}"/>
              </a:ext>
            </a:extLst>
          </p:cNvPr>
          <p:cNvSpPr txBox="1">
            <a:spLocks/>
          </p:cNvSpPr>
          <p:nvPr/>
        </p:nvSpPr>
        <p:spPr>
          <a:xfrm>
            <a:off x="1071418" y="1815263"/>
            <a:ext cx="9910618" cy="73152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bg1"/>
                </a:solidFill>
                <a:latin typeface="+mj-lt"/>
                <a:ea typeface="+mj-ea"/>
                <a:cs typeface="+mj-cs"/>
              </a:defRPr>
            </a:lvl1pPr>
          </a:lstStyle>
          <a:p>
            <a:r>
              <a:rPr lang="en-US"/>
              <a:t>We continue to experiment with more agentic AI uses that automate the heavy lifting, so we can focus on the thinking</a:t>
            </a:r>
          </a:p>
        </p:txBody>
      </p:sp>
      <p:sp>
        <p:nvSpPr>
          <p:cNvPr id="12" name="Oval 11">
            <a:extLst>
              <a:ext uri="{FF2B5EF4-FFF2-40B4-BE49-F238E27FC236}">
                <a16:creationId xmlns:a16="http://schemas.microsoft.com/office/drawing/2014/main" id="{AFD0C578-298C-7C85-6758-622E3263D7CF}"/>
              </a:ext>
            </a:extLst>
          </p:cNvPr>
          <p:cNvSpPr/>
          <p:nvPr/>
        </p:nvSpPr>
        <p:spPr>
          <a:xfrm>
            <a:off x="554736" y="1774623"/>
            <a:ext cx="406400" cy="406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2"/>
                </a:solidFill>
              </a:rPr>
              <a:t>1</a:t>
            </a:r>
            <a:endParaRPr lang="en-US" b="1" dirty="0" err="1">
              <a:solidFill>
                <a:schemeClr val="bg2"/>
              </a:solidFill>
            </a:endParaRPr>
          </a:p>
        </p:txBody>
      </p:sp>
      <p:sp>
        <p:nvSpPr>
          <p:cNvPr id="14" name="Oval 13">
            <a:extLst>
              <a:ext uri="{FF2B5EF4-FFF2-40B4-BE49-F238E27FC236}">
                <a16:creationId xmlns:a16="http://schemas.microsoft.com/office/drawing/2014/main" id="{7FBEDA2A-D4DD-62FB-1510-D4D6DB933617}"/>
              </a:ext>
            </a:extLst>
          </p:cNvPr>
          <p:cNvSpPr/>
          <p:nvPr/>
        </p:nvSpPr>
        <p:spPr>
          <a:xfrm>
            <a:off x="554736" y="3226493"/>
            <a:ext cx="406400" cy="406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2"/>
                </a:solidFill>
              </a:rPr>
              <a:t>2</a:t>
            </a:r>
            <a:endParaRPr lang="en-US" b="1" dirty="0" err="1">
              <a:solidFill>
                <a:schemeClr val="bg2"/>
              </a:solidFill>
            </a:endParaRPr>
          </a:p>
        </p:txBody>
      </p:sp>
      <p:sp>
        <p:nvSpPr>
          <p:cNvPr id="16" name="Oval 15">
            <a:extLst>
              <a:ext uri="{FF2B5EF4-FFF2-40B4-BE49-F238E27FC236}">
                <a16:creationId xmlns:a16="http://schemas.microsoft.com/office/drawing/2014/main" id="{425BDE85-EA6F-214D-152C-C361263EDDEA}"/>
              </a:ext>
            </a:extLst>
          </p:cNvPr>
          <p:cNvSpPr/>
          <p:nvPr/>
        </p:nvSpPr>
        <p:spPr>
          <a:xfrm>
            <a:off x="554736" y="4678362"/>
            <a:ext cx="406400" cy="406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2"/>
                </a:solidFill>
              </a:rPr>
              <a:t>3</a:t>
            </a:r>
            <a:endParaRPr lang="en-US" b="1" dirty="0" err="1">
              <a:solidFill>
                <a:schemeClr val="bg2"/>
              </a:solidFill>
            </a:endParaRPr>
          </a:p>
        </p:txBody>
      </p:sp>
    </p:spTree>
    <p:extLst>
      <p:ext uri="{BB962C8B-B14F-4D97-AF65-F5344CB8AC3E}">
        <p14:creationId xmlns:p14="http://schemas.microsoft.com/office/powerpoint/2010/main" val="917323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D3F6F-695A-F090-E806-51A19CAD30C7}"/>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90C8382-3362-E513-19AF-0D2918FFF4F2}"/>
              </a:ext>
            </a:extLst>
          </p:cNvPr>
          <p:cNvGraphicFramePr>
            <a:graphicFrameLocks/>
          </p:cNvGraphicFramePr>
          <p:nvPr>
            <p:custDataLst>
              <p:tags r:id="rId1"/>
            </p:custDataLst>
            <p:extLst>
              <p:ext uri="{D42A27DB-BD31-4B8C-83A1-F6EECF244321}">
                <p14:modId xmlns:p14="http://schemas.microsoft.com/office/powerpoint/2010/main" val="32959479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2" name="think-cell data - do not delete" hidden="1">
            <a:extLst>
              <a:ext uri="{FF2B5EF4-FFF2-40B4-BE49-F238E27FC236}">
                <a16:creationId xmlns:a16="http://schemas.microsoft.com/office/drawing/2014/main" id="{D76799D8-916A-9392-30BC-5680173C88DB}"/>
              </a:ext>
            </a:extLst>
          </p:cNvPr>
          <p:cNvGraphicFramePr>
            <a:graphicFrameLocks noChangeAspect="1"/>
          </p:cNvGraphicFramePr>
          <p:nvPr>
            <p:custDataLst>
              <p:tags r:id="rId2"/>
            </p:custDataLst>
            <p:extLst>
              <p:ext uri="{D42A27DB-BD31-4B8C-83A1-F6EECF244321}">
                <p14:modId xmlns:p14="http://schemas.microsoft.com/office/powerpoint/2010/main" val="33930926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7" imgH="348" progId="TCLayout.ActiveDocument.1">
                  <p:embed/>
                </p:oleObj>
              </mc:Choice>
              <mc:Fallback>
                <p:oleObj name="think-cell Slide" r:id="rId6"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9A414E-DC5B-91AE-A324-B44091496CD0}"/>
              </a:ext>
            </a:extLst>
          </p:cNvPr>
          <p:cNvSpPr>
            <a:spLocks noGrp="1"/>
          </p:cNvSpPr>
          <p:nvPr>
            <p:ph type="title"/>
          </p:nvPr>
        </p:nvSpPr>
        <p:spPr>
          <a:xfrm>
            <a:off x="554736" y="1921164"/>
            <a:ext cx="1384900" cy="1780167"/>
          </a:xfrm>
        </p:spPr>
        <p:txBody>
          <a:bodyPr vert="horz" rIns="0"/>
          <a:lstStyle/>
          <a:p>
            <a:r>
              <a:rPr lang="en-US" sz="11500" b="1"/>
              <a:t>5</a:t>
            </a:r>
          </a:p>
        </p:txBody>
      </p:sp>
      <p:sp>
        <p:nvSpPr>
          <p:cNvPr id="7" name="Title 3">
            <a:extLst>
              <a:ext uri="{FF2B5EF4-FFF2-40B4-BE49-F238E27FC236}">
                <a16:creationId xmlns:a16="http://schemas.microsoft.com/office/drawing/2014/main" id="{9FF7AD5E-A544-4B6C-0DD8-D8EB8B7CDE5F}"/>
              </a:ext>
            </a:extLst>
          </p:cNvPr>
          <p:cNvSpPr txBox="1">
            <a:spLocks/>
          </p:cNvSpPr>
          <p:nvPr/>
        </p:nvSpPr>
        <p:spPr>
          <a:xfrm>
            <a:off x="554736" y="3525840"/>
            <a:ext cx="5065776" cy="1341724"/>
          </a:xfrm>
          <a:prstGeom prst="rect">
            <a:avLst/>
          </a:prstGeom>
        </p:spPr>
        <p:txBody>
          <a:bodyPr vert="horz" wrap="square" lIns="0" tIns="0" rIns="0" bIns="0" rtlCol="0" anchor="b" anchorCtr="0">
            <a:noAutofit/>
          </a:bodyPr>
          <a:lstStyle>
            <a:lvl1pPr algn="l" defTabSz="914400" rtl="0" eaLnBrk="1" latinLnBrk="0" hangingPunct="1">
              <a:lnSpc>
                <a:spcPct val="90000"/>
              </a:lnSpc>
              <a:spcBef>
                <a:spcPct val="0"/>
              </a:spcBef>
              <a:buNone/>
              <a:defRPr sz="2600" kern="1200">
                <a:solidFill>
                  <a:schemeClr val="bg1"/>
                </a:solidFill>
                <a:latin typeface="+mj-lt"/>
                <a:ea typeface="+mj-ea"/>
                <a:cs typeface="+mj-cs"/>
              </a:defRPr>
            </a:lvl1pPr>
          </a:lstStyle>
          <a:p>
            <a:r>
              <a:rPr lang="en-US" sz="4800" b="1"/>
              <a:t>How we protect quality and data</a:t>
            </a:r>
          </a:p>
        </p:txBody>
      </p:sp>
      <p:sp>
        <p:nvSpPr>
          <p:cNvPr id="9" name="Title 1">
            <a:extLst>
              <a:ext uri="{FF2B5EF4-FFF2-40B4-BE49-F238E27FC236}">
                <a16:creationId xmlns:a16="http://schemas.microsoft.com/office/drawing/2014/main" id="{55E26FB5-50FA-DA9B-CF4B-27B216B1424E}"/>
              </a:ext>
            </a:extLst>
          </p:cNvPr>
          <p:cNvSpPr txBox="1">
            <a:spLocks/>
          </p:cNvSpPr>
          <p:nvPr/>
        </p:nvSpPr>
        <p:spPr>
          <a:xfrm>
            <a:off x="6474690" y="1625601"/>
            <a:ext cx="5162571" cy="153187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800" b="1"/>
              <a:t>WHAT</a:t>
            </a:r>
          </a:p>
          <a:p>
            <a:br>
              <a:rPr lang="en-US" sz="1800"/>
            </a:br>
            <a:r>
              <a:rPr lang="en-US" sz="1800"/>
              <a:t>This section sets the rules that keep our work defensible and secure, as increasing use of AI tools surfaces new risks </a:t>
            </a:r>
          </a:p>
        </p:txBody>
      </p:sp>
      <p:sp>
        <p:nvSpPr>
          <p:cNvPr id="10" name="Title 1">
            <a:extLst>
              <a:ext uri="{FF2B5EF4-FFF2-40B4-BE49-F238E27FC236}">
                <a16:creationId xmlns:a16="http://schemas.microsoft.com/office/drawing/2014/main" id="{BC75C79B-B30A-1B7B-91EC-906E29FB641C}"/>
              </a:ext>
            </a:extLst>
          </p:cNvPr>
          <p:cNvSpPr txBox="1">
            <a:spLocks/>
          </p:cNvSpPr>
          <p:nvPr/>
        </p:nvSpPr>
        <p:spPr>
          <a:xfrm>
            <a:off x="6474690" y="3429000"/>
            <a:ext cx="5444407" cy="153187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800" b="1"/>
              <a:t>WHY</a:t>
            </a:r>
          </a:p>
          <a:p>
            <a:endParaRPr lang="en-US" sz="1800" b="1"/>
          </a:p>
          <a:p>
            <a:r>
              <a:rPr lang="en-US" sz="1800"/>
              <a:t>Our clients are senior leaders used to high standards. Simple mistakes, unexplained slides, or a hole in the data can easily discredit our hard work and should be checked beforehand</a:t>
            </a:r>
            <a:br>
              <a:rPr lang="en-US" sz="1800"/>
            </a:br>
            <a:endParaRPr lang="en-US" sz="1800"/>
          </a:p>
        </p:txBody>
      </p:sp>
    </p:spTree>
    <p:extLst>
      <p:ext uri="{BB962C8B-B14F-4D97-AF65-F5344CB8AC3E}">
        <p14:creationId xmlns:p14="http://schemas.microsoft.com/office/powerpoint/2010/main" val="38655593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A4020-CEF4-A986-C055-967FD251197F}"/>
            </a:ext>
          </a:extLst>
        </p:cNvPr>
        <p:cNvGrpSpPr/>
        <p:nvPr/>
      </p:nvGrpSpPr>
      <p:grpSpPr>
        <a:xfrm>
          <a:off x="0" y="0"/>
          <a:ext cx="0" cy="0"/>
          <a:chOff x="0" y="0"/>
          <a:chExt cx="0" cy="0"/>
        </a:xfrm>
      </p:grpSpPr>
      <p:graphicFrame>
        <p:nvGraphicFramePr>
          <p:cNvPr id="26" name="think-cell data - do not delete" hidden="1">
            <a:extLst>
              <a:ext uri="{FF2B5EF4-FFF2-40B4-BE49-F238E27FC236}">
                <a16:creationId xmlns:a16="http://schemas.microsoft.com/office/drawing/2014/main" id="{22CE13C5-88FF-B469-EAD5-01BD2946E399}"/>
              </a:ext>
            </a:extLst>
          </p:cNvPr>
          <p:cNvGraphicFramePr>
            <a:graphicFrameLocks/>
          </p:cNvGraphicFramePr>
          <p:nvPr>
            <p:custDataLst>
              <p:tags r:id="rId1"/>
            </p:custDataLst>
            <p:extLst>
              <p:ext uri="{D42A27DB-BD31-4B8C-83A1-F6EECF244321}">
                <p14:modId xmlns:p14="http://schemas.microsoft.com/office/powerpoint/2010/main" val="21525029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25" name="think-cell data - do not delete" hidden="1">
            <a:extLst>
              <a:ext uri="{FF2B5EF4-FFF2-40B4-BE49-F238E27FC236}">
                <a16:creationId xmlns:a16="http://schemas.microsoft.com/office/drawing/2014/main" id="{EAADE737-F92E-5BFE-D029-D3DDE28A3E05}"/>
              </a:ext>
            </a:extLst>
          </p:cNvPr>
          <p:cNvGraphicFramePr>
            <a:graphicFrameLocks noChangeAspect="1"/>
          </p:cNvGraphicFramePr>
          <p:nvPr>
            <p:custDataLst>
              <p:tags r:id="rId2"/>
            </p:custDataLst>
            <p:extLst>
              <p:ext uri="{D42A27DB-BD31-4B8C-83A1-F6EECF244321}">
                <p14:modId xmlns:p14="http://schemas.microsoft.com/office/powerpoint/2010/main" val="17693323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7" imgH="348" progId="TCLayout.ActiveDocument.1">
                  <p:embed/>
                </p:oleObj>
              </mc:Choice>
              <mc:Fallback>
                <p:oleObj name="think-cell Slide" r:id="rId6"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9ADD297-6C88-CFEA-892D-47762949699D}"/>
              </a:ext>
            </a:extLst>
          </p:cNvPr>
          <p:cNvSpPr>
            <a:spLocks noGrp="1"/>
          </p:cNvSpPr>
          <p:nvPr>
            <p:ph type="title"/>
          </p:nvPr>
        </p:nvSpPr>
        <p:spPr>
          <a:xfrm>
            <a:off x="558800" y="635000"/>
            <a:ext cx="11087100" cy="838200"/>
          </a:xfrm>
        </p:spPr>
        <p:txBody>
          <a:bodyPr vert="horz" rIns="0" anchor="t" anchorCtr="0"/>
          <a:lstStyle/>
          <a:p>
            <a:r>
              <a:rPr lang="en-US"/>
              <a:t>Before a major internal or client review, check for these common mistakes</a:t>
            </a:r>
          </a:p>
        </p:txBody>
      </p:sp>
      <p:sp>
        <p:nvSpPr>
          <p:cNvPr id="5" name="Rectangle 4">
            <a:extLst>
              <a:ext uri="{FF2B5EF4-FFF2-40B4-BE49-F238E27FC236}">
                <a16:creationId xmlns:a16="http://schemas.microsoft.com/office/drawing/2014/main" id="{9D40A18B-5292-2AAD-5C85-96CB7C414496}"/>
              </a:ext>
            </a:extLst>
          </p:cNvPr>
          <p:cNvSpPr/>
          <p:nvPr/>
        </p:nvSpPr>
        <p:spPr>
          <a:xfrm>
            <a:off x="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THINK</a:t>
            </a:r>
            <a:endParaRPr lang="en-US" sz="1100" dirty="0"/>
          </a:p>
        </p:txBody>
      </p:sp>
      <p:sp>
        <p:nvSpPr>
          <p:cNvPr id="8" name="Rectangle 7">
            <a:extLst>
              <a:ext uri="{FF2B5EF4-FFF2-40B4-BE49-F238E27FC236}">
                <a16:creationId xmlns:a16="http://schemas.microsoft.com/office/drawing/2014/main" id="{3267E28D-B7A9-6921-4459-35570FA6E4E0}"/>
              </a:ext>
            </a:extLst>
          </p:cNvPr>
          <p:cNvSpPr/>
          <p:nvPr/>
        </p:nvSpPr>
        <p:spPr>
          <a:xfrm>
            <a:off x="73152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AI WORKFLOW</a:t>
            </a:r>
            <a:endParaRPr lang="en-US" sz="1100" dirty="0"/>
          </a:p>
        </p:txBody>
      </p:sp>
      <p:sp>
        <p:nvSpPr>
          <p:cNvPr id="21" name="Rectangle 21"/>
          <p:cNvSpPr/>
          <p:nvPr/>
        </p:nvSpPr>
        <p:spPr>
          <a:xfrm>
            <a:off x="9753600" y="-1"/>
            <a:ext cx="2438400" cy="29198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QUALITY &amp; DATA</a:t>
            </a:r>
            <a:endParaRPr lang="en-US" sz="1100" dirty="0"/>
          </a:p>
        </p:txBody>
      </p:sp>
      <p:sp>
        <p:nvSpPr>
          <p:cNvPr id="18" name="Rectangle 17">
            <a:extLst>
              <a:ext uri="{FF2B5EF4-FFF2-40B4-BE49-F238E27FC236}">
                <a16:creationId xmlns:a16="http://schemas.microsoft.com/office/drawing/2014/main" id="{C97E31C3-C799-ED63-681F-02C726B505D3}"/>
              </a:ext>
            </a:extLst>
          </p:cNvPr>
          <p:cNvSpPr/>
          <p:nvPr/>
        </p:nvSpPr>
        <p:spPr>
          <a:xfrm>
            <a:off x="24384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DECK</a:t>
            </a:r>
            <a:endParaRPr lang="en-US" sz="1100" dirty="0"/>
          </a:p>
        </p:txBody>
      </p:sp>
      <p:sp>
        <p:nvSpPr>
          <p:cNvPr id="20" name="Rectangle 19">
            <a:extLst>
              <a:ext uri="{FF2B5EF4-FFF2-40B4-BE49-F238E27FC236}">
                <a16:creationId xmlns:a16="http://schemas.microsoft.com/office/drawing/2014/main" id="{BD5FADDD-F51F-F073-7579-82BD130DDA61}"/>
              </a:ext>
            </a:extLst>
          </p:cNvPr>
          <p:cNvSpPr/>
          <p:nvPr/>
        </p:nvSpPr>
        <p:spPr>
          <a:xfrm>
            <a:off x="48768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PAGE</a:t>
            </a:r>
            <a:endParaRPr lang="en-US" sz="1100" dirty="0"/>
          </a:p>
        </p:txBody>
      </p:sp>
      <p:sp>
        <p:nvSpPr>
          <p:cNvPr id="11" name="Title 1">
            <a:extLst>
              <a:ext uri="{FF2B5EF4-FFF2-40B4-BE49-F238E27FC236}">
                <a16:creationId xmlns:a16="http://schemas.microsoft.com/office/drawing/2014/main" id="{45521BC5-26B3-3629-C4E7-47E1D2D3453C}"/>
              </a:ext>
            </a:extLst>
          </p:cNvPr>
          <p:cNvSpPr txBox="1">
            <a:spLocks/>
          </p:cNvSpPr>
          <p:nvPr/>
        </p:nvSpPr>
        <p:spPr>
          <a:xfrm>
            <a:off x="554736" y="2794001"/>
            <a:ext cx="4238938" cy="2733964"/>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endParaRPr lang="en-US" sz="1600"/>
          </a:p>
        </p:txBody>
      </p:sp>
      <p:sp>
        <p:nvSpPr>
          <p:cNvPr id="6" name="Title 1">
            <a:extLst>
              <a:ext uri="{FF2B5EF4-FFF2-40B4-BE49-F238E27FC236}">
                <a16:creationId xmlns:a16="http://schemas.microsoft.com/office/drawing/2014/main" id="{21963E6E-3344-120D-28D6-65BC2A8F905B}"/>
              </a:ext>
            </a:extLst>
          </p:cNvPr>
          <p:cNvSpPr txBox="1">
            <a:spLocks/>
          </p:cNvSpPr>
          <p:nvPr/>
        </p:nvSpPr>
        <p:spPr>
          <a:xfrm>
            <a:off x="554734" y="1594896"/>
            <a:ext cx="4595489" cy="327572"/>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solidFill>
                  <a:schemeClr val="accent5"/>
                </a:solidFill>
              </a:rPr>
              <a:t>Conceptual QC</a:t>
            </a:r>
            <a:endParaRPr lang="en-US" sz="2000">
              <a:solidFill>
                <a:schemeClr val="bg1">
                  <a:lumMod val="50000"/>
                </a:schemeClr>
              </a:solidFill>
            </a:endParaRPr>
          </a:p>
        </p:txBody>
      </p:sp>
      <p:sp>
        <p:nvSpPr>
          <p:cNvPr id="13" name="Title 1">
            <a:extLst>
              <a:ext uri="{FF2B5EF4-FFF2-40B4-BE49-F238E27FC236}">
                <a16:creationId xmlns:a16="http://schemas.microsoft.com/office/drawing/2014/main" id="{CD9E52FD-3BDC-4495-A66C-5A2C8772AD04}"/>
              </a:ext>
            </a:extLst>
          </p:cNvPr>
          <p:cNvSpPr txBox="1">
            <a:spLocks/>
          </p:cNvSpPr>
          <p:nvPr/>
        </p:nvSpPr>
        <p:spPr>
          <a:xfrm>
            <a:off x="6096000" y="1594896"/>
            <a:ext cx="5091953" cy="327572"/>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solidFill>
                  <a:schemeClr val="accent5"/>
                </a:solidFill>
              </a:rPr>
              <a:t>Formatting QC</a:t>
            </a:r>
            <a:endParaRPr lang="en-US" sz="2000">
              <a:solidFill>
                <a:schemeClr val="bg1">
                  <a:lumMod val="50000"/>
                </a:schemeClr>
              </a:solidFill>
            </a:endParaRPr>
          </a:p>
        </p:txBody>
      </p:sp>
      <p:sp>
        <p:nvSpPr>
          <p:cNvPr id="15" name="Title 1">
            <a:extLst>
              <a:ext uri="{FF2B5EF4-FFF2-40B4-BE49-F238E27FC236}">
                <a16:creationId xmlns:a16="http://schemas.microsoft.com/office/drawing/2014/main" id="{E5442389-D616-57AE-B3D7-9771FF802586}"/>
              </a:ext>
            </a:extLst>
          </p:cNvPr>
          <p:cNvSpPr txBox="1">
            <a:spLocks/>
          </p:cNvSpPr>
          <p:nvPr/>
        </p:nvSpPr>
        <p:spPr>
          <a:xfrm>
            <a:off x="554735" y="2120837"/>
            <a:ext cx="4775172" cy="3045052"/>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342900" indent="-342900">
              <a:lnSpc>
                <a:spcPct val="100000"/>
              </a:lnSpc>
              <a:spcAft>
                <a:spcPts val="600"/>
              </a:spcAft>
              <a:buFont typeface="Wingdings" panose="05000000000000000000" pitchFamily="2" charset="2"/>
              <a:buChar char="q"/>
            </a:pPr>
            <a:r>
              <a:rPr lang="en-US" sz="1600"/>
              <a:t>Confirm the storyline sums up to a single takeaway for a busy client</a:t>
            </a:r>
          </a:p>
          <a:p>
            <a:pPr marL="342900" indent="-342900">
              <a:lnSpc>
                <a:spcPct val="100000"/>
              </a:lnSpc>
              <a:spcAft>
                <a:spcPts val="600"/>
              </a:spcAft>
              <a:buFont typeface="Wingdings" panose="05000000000000000000" pitchFamily="2" charset="2"/>
              <a:buChar char="q"/>
            </a:pPr>
            <a:r>
              <a:rPr lang="en-US" sz="1600"/>
              <a:t>Confirm every slide gets the point across in 10 seconds or less</a:t>
            </a:r>
          </a:p>
          <a:p>
            <a:pPr marL="342900" indent="-342900">
              <a:lnSpc>
                <a:spcPct val="100000"/>
              </a:lnSpc>
              <a:spcAft>
                <a:spcPts val="600"/>
              </a:spcAft>
              <a:buFont typeface="Wingdings" panose="05000000000000000000" pitchFamily="2" charset="2"/>
              <a:buChar char="q"/>
            </a:pPr>
            <a:r>
              <a:rPr lang="en-US" sz="1600"/>
              <a:t>Review all action titles for high-level story</a:t>
            </a:r>
          </a:p>
          <a:p>
            <a:pPr marL="342900" indent="-342900">
              <a:lnSpc>
                <a:spcPct val="100000"/>
              </a:lnSpc>
              <a:spcAft>
                <a:spcPts val="600"/>
              </a:spcAft>
              <a:buFont typeface="Wingdings" panose="05000000000000000000" pitchFamily="2" charset="2"/>
              <a:buChar char="q"/>
            </a:pPr>
            <a:r>
              <a:rPr lang="en-US" sz="1600"/>
              <a:t>Ensure every slide with a chart or table is self-explanatory when taken out of the deck (i.e., clients might share individual slides)</a:t>
            </a:r>
          </a:p>
          <a:p>
            <a:pPr marL="342900" indent="-342900">
              <a:lnSpc>
                <a:spcPct val="100000"/>
              </a:lnSpc>
              <a:spcAft>
                <a:spcPts val="600"/>
              </a:spcAft>
              <a:buFont typeface="Wingdings" panose="05000000000000000000" pitchFamily="2" charset="2"/>
              <a:buChar char="q"/>
            </a:pPr>
            <a:r>
              <a:rPr lang="en-US" sz="1600"/>
              <a:t>Confirm all AI-generated formula or claim is backed by data, not arbitrary</a:t>
            </a:r>
          </a:p>
          <a:p>
            <a:pPr marL="342900" indent="-342900">
              <a:lnSpc>
                <a:spcPct val="100000"/>
              </a:lnSpc>
              <a:spcAft>
                <a:spcPts val="600"/>
              </a:spcAft>
              <a:buFont typeface="Wingdings" panose="05000000000000000000" pitchFamily="2" charset="2"/>
              <a:buChar char="q"/>
            </a:pPr>
            <a:endParaRPr lang="en-US" sz="1600"/>
          </a:p>
          <a:p>
            <a:pPr marL="342900" indent="-342900">
              <a:lnSpc>
                <a:spcPct val="100000"/>
              </a:lnSpc>
              <a:spcAft>
                <a:spcPts val="600"/>
              </a:spcAft>
              <a:buFont typeface="Wingdings" panose="05000000000000000000" pitchFamily="2" charset="2"/>
              <a:buChar char="q"/>
            </a:pPr>
            <a:endParaRPr lang="en-US" sz="1600"/>
          </a:p>
          <a:p>
            <a:pPr marL="342900" indent="-342900">
              <a:lnSpc>
                <a:spcPct val="100000"/>
              </a:lnSpc>
              <a:spcAft>
                <a:spcPts val="600"/>
              </a:spcAft>
              <a:buFont typeface="Wingdings" panose="05000000000000000000" pitchFamily="2" charset="2"/>
              <a:buChar char="q"/>
            </a:pPr>
            <a:endParaRPr lang="en-US" sz="1600"/>
          </a:p>
          <a:p>
            <a:pPr marL="342900" indent="-342900">
              <a:lnSpc>
                <a:spcPct val="100000"/>
              </a:lnSpc>
              <a:spcAft>
                <a:spcPts val="600"/>
              </a:spcAft>
              <a:buFont typeface="Arial" panose="020B0604020202020204" pitchFamily="34" charset="0"/>
              <a:buChar char="•"/>
            </a:pPr>
            <a:endParaRPr lang="en-US" sz="1600"/>
          </a:p>
        </p:txBody>
      </p:sp>
      <p:cxnSp>
        <p:nvCxnSpPr>
          <p:cNvPr id="4" name="Straight Connector 3">
            <a:extLst>
              <a:ext uri="{FF2B5EF4-FFF2-40B4-BE49-F238E27FC236}">
                <a16:creationId xmlns:a16="http://schemas.microsoft.com/office/drawing/2014/main" id="{E7989FDE-0E71-24E9-1FBF-56ED43875F82}"/>
              </a:ext>
            </a:extLst>
          </p:cNvPr>
          <p:cNvCxnSpPr>
            <a:cxnSpLocks/>
          </p:cNvCxnSpPr>
          <p:nvPr/>
        </p:nvCxnSpPr>
        <p:spPr>
          <a:xfrm>
            <a:off x="536416" y="1895574"/>
            <a:ext cx="4775172" cy="0"/>
          </a:xfrm>
          <a:prstGeom prst="line">
            <a:avLst/>
          </a:prstGeom>
          <a:ln w="12700">
            <a:solidFill>
              <a:schemeClr val="accent5"/>
            </a:solidFill>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34D562EF-84D8-2A1E-7D52-5F134DFA2E6C}"/>
              </a:ext>
            </a:extLst>
          </p:cNvPr>
          <p:cNvCxnSpPr>
            <a:cxnSpLocks/>
          </p:cNvCxnSpPr>
          <p:nvPr/>
        </p:nvCxnSpPr>
        <p:spPr>
          <a:xfrm>
            <a:off x="6096000" y="1895574"/>
            <a:ext cx="4775172" cy="0"/>
          </a:xfrm>
          <a:prstGeom prst="line">
            <a:avLst/>
          </a:prstGeom>
          <a:ln w="12700">
            <a:solidFill>
              <a:schemeClr val="accent5"/>
            </a:solidFill>
          </a:ln>
        </p:spPr>
        <p:style>
          <a:lnRef idx="1">
            <a:schemeClr val="dk1"/>
          </a:lnRef>
          <a:fillRef idx="0">
            <a:schemeClr val="dk1"/>
          </a:fillRef>
          <a:effectRef idx="0">
            <a:schemeClr val="dk1"/>
          </a:effectRef>
          <a:fontRef idx="minor">
            <a:schemeClr val="tx1"/>
          </a:fontRef>
        </p:style>
      </p:cxnSp>
      <p:sp>
        <p:nvSpPr>
          <p:cNvPr id="10" name="Title 1">
            <a:extLst>
              <a:ext uri="{FF2B5EF4-FFF2-40B4-BE49-F238E27FC236}">
                <a16:creationId xmlns:a16="http://schemas.microsoft.com/office/drawing/2014/main" id="{904DDD9A-B9B4-8629-C9D8-A1A6F7D59942}"/>
              </a:ext>
            </a:extLst>
          </p:cNvPr>
          <p:cNvSpPr txBox="1">
            <a:spLocks/>
          </p:cNvSpPr>
          <p:nvPr/>
        </p:nvSpPr>
        <p:spPr>
          <a:xfrm>
            <a:off x="6096000" y="2120837"/>
            <a:ext cx="5213684" cy="2733964"/>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pPr marL="342900" indent="-342900">
              <a:lnSpc>
                <a:spcPct val="100000"/>
              </a:lnSpc>
              <a:spcAft>
                <a:spcPts val="600"/>
              </a:spcAft>
              <a:buFont typeface="Wingdings" panose="05000000000000000000" pitchFamily="2" charset="2"/>
              <a:buChar char="q"/>
            </a:pPr>
            <a:r>
              <a:rPr lang="en-US" sz="1600"/>
              <a:t>Remove all slide comments (Use PowerPoint’s feature: File → Info → Check for Issues)</a:t>
            </a:r>
          </a:p>
          <a:p>
            <a:pPr marL="342900" indent="-342900">
              <a:lnSpc>
                <a:spcPct val="100000"/>
              </a:lnSpc>
              <a:spcAft>
                <a:spcPts val="600"/>
              </a:spcAft>
              <a:buFont typeface="Wingdings" panose="05000000000000000000" pitchFamily="2" charset="2"/>
              <a:buChar char="q"/>
            </a:pPr>
            <a:r>
              <a:rPr lang="en-US" sz="1600"/>
              <a:t>Remove any work in progress sticky notes</a:t>
            </a:r>
          </a:p>
          <a:p>
            <a:pPr marL="342900" indent="-342900">
              <a:lnSpc>
                <a:spcPct val="100000"/>
              </a:lnSpc>
              <a:spcAft>
                <a:spcPts val="600"/>
              </a:spcAft>
              <a:buFont typeface="Wingdings" panose="05000000000000000000" pitchFamily="2" charset="2"/>
              <a:buChar char="q"/>
            </a:pPr>
            <a:r>
              <a:rPr lang="en-US" sz="1600"/>
              <a:t>Ensure PDF conversion has no missing elements</a:t>
            </a:r>
          </a:p>
          <a:p>
            <a:pPr marL="342900" indent="-342900">
              <a:lnSpc>
                <a:spcPct val="100000"/>
              </a:lnSpc>
              <a:spcAft>
                <a:spcPts val="600"/>
              </a:spcAft>
              <a:buFont typeface="Wingdings" panose="05000000000000000000" pitchFamily="2" charset="2"/>
              <a:buChar char="q"/>
            </a:pPr>
            <a:r>
              <a:rPr lang="en-US" sz="1600"/>
              <a:t>Confirm font sizes and styles are uniformly used</a:t>
            </a:r>
          </a:p>
          <a:p>
            <a:pPr marL="342900" indent="-342900">
              <a:lnSpc>
                <a:spcPct val="100000"/>
              </a:lnSpc>
              <a:spcAft>
                <a:spcPts val="600"/>
              </a:spcAft>
              <a:buFont typeface="Wingdings" panose="05000000000000000000" pitchFamily="2" charset="2"/>
              <a:buChar char="q"/>
            </a:pPr>
            <a:r>
              <a:rPr lang="en-US" sz="1600"/>
              <a:t>Check layout and alignment, especially for titles (i.e., title boxes should be in the same place)</a:t>
            </a:r>
          </a:p>
          <a:p>
            <a:pPr marL="342900" indent="-342900">
              <a:lnSpc>
                <a:spcPct val="100000"/>
              </a:lnSpc>
              <a:spcAft>
                <a:spcPts val="600"/>
              </a:spcAft>
              <a:buFont typeface="Wingdings" panose="05000000000000000000" pitchFamily="2" charset="2"/>
              <a:buChar char="q"/>
            </a:pPr>
            <a:r>
              <a:rPr lang="en-US" sz="1600"/>
              <a:t>Confirm percentage breakdowns sum to 100%; where required, add “may not sum to 100% due to rounding”</a:t>
            </a:r>
          </a:p>
          <a:p>
            <a:pPr>
              <a:lnSpc>
                <a:spcPct val="100000"/>
              </a:lnSpc>
              <a:spcAft>
                <a:spcPts val="600"/>
              </a:spcAft>
            </a:pPr>
            <a:endParaRPr lang="en-US" sz="1600"/>
          </a:p>
          <a:p>
            <a:pPr marL="342900" indent="-342900">
              <a:lnSpc>
                <a:spcPct val="100000"/>
              </a:lnSpc>
              <a:spcAft>
                <a:spcPts val="600"/>
              </a:spcAft>
              <a:buFont typeface="Wingdings" panose="05000000000000000000" pitchFamily="2" charset="2"/>
              <a:buChar char="q"/>
            </a:pPr>
            <a:endParaRPr lang="en-US" sz="1600"/>
          </a:p>
          <a:p>
            <a:pPr marL="342900" indent="-342900">
              <a:lnSpc>
                <a:spcPct val="100000"/>
              </a:lnSpc>
              <a:spcAft>
                <a:spcPts val="600"/>
              </a:spcAft>
              <a:buFont typeface="Wingdings" panose="05000000000000000000" pitchFamily="2" charset="2"/>
              <a:buChar char="q"/>
            </a:pPr>
            <a:endParaRPr lang="en-US" sz="1600"/>
          </a:p>
          <a:p>
            <a:pPr marL="342900" indent="-342900">
              <a:lnSpc>
                <a:spcPct val="100000"/>
              </a:lnSpc>
              <a:spcAft>
                <a:spcPts val="600"/>
              </a:spcAft>
              <a:buFont typeface="Arial" panose="020B0604020202020204" pitchFamily="34" charset="0"/>
              <a:buChar char="•"/>
            </a:pPr>
            <a:endParaRPr lang="en-US" sz="1600"/>
          </a:p>
        </p:txBody>
      </p:sp>
      <p:sp>
        <p:nvSpPr>
          <p:cNvPr id="17" name="Rectangle 16">
            <a:extLst>
              <a:ext uri="{FF2B5EF4-FFF2-40B4-BE49-F238E27FC236}">
                <a16:creationId xmlns:a16="http://schemas.microsoft.com/office/drawing/2014/main" id="{3299688F-FE7E-0A47-B850-66DA81B0287A}"/>
              </a:ext>
            </a:extLst>
          </p:cNvPr>
          <p:cNvSpPr/>
          <p:nvPr/>
        </p:nvSpPr>
        <p:spPr>
          <a:xfrm>
            <a:off x="1688911" y="5279335"/>
            <a:ext cx="8838688" cy="8245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4675"/>
            <a:r>
              <a:rPr lang="en-US" sz="1600">
                <a:solidFill>
                  <a:schemeClr val="tx1"/>
                </a:solidFill>
              </a:rPr>
              <a:t>For conceptual QC, the ability to (1) </a:t>
            </a:r>
            <a:r>
              <a:rPr lang="en-US" sz="1600" b="1">
                <a:solidFill>
                  <a:srgbClr val="009999"/>
                </a:solidFill>
              </a:rPr>
              <a:t>distance yourself from your work </a:t>
            </a:r>
            <a:r>
              <a:rPr lang="en-US" sz="1600">
                <a:solidFill>
                  <a:schemeClr val="tx1"/>
                </a:solidFill>
              </a:rPr>
              <a:t>as a reviewer, and (2) review and accept </a:t>
            </a:r>
            <a:r>
              <a:rPr lang="en-US" sz="1600" b="1">
                <a:solidFill>
                  <a:srgbClr val="009999"/>
                </a:solidFill>
              </a:rPr>
              <a:t>constructive feedback from team members </a:t>
            </a:r>
            <a:r>
              <a:rPr lang="en-US" sz="1600">
                <a:solidFill>
                  <a:schemeClr val="tx1"/>
                </a:solidFill>
              </a:rPr>
              <a:t>is essential</a:t>
            </a:r>
            <a:endParaRPr lang="en-US" sz="1600" dirty="0" err="1">
              <a:solidFill>
                <a:schemeClr val="tx1"/>
              </a:solidFill>
            </a:endParaRPr>
          </a:p>
        </p:txBody>
      </p:sp>
      <p:sp>
        <p:nvSpPr>
          <p:cNvPr id="19" name="Rectangle 18">
            <a:extLst>
              <a:ext uri="{FF2B5EF4-FFF2-40B4-BE49-F238E27FC236}">
                <a16:creationId xmlns:a16="http://schemas.microsoft.com/office/drawing/2014/main" id="{A4B846E2-1E0E-B506-0838-93B932437532}"/>
              </a:ext>
            </a:extLst>
          </p:cNvPr>
          <p:cNvSpPr/>
          <p:nvPr/>
        </p:nvSpPr>
        <p:spPr>
          <a:xfrm>
            <a:off x="1664401" y="5279335"/>
            <a:ext cx="49017" cy="82459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p>
        </p:txBody>
      </p:sp>
      <p:pic>
        <p:nvPicPr>
          <p:cNvPr id="23" name="Graphic 22" descr="Idea outline">
            <a:extLst>
              <a:ext uri="{FF2B5EF4-FFF2-40B4-BE49-F238E27FC236}">
                <a16:creationId xmlns:a16="http://schemas.microsoft.com/office/drawing/2014/main" id="{1427CB68-D2CD-E1EB-6A87-60918AB9878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781215" y="5473110"/>
            <a:ext cx="457200" cy="457200"/>
          </a:xfrm>
          <a:prstGeom prst="rect">
            <a:avLst/>
          </a:prstGeom>
        </p:spPr>
      </p:pic>
    </p:spTree>
    <p:extLst>
      <p:ext uri="{BB962C8B-B14F-4D97-AF65-F5344CB8AC3E}">
        <p14:creationId xmlns:p14="http://schemas.microsoft.com/office/powerpoint/2010/main" val="11342745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2BB56-40C2-E4EF-8B75-F911A10D81EC}"/>
            </a:ext>
          </a:extLst>
        </p:cNvPr>
        <p:cNvGrpSpPr/>
        <p:nvPr/>
      </p:nvGrpSpPr>
      <p:grpSpPr>
        <a:xfrm>
          <a:off x="0" y="0"/>
          <a:ext cx="0" cy="0"/>
          <a:chOff x="0" y="0"/>
          <a:chExt cx="0" cy="0"/>
        </a:xfrm>
      </p:grpSpPr>
      <p:graphicFrame>
        <p:nvGraphicFramePr>
          <p:cNvPr id="38" name="think-cell data - do not delete" hidden="1">
            <a:extLst>
              <a:ext uri="{FF2B5EF4-FFF2-40B4-BE49-F238E27FC236}">
                <a16:creationId xmlns:a16="http://schemas.microsoft.com/office/drawing/2014/main" id="{5D18BCEB-7B2F-467E-A2BE-B7B398E707B4}"/>
              </a:ext>
            </a:extLst>
          </p:cNvPr>
          <p:cNvGraphicFramePr>
            <a:graphicFrameLocks/>
          </p:cNvGraphicFramePr>
          <p:nvPr>
            <p:custDataLst>
              <p:tags r:id="rId1"/>
            </p:custDataLst>
            <p:extLst>
              <p:ext uri="{D42A27DB-BD31-4B8C-83A1-F6EECF244321}">
                <p14:modId xmlns:p14="http://schemas.microsoft.com/office/powerpoint/2010/main" val="127355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7" name="think-cell data - do not delete" hidden="1">
            <a:extLst>
              <a:ext uri="{FF2B5EF4-FFF2-40B4-BE49-F238E27FC236}">
                <a16:creationId xmlns:a16="http://schemas.microsoft.com/office/drawing/2014/main" id="{8863B3CA-70A3-1C44-C291-6559B530CFBC}"/>
              </a:ext>
            </a:extLst>
          </p:cNvPr>
          <p:cNvGraphicFramePr>
            <a:graphicFrameLocks noChangeAspect="1"/>
          </p:cNvGraphicFramePr>
          <p:nvPr>
            <p:custDataLst>
              <p:tags r:id="rId2"/>
            </p:custDataLst>
            <p:extLst>
              <p:ext uri="{D42A27DB-BD31-4B8C-83A1-F6EECF244321}">
                <p14:modId xmlns:p14="http://schemas.microsoft.com/office/powerpoint/2010/main" val="7951653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7" imgH="348" progId="TCLayout.ActiveDocument.1">
                  <p:embed/>
                </p:oleObj>
              </mc:Choice>
              <mc:Fallback>
                <p:oleObj name="think-cell Slide" r:id="rId6"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F682DB-D58D-9426-8200-A8D47F9A33D3}"/>
              </a:ext>
            </a:extLst>
          </p:cNvPr>
          <p:cNvSpPr>
            <a:spLocks noGrp="1"/>
          </p:cNvSpPr>
          <p:nvPr>
            <p:ph type="title"/>
          </p:nvPr>
        </p:nvSpPr>
        <p:spPr>
          <a:xfrm>
            <a:off x="558800" y="635000"/>
            <a:ext cx="11087100" cy="838200"/>
          </a:xfrm>
        </p:spPr>
        <p:txBody>
          <a:bodyPr vert="horz" rIns="0" anchor="t" anchorCtr="0"/>
          <a:lstStyle/>
          <a:p>
            <a:r>
              <a:rPr lang="en-US"/>
              <a:t>Handling sensitive client data with AI requires extra steps to ensure data integrity and legal compliance</a:t>
            </a:r>
          </a:p>
        </p:txBody>
      </p:sp>
      <p:sp>
        <p:nvSpPr>
          <p:cNvPr id="5" name="Rectangle 4">
            <a:extLst>
              <a:ext uri="{FF2B5EF4-FFF2-40B4-BE49-F238E27FC236}">
                <a16:creationId xmlns:a16="http://schemas.microsoft.com/office/drawing/2014/main" id="{A050ED34-0D5E-78EB-EB58-BA6E901027F5}"/>
              </a:ext>
            </a:extLst>
          </p:cNvPr>
          <p:cNvSpPr/>
          <p:nvPr/>
        </p:nvSpPr>
        <p:spPr>
          <a:xfrm>
            <a:off x="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THINK</a:t>
            </a:r>
            <a:endParaRPr lang="en-US" sz="1100" dirty="0"/>
          </a:p>
        </p:txBody>
      </p:sp>
      <p:sp>
        <p:nvSpPr>
          <p:cNvPr id="8" name="Rectangle 7">
            <a:extLst>
              <a:ext uri="{FF2B5EF4-FFF2-40B4-BE49-F238E27FC236}">
                <a16:creationId xmlns:a16="http://schemas.microsoft.com/office/drawing/2014/main" id="{5241C365-F45D-8D38-4053-B1A142636763}"/>
              </a:ext>
            </a:extLst>
          </p:cNvPr>
          <p:cNvSpPr/>
          <p:nvPr/>
        </p:nvSpPr>
        <p:spPr>
          <a:xfrm>
            <a:off x="73152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AI WORKFLOW</a:t>
            </a:r>
            <a:endParaRPr lang="en-US" sz="1100" dirty="0"/>
          </a:p>
        </p:txBody>
      </p:sp>
      <p:sp>
        <p:nvSpPr>
          <p:cNvPr id="21" name="Rectangle 21"/>
          <p:cNvSpPr/>
          <p:nvPr/>
        </p:nvSpPr>
        <p:spPr>
          <a:xfrm>
            <a:off x="9753600" y="-1"/>
            <a:ext cx="2438400" cy="29198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QUALITY &amp; DATA</a:t>
            </a:r>
            <a:endParaRPr lang="en-US" sz="1100" dirty="0"/>
          </a:p>
        </p:txBody>
      </p:sp>
      <p:sp>
        <p:nvSpPr>
          <p:cNvPr id="18" name="Rectangle 17">
            <a:extLst>
              <a:ext uri="{FF2B5EF4-FFF2-40B4-BE49-F238E27FC236}">
                <a16:creationId xmlns:a16="http://schemas.microsoft.com/office/drawing/2014/main" id="{64160F25-1E9F-423F-DAA7-5FDC2A381E72}"/>
              </a:ext>
            </a:extLst>
          </p:cNvPr>
          <p:cNvSpPr/>
          <p:nvPr/>
        </p:nvSpPr>
        <p:spPr>
          <a:xfrm>
            <a:off x="24384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DECK</a:t>
            </a:r>
            <a:endParaRPr lang="en-US" sz="1100" dirty="0"/>
          </a:p>
        </p:txBody>
      </p:sp>
      <p:sp>
        <p:nvSpPr>
          <p:cNvPr id="20" name="Rectangle 19">
            <a:extLst>
              <a:ext uri="{FF2B5EF4-FFF2-40B4-BE49-F238E27FC236}">
                <a16:creationId xmlns:a16="http://schemas.microsoft.com/office/drawing/2014/main" id="{1896FF6D-36BA-D99F-3DE0-4797A98F6C01}"/>
              </a:ext>
            </a:extLst>
          </p:cNvPr>
          <p:cNvSpPr/>
          <p:nvPr/>
        </p:nvSpPr>
        <p:spPr>
          <a:xfrm>
            <a:off x="4876800" y="-1"/>
            <a:ext cx="2438400" cy="29198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100"/>
              <a:t>HOW WE STRUCTURE A PAGE</a:t>
            </a:r>
            <a:endParaRPr lang="en-US" sz="1100" dirty="0"/>
          </a:p>
        </p:txBody>
      </p:sp>
      <p:sp>
        <p:nvSpPr>
          <p:cNvPr id="6" name="Title 1">
            <a:extLst>
              <a:ext uri="{FF2B5EF4-FFF2-40B4-BE49-F238E27FC236}">
                <a16:creationId xmlns:a16="http://schemas.microsoft.com/office/drawing/2014/main" id="{21963E6E-3344-120D-28D6-65BC2A8F905B}"/>
              </a:ext>
            </a:extLst>
          </p:cNvPr>
          <p:cNvSpPr txBox="1">
            <a:spLocks/>
          </p:cNvSpPr>
          <p:nvPr/>
        </p:nvSpPr>
        <p:spPr>
          <a:xfrm>
            <a:off x="536416" y="1643699"/>
            <a:ext cx="2751882" cy="327572"/>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solidFill>
                  <a:schemeClr val="accent5"/>
                </a:solidFill>
              </a:rPr>
              <a:t>Do</a:t>
            </a:r>
          </a:p>
        </p:txBody>
      </p:sp>
      <p:sp>
        <p:nvSpPr>
          <p:cNvPr id="13" name="Title 1">
            <a:extLst>
              <a:ext uri="{FF2B5EF4-FFF2-40B4-BE49-F238E27FC236}">
                <a16:creationId xmlns:a16="http://schemas.microsoft.com/office/drawing/2014/main" id="{CD9E52FD-3BDC-4495-A66C-5A2C8772AD04}"/>
              </a:ext>
            </a:extLst>
          </p:cNvPr>
          <p:cNvSpPr txBox="1">
            <a:spLocks/>
          </p:cNvSpPr>
          <p:nvPr/>
        </p:nvSpPr>
        <p:spPr>
          <a:xfrm>
            <a:off x="6102350" y="1643699"/>
            <a:ext cx="2751882" cy="327572"/>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2000" b="1">
                <a:solidFill>
                  <a:schemeClr val="accent5"/>
                </a:solidFill>
              </a:rPr>
              <a:t>Don’t</a:t>
            </a:r>
          </a:p>
        </p:txBody>
      </p:sp>
      <p:sp>
        <p:nvSpPr>
          <p:cNvPr id="15" name="Title 1">
            <a:extLst>
              <a:ext uri="{FF2B5EF4-FFF2-40B4-BE49-F238E27FC236}">
                <a16:creationId xmlns:a16="http://schemas.microsoft.com/office/drawing/2014/main" id="{E5442389-D616-57AE-B3D7-9771FF802586}"/>
              </a:ext>
            </a:extLst>
          </p:cNvPr>
          <p:cNvSpPr txBox="1">
            <a:spLocks/>
          </p:cNvSpPr>
          <p:nvPr/>
        </p:nvSpPr>
        <p:spPr>
          <a:xfrm>
            <a:off x="946300" y="2242282"/>
            <a:ext cx="3882220" cy="2733964"/>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a:t>Use firm-approved AI tools on enterprise accounts with no-training terms</a:t>
            </a:r>
          </a:p>
          <a:p>
            <a:endParaRPr lang="en-US" sz="1600"/>
          </a:p>
          <a:p>
            <a:r>
              <a:rPr lang="en-US" sz="1600"/>
              <a:t>Check the engagement terms before client data enters any AI tool</a:t>
            </a:r>
          </a:p>
          <a:p>
            <a:endParaRPr lang="en-US" sz="1600"/>
          </a:p>
          <a:p>
            <a:r>
              <a:rPr lang="en-US" sz="1600"/>
              <a:t>Share the minimum data the task needs</a:t>
            </a:r>
          </a:p>
          <a:p>
            <a:endParaRPr lang="en-US" sz="1600"/>
          </a:p>
          <a:p>
            <a:r>
              <a:rPr lang="en-US" sz="1600"/>
              <a:t>Delete client files from AI tools and chat histories at project end</a:t>
            </a:r>
          </a:p>
        </p:txBody>
      </p:sp>
      <p:sp>
        <p:nvSpPr>
          <p:cNvPr id="16" name="Title 1">
            <a:extLst>
              <a:ext uri="{FF2B5EF4-FFF2-40B4-BE49-F238E27FC236}">
                <a16:creationId xmlns:a16="http://schemas.microsoft.com/office/drawing/2014/main" id="{0BD4F101-67DD-DEDB-A516-99ED459F3DAB}"/>
              </a:ext>
            </a:extLst>
          </p:cNvPr>
          <p:cNvSpPr txBox="1">
            <a:spLocks/>
          </p:cNvSpPr>
          <p:nvPr/>
        </p:nvSpPr>
        <p:spPr>
          <a:xfrm>
            <a:off x="6507126" y="2242282"/>
            <a:ext cx="4082902" cy="2733964"/>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1600"/>
              <a:t>Put client data into personal or free AI accounts</a:t>
            </a:r>
          </a:p>
          <a:p>
            <a:endParaRPr lang="en-US" sz="1600"/>
          </a:p>
          <a:p>
            <a:r>
              <a:rPr lang="en-US" sz="1600"/>
              <a:t>Mix different client or project data in a session or context window</a:t>
            </a:r>
          </a:p>
          <a:p>
            <a:endParaRPr lang="en-US" sz="1600"/>
          </a:p>
          <a:p>
            <a:r>
              <a:rPr lang="en-US" sz="1600"/>
              <a:t>Assume anonymization is enough; context may still identify a client</a:t>
            </a:r>
          </a:p>
          <a:p>
            <a:endParaRPr lang="en-US" sz="1600"/>
          </a:p>
          <a:p>
            <a:r>
              <a:rPr lang="en-US" sz="1600"/>
              <a:t>Upload regulated data (PII, PHI) before confirming data rules</a:t>
            </a:r>
          </a:p>
        </p:txBody>
      </p:sp>
      <p:cxnSp>
        <p:nvCxnSpPr>
          <p:cNvPr id="4" name="Straight Connector 3">
            <a:extLst>
              <a:ext uri="{FF2B5EF4-FFF2-40B4-BE49-F238E27FC236}">
                <a16:creationId xmlns:a16="http://schemas.microsoft.com/office/drawing/2014/main" id="{A63AF310-C288-01C4-3470-A3EEFAE1D0D9}"/>
              </a:ext>
            </a:extLst>
          </p:cNvPr>
          <p:cNvCxnSpPr>
            <a:cxnSpLocks/>
          </p:cNvCxnSpPr>
          <p:nvPr/>
        </p:nvCxnSpPr>
        <p:spPr>
          <a:xfrm>
            <a:off x="536416" y="1971271"/>
            <a:ext cx="4775172" cy="0"/>
          </a:xfrm>
          <a:prstGeom prst="line">
            <a:avLst/>
          </a:prstGeom>
          <a:ln w="12700">
            <a:solidFill>
              <a:schemeClr val="accent5"/>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93B18F6B-A13B-793C-BD7B-2D4BB2678926}"/>
              </a:ext>
            </a:extLst>
          </p:cNvPr>
          <p:cNvCxnSpPr>
            <a:cxnSpLocks/>
          </p:cNvCxnSpPr>
          <p:nvPr/>
        </p:nvCxnSpPr>
        <p:spPr>
          <a:xfrm>
            <a:off x="6096000" y="1942990"/>
            <a:ext cx="4775172" cy="0"/>
          </a:xfrm>
          <a:prstGeom prst="line">
            <a:avLst/>
          </a:prstGeom>
          <a:ln w="12700">
            <a:solidFill>
              <a:schemeClr val="accent5"/>
            </a:solidFill>
          </a:ln>
        </p:spPr>
        <p:style>
          <a:lnRef idx="1">
            <a:schemeClr val="dk1"/>
          </a:lnRef>
          <a:fillRef idx="0">
            <a:schemeClr val="dk1"/>
          </a:fillRef>
          <a:effectRef idx="0">
            <a:schemeClr val="dk1"/>
          </a:effectRef>
          <a:fontRef idx="minor">
            <a:schemeClr val="tx1"/>
          </a:fontRef>
        </p:style>
      </p:cxnSp>
      <p:sp>
        <p:nvSpPr>
          <p:cNvPr id="10" name="Rectangle 9">
            <a:extLst>
              <a:ext uri="{FF2B5EF4-FFF2-40B4-BE49-F238E27FC236}">
                <a16:creationId xmlns:a16="http://schemas.microsoft.com/office/drawing/2014/main" id="{7E1A9F7E-A1B3-23B4-E97E-214139819C61}"/>
              </a:ext>
            </a:extLst>
          </p:cNvPr>
          <p:cNvSpPr/>
          <p:nvPr/>
        </p:nvSpPr>
        <p:spPr>
          <a:xfrm>
            <a:off x="1688911" y="5249226"/>
            <a:ext cx="8533526" cy="8245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4675"/>
            <a:r>
              <a:rPr lang="en-US" sz="1600">
                <a:solidFill>
                  <a:schemeClr val="tx1"/>
                </a:solidFill>
              </a:rPr>
              <a:t>Data hallucinations, leaks, and misuse of data beyond scope is a </a:t>
            </a:r>
            <a:r>
              <a:rPr lang="en-US" sz="1600" b="1">
                <a:solidFill>
                  <a:srgbClr val="009999"/>
                </a:solidFill>
              </a:rPr>
              <a:t>growing risk in professional services</a:t>
            </a:r>
            <a:r>
              <a:rPr lang="en-US" sz="1600">
                <a:solidFill>
                  <a:schemeClr val="tx1"/>
                </a:solidFill>
              </a:rPr>
              <a:t>, with documented investigations and court rulings in 2025-26</a:t>
            </a:r>
            <a:r>
              <a:rPr lang="en-US" sz="1600" baseline="30000">
                <a:solidFill>
                  <a:schemeClr val="tx1"/>
                </a:solidFill>
              </a:rPr>
              <a:t>1</a:t>
            </a:r>
            <a:endParaRPr lang="en-US" sz="1600" baseline="30000" dirty="0" err="1">
              <a:solidFill>
                <a:schemeClr val="tx1"/>
              </a:solidFill>
            </a:endParaRPr>
          </a:p>
        </p:txBody>
      </p:sp>
      <p:sp>
        <p:nvSpPr>
          <p:cNvPr id="14" name="Rectangle 13">
            <a:extLst>
              <a:ext uri="{FF2B5EF4-FFF2-40B4-BE49-F238E27FC236}">
                <a16:creationId xmlns:a16="http://schemas.microsoft.com/office/drawing/2014/main" id="{2A38470E-C274-749D-E16F-203A06E967E0}"/>
              </a:ext>
            </a:extLst>
          </p:cNvPr>
          <p:cNvSpPr/>
          <p:nvPr/>
        </p:nvSpPr>
        <p:spPr>
          <a:xfrm>
            <a:off x="1664401" y="5249226"/>
            <a:ext cx="49017" cy="82459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p>
        </p:txBody>
      </p:sp>
      <p:pic>
        <p:nvPicPr>
          <p:cNvPr id="23" name="Graphic 22" descr="Shield Cross outline">
            <a:extLst>
              <a:ext uri="{FF2B5EF4-FFF2-40B4-BE49-F238E27FC236}">
                <a16:creationId xmlns:a16="http://schemas.microsoft.com/office/drawing/2014/main" id="{EE824D2F-0FAA-AAD7-3BF4-3D21D7CA2BB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759817" y="5432923"/>
            <a:ext cx="457200" cy="457200"/>
          </a:xfrm>
          <a:prstGeom prst="rect">
            <a:avLst/>
          </a:prstGeom>
        </p:spPr>
      </p:pic>
      <p:sp>
        <p:nvSpPr>
          <p:cNvPr id="24" name="Title 1">
            <a:extLst>
              <a:ext uri="{FF2B5EF4-FFF2-40B4-BE49-F238E27FC236}">
                <a16:creationId xmlns:a16="http://schemas.microsoft.com/office/drawing/2014/main" id="{640A2B37-1632-BCBB-BD45-63B053D22841}"/>
              </a:ext>
            </a:extLst>
          </p:cNvPr>
          <p:cNvSpPr txBox="1">
            <a:spLocks/>
          </p:cNvSpPr>
          <p:nvPr/>
        </p:nvSpPr>
        <p:spPr>
          <a:xfrm>
            <a:off x="1868996" y="6469039"/>
            <a:ext cx="7317533" cy="38896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tx1"/>
                </a:solidFill>
                <a:latin typeface="+mj-lt"/>
                <a:ea typeface="+mj-ea"/>
                <a:cs typeface="+mj-cs"/>
              </a:defRPr>
            </a:lvl1pPr>
          </a:lstStyle>
          <a:p>
            <a:r>
              <a:rPr lang="en-US" sz="900">
                <a:solidFill>
                  <a:schemeClr val="bg1">
                    <a:lumMod val="50000"/>
                  </a:schemeClr>
                </a:solidFill>
              </a:rPr>
              <a:t>1. Including AI-fabricated deliverables (Deloitte Australia, 2025, Deloitte Canada, 2025), hallucinated thought leadership (EY Canada, 2026, KPMG, 2026, PwC, 2026), and internal misuse (KPMG, 2025)</a:t>
            </a:r>
          </a:p>
        </p:txBody>
      </p:sp>
      <p:pic>
        <p:nvPicPr>
          <p:cNvPr id="28" name="Graphic 27" descr="Checkbox Checked outline">
            <a:extLst>
              <a:ext uri="{FF2B5EF4-FFF2-40B4-BE49-F238E27FC236}">
                <a16:creationId xmlns:a16="http://schemas.microsoft.com/office/drawing/2014/main" id="{30250E5D-6641-FD29-85D9-697DFF0CCF7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29989" y="2141770"/>
            <a:ext cx="431247" cy="431247"/>
          </a:xfrm>
          <a:prstGeom prst="rect">
            <a:avLst/>
          </a:prstGeom>
        </p:spPr>
      </p:pic>
      <p:pic>
        <p:nvPicPr>
          <p:cNvPr id="30" name="Graphic 29" descr="Checkbox Crossed outline">
            <a:extLst>
              <a:ext uri="{FF2B5EF4-FFF2-40B4-BE49-F238E27FC236}">
                <a16:creationId xmlns:a16="http://schemas.microsoft.com/office/drawing/2014/main" id="{4BD711EB-1865-D65F-E23C-A4131A8DD3F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005866" y="2122585"/>
            <a:ext cx="431247" cy="431247"/>
          </a:xfrm>
          <a:prstGeom prst="rect">
            <a:avLst/>
          </a:prstGeom>
        </p:spPr>
      </p:pic>
      <p:pic>
        <p:nvPicPr>
          <p:cNvPr id="31" name="Graphic 30" descr="Checkbox Checked outline">
            <a:extLst>
              <a:ext uri="{FF2B5EF4-FFF2-40B4-BE49-F238E27FC236}">
                <a16:creationId xmlns:a16="http://schemas.microsoft.com/office/drawing/2014/main" id="{E58616BB-148B-505E-5A45-403DCEE879B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29989" y="2813053"/>
            <a:ext cx="431247" cy="431247"/>
          </a:xfrm>
          <a:prstGeom prst="rect">
            <a:avLst/>
          </a:prstGeom>
        </p:spPr>
      </p:pic>
      <p:pic>
        <p:nvPicPr>
          <p:cNvPr id="32" name="Graphic 31" descr="Checkbox Checked outline">
            <a:extLst>
              <a:ext uri="{FF2B5EF4-FFF2-40B4-BE49-F238E27FC236}">
                <a16:creationId xmlns:a16="http://schemas.microsoft.com/office/drawing/2014/main" id="{DEF7403E-23E5-BF7C-2CCC-BF833792EA9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29989" y="3436208"/>
            <a:ext cx="431247" cy="431247"/>
          </a:xfrm>
          <a:prstGeom prst="rect">
            <a:avLst/>
          </a:prstGeom>
        </p:spPr>
      </p:pic>
      <p:pic>
        <p:nvPicPr>
          <p:cNvPr id="33" name="Graphic 32" descr="Checkbox Checked outline">
            <a:extLst>
              <a:ext uri="{FF2B5EF4-FFF2-40B4-BE49-F238E27FC236}">
                <a16:creationId xmlns:a16="http://schemas.microsoft.com/office/drawing/2014/main" id="{6C7DFBA4-A9E2-44FC-569B-E491B2CDF5E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29989" y="3914983"/>
            <a:ext cx="431247" cy="431247"/>
          </a:xfrm>
          <a:prstGeom prst="rect">
            <a:avLst/>
          </a:prstGeom>
        </p:spPr>
      </p:pic>
      <p:pic>
        <p:nvPicPr>
          <p:cNvPr id="34" name="Graphic 33" descr="Checkbox Crossed outline">
            <a:extLst>
              <a:ext uri="{FF2B5EF4-FFF2-40B4-BE49-F238E27FC236}">
                <a16:creationId xmlns:a16="http://schemas.microsoft.com/office/drawing/2014/main" id="{A1832C99-1856-689D-2A6F-9A6E34A4CA9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005866" y="2789151"/>
            <a:ext cx="431247" cy="431247"/>
          </a:xfrm>
          <a:prstGeom prst="rect">
            <a:avLst/>
          </a:prstGeom>
        </p:spPr>
      </p:pic>
      <p:pic>
        <p:nvPicPr>
          <p:cNvPr id="35" name="Graphic 34" descr="Checkbox Crossed outline">
            <a:extLst>
              <a:ext uri="{FF2B5EF4-FFF2-40B4-BE49-F238E27FC236}">
                <a16:creationId xmlns:a16="http://schemas.microsoft.com/office/drawing/2014/main" id="{BA7F5BD8-FCD7-9BA0-3AF2-96519ACE150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005866" y="3455717"/>
            <a:ext cx="431247" cy="431247"/>
          </a:xfrm>
          <a:prstGeom prst="rect">
            <a:avLst/>
          </a:prstGeom>
        </p:spPr>
      </p:pic>
      <p:pic>
        <p:nvPicPr>
          <p:cNvPr id="36" name="Graphic 35" descr="Checkbox Crossed outline">
            <a:extLst>
              <a:ext uri="{FF2B5EF4-FFF2-40B4-BE49-F238E27FC236}">
                <a16:creationId xmlns:a16="http://schemas.microsoft.com/office/drawing/2014/main" id="{28CE5693-AF39-3C7A-8F20-2AE4D53F824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005866" y="4122282"/>
            <a:ext cx="431247" cy="431247"/>
          </a:xfrm>
          <a:prstGeom prst="rect">
            <a:avLst/>
          </a:prstGeom>
        </p:spPr>
      </p:pic>
    </p:spTree>
    <p:extLst>
      <p:ext uri="{BB962C8B-B14F-4D97-AF65-F5344CB8AC3E}">
        <p14:creationId xmlns:p14="http://schemas.microsoft.com/office/powerpoint/2010/main" val="29613574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D702D-E139-12B2-764B-5EAB000DAC20}"/>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9247DFF3-7728-744D-C6CA-98D5D40D482A}"/>
              </a:ext>
            </a:extLst>
          </p:cNvPr>
          <p:cNvGraphicFramePr>
            <a:graphicFrameLocks/>
          </p:cNvGraphicFramePr>
          <p:nvPr>
            <p:custDataLst>
              <p:tags r:id="rId1"/>
            </p:custDataLst>
            <p:extLst>
              <p:ext uri="{D42A27DB-BD31-4B8C-83A1-F6EECF244321}">
                <p14:modId xmlns:p14="http://schemas.microsoft.com/office/powerpoint/2010/main" val="25572997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17" name="think-cell data - do not delete" hidden="1">
            <a:extLst>
              <a:ext uri="{FF2B5EF4-FFF2-40B4-BE49-F238E27FC236}">
                <a16:creationId xmlns:a16="http://schemas.microsoft.com/office/drawing/2014/main" id="{837D100A-177E-E5E4-8C87-0A7B053B44A0}"/>
              </a:ext>
            </a:extLst>
          </p:cNvPr>
          <p:cNvGraphicFramePr>
            <a:graphicFrameLocks noChangeAspect="1"/>
          </p:cNvGraphicFramePr>
          <p:nvPr>
            <p:custDataLst>
              <p:tags r:id="rId2"/>
            </p:custDataLst>
            <p:extLst>
              <p:ext uri="{D42A27DB-BD31-4B8C-83A1-F6EECF244321}">
                <p14:modId xmlns:p14="http://schemas.microsoft.com/office/powerpoint/2010/main" val="520940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7" imgH="348" progId="TCLayout.ActiveDocument.1">
                  <p:embed/>
                </p:oleObj>
              </mc:Choice>
              <mc:Fallback>
                <p:oleObj name="think-cell Slide" r:id="rId6"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64371D6-BFAE-6021-787E-A0BCC8E689E1}"/>
              </a:ext>
            </a:extLst>
          </p:cNvPr>
          <p:cNvSpPr>
            <a:spLocks noGrp="1"/>
          </p:cNvSpPr>
          <p:nvPr>
            <p:ph type="title"/>
          </p:nvPr>
        </p:nvSpPr>
        <p:spPr>
          <a:xfrm>
            <a:off x="558800" y="635000"/>
            <a:ext cx="11087100" cy="838200"/>
          </a:xfrm>
        </p:spPr>
        <p:txBody>
          <a:bodyPr vert="horz" rIns="0" anchor="t" anchorCtr="0"/>
          <a:lstStyle/>
          <a:p>
            <a:r>
              <a:rPr lang="en-US"/>
              <a:t>QC and Data | Key takeaways</a:t>
            </a:r>
          </a:p>
        </p:txBody>
      </p:sp>
      <p:sp>
        <p:nvSpPr>
          <p:cNvPr id="5" name="Title 1">
            <a:extLst>
              <a:ext uri="{FF2B5EF4-FFF2-40B4-BE49-F238E27FC236}">
                <a16:creationId xmlns:a16="http://schemas.microsoft.com/office/drawing/2014/main" id="{BB6ABFF6-5E8C-3D23-42D8-E63F95CF231F}"/>
              </a:ext>
            </a:extLst>
          </p:cNvPr>
          <p:cNvSpPr txBox="1">
            <a:spLocks/>
          </p:cNvSpPr>
          <p:nvPr/>
        </p:nvSpPr>
        <p:spPr>
          <a:xfrm>
            <a:off x="1071417" y="3285986"/>
            <a:ext cx="10297308" cy="73152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bg1"/>
                </a:solidFill>
                <a:latin typeface="+mj-lt"/>
                <a:ea typeface="+mj-ea"/>
                <a:cs typeface="+mj-cs"/>
              </a:defRPr>
            </a:lvl1pPr>
          </a:lstStyle>
          <a:p>
            <a:r>
              <a:rPr lang="en-US"/>
              <a:t>When using AI to process data or build models, review data mistakes early and often, not after storyline and deck has been built</a:t>
            </a:r>
          </a:p>
        </p:txBody>
      </p:sp>
      <p:sp>
        <p:nvSpPr>
          <p:cNvPr id="6" name="Title 1">
            <a:extLst>
              <a:ext uri="{FF2B5EF4-FFF2-40B4-BE49-F238E27FC236}">
                <a16:creationId xmlns:a16="http://schemas.microsoft.com/office/drawing/2014/main" id="{D3F87574-3C75-E094-1566-07DB0C23B4F1}"/>
              </a:ext>
            </a:extLst>
          </p:cNvPr>
          <p:cNvSpPr txBox="1">
            <a:spLocks/>
          </p:cNvSpPr>
          <p:nvPr/>
        </p:nvSpPr>
        <p:spPr>
          <a:xfrm>
            <a:off x="1071417" y="3063240"/>
            <a:ext cx="9910618" cy="113930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bg1"/>
                </a:solidFill>
                <a:latin typeface="+mj-lt"/>
                <a:ea typeface="+mj-ea"/>
                <a:cs typeface="+mj-cs"/>
              </a:defRPr>
            </a:lvl1pPr>
          </a:lstStyle>
          <a:p>
            <a:endParaRPr lang="en-US"/>
          </a:p>
        </p:txBody>
      </p:sp>
      <p:sp>
        <p:nvSpPr>
          <p:cNvPr id="7" name="Title 1">
            <a:extLst>
              <a:ext uri="{FF2B5EF4-FFF2-40B4-BE49-F238E27FC236}">
                <a16:creationId xmlns:a16="http://schemas.microsoft.com/office/drawing/2014/main" id="{37161377-88C2-2586-B978-F3AD0DA18200}"/>
              </a:ext>
            </a:extLst>
          </p:cNvPr>
          <p:cNvSpPr txBox="1">
            <a:spLocks/>
          </p:cNvSpPr>
          <p:nvPr/>
        </p:nvSpPr>
        <p:spPr>
          <a:xfrm>
            <a:off x="1071418" y="4719002"/>
            <a:ext cx="10565846" cy="73152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bg1"/>
                </a:solidFill>
                <a:latin typeface="+mj-lt"/>
                <a:ea typeface="+mj-ea"/>
                <a:cs typeface="+mj-cs"/>
              </a:defRPr>
            </a:lvl1pPr>
          </a:lstStyle>
          <a:p>
            <a:r>
              <a:rPr lang="en-US"/>
              <a:t>When in doubt on sensitive data including client financials, personal data, or health data, ask the manager or leadership to clarify boundaries</a:t>
            </a:r>
          </a:p>
        </p:txBody>
      </p:sp>
      <p:sp>
        <p:nvSpPr>
          <p:cNvPr id="3" name="Title 1">
            <a:extLst>
              <a:ext uri="{FF2B5EF4-FFF2-40B4-BE49-F238E27FC236}">
                <a16:creationId xmlns:a16="http://schemas.microsoft.com/office/drawing/2014/main" id="{1C2113B0-89DD-E476-E76F-3DAB11839E17}"/>
              </a:ext>
            </a:extLst>
          </p:cNvPr>
          <p:cNvSpPr txBox="1">
            <a:spLocks/>
          </p:cNvSpPr>
          <p:nvPr/>
        </p:nvSpPr>
        <p:spPr>
          <a:xfrm>
            <a:off x="1071418" y="1815263"/>
            <a:ext cx="10297308" cy="731520"/>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600" kern="1200">
                <a:solidFill>
                  <a:schemeClr val="bg1"/>
                </a:solidFill>
                <a:latin typeface="+mj-lt"/>
                <a:ea typeface="+mj-ea"/>
                <a:cs typeface="+mj-cs"/>
              </a:defRPr>
            </a:lvl1pPr>
          </a:lstStyle>
          <a:p>
            <a:r>
              <a:rPr lang="en-US"/>
              <a:t>Always check your work from the most careless reader’s perspective; what’s obvious to us may not be obvious for them</a:t>
            </a:r>
          </a:p>
        </p:txBody>
      </p:sp>
      <p:sp>
        <p:nvSpPr>
          <p:cNvPr id="12" name="Oval 11">
            <a:extLst>
              <a:ext uri="{FF2B5EF4-FFF2-40B4-BE49-F238E27FC236}">
                <a16:creationId xmlns:a16="http://schemas.microsoft.com/office/drawing/2014/main" id="{7048F4EC-9BBA-7D3E-42C2-4F0BE0D2B91E}"/>
              </a:ext>
            </a:extLst>
          </p:cNvPr>
          <p:cNvSpPr/>
          <p:nvPr/>
        </p:nvSpPr>
        <p:spPr>
          <a:xfrm>
            <a:off x="554736" y="1774623"/>
            <a:ext cx="406400" cy="406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2"/>
                </a:solidFill>
              </a:rPr>
              <a:t>1</a:t>
            </a:r>
            <a:endParaRPr lang="en-US" b="1" dirty="0" err="1">
              <a:solidFill>
                <a:schemeClr val="bg2"/>
              </a:solidFill>
            </a:endParaRPr>
          </a:p>
        </p:txBody>
      </p:sp>
      <p:sp>
        <p:nvSpPr>
          <p:cNvPr id="14" name="Oval 13">
            <a:extLst>
              <a:ext uri="{FF2B5EF4-FFF2-40B4-BE49-F238E27FC236}">
                <a16:creationId xmlns:a16="http://schemas.microsoft.com/office/drawing/2014/main" id="{3B2A64C1-BC1A-9054-F898-15D452E450BA}"/>
              </a:ext>
            </a:extLst>
          </p:cNvPr>
          <p:cNvSpPr/>
          <p:nvPr/>
        </p:nvSpPr>
        <p:spPr>
          <a:xfrm>
            <a:off x="554736" y="3226493"/>
            <a:ext cx="406400" cy="406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2"/>
                </a:solidFill>
              </a:rPr>
              <a:t>2</a:t>
            </a:r>
            <a:endParaRPr lang="en-US" b="1" dirty="0" err="1">
              <a:solidFill>
                <a:schemeClr val="bg2"/>
              </a:solidFill>
            </a:endParaRPr>
          </a:p>
        </p:txBody>
      </p:sp>
      <p:sp>
        <p:nvSpPr>
          <p:cNvPr id="16" name="Oval 15">
            <a:extLst>
              <a:ext uri="{FF2B5EF4-FFF2-40B4-BE49-F238E27FC236}">
                <a16:creationId xmlns:a16="http://schemas.microsoft.com/office/drawing/2014/main" id="{C0DF6CF7-D0F2-81A7-C239-5E3C957EBA5B}"/>
              </a:ext>
            </a:extLst>
          </p:cNvPr>
          <p:cNvSpPr/>
          <p:nvPr/>
        </p:nvSpPr>
        <p:spPr>
          <a:xfrm>
            <a:off x="554736" y="4678362"/>
            <a:ext cx="406400" cy="406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2"/>
                </a:solidFill>
              </a:rPr>
              <a:t>3</a:t>
            </a:r>
            <a:endParaRPr lang="en-US" b="1" dirty="0" err="1">
              <a:solidFill>
                <a:schemeClr val="bg2"/>
              </a:solidFill>
            </a:endParaRPr>
          </a:p>
        </p:txBody>
      </p:sp>
    </p:spTree>
    <p:extLst>
      <p:ext uri="{BB962C8B-B14F-4D97-AF65-F5344CB8AC3E}">
        <p14:creationId xmlns:p14="http://schemas.microsoft.com/office/powerpoint/2010/main" val="8385267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CCB9F33-A6C7-BE59-BAAF-70800951AC98}"/>
              </a:ext>
            </a:extLst>
          </p:cNvPr>
          <p:cNvGraphicFramePr>
            <a:graphicFrameLocks/>
          </p:cNvGraphicFramePr>
          <p:nvPr>
            <p:custDataLst>
              <p:tags r:id="rId1"/>
            </p:custDataLst>
            <p:extLst>
              <p:ext uri="{D42A27DB-BD31-4B8C-83A1-F6EECF244321}">
                <p14:modId xmlns:p14="http://schemas.microsoft.com/office/powerpoint/2010/main" val="41449626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46E7F5-6A88-9407-35ED-2F52ACBA9968}"/>
              </a:ext>
            </a:extLst>
          </p:cNvPr>
          <p:cNvSpPr>
            <a:spLocks noGrp="1"/>
          </p:cNvSpPr>
          <p:nvPr>
            <p:ph type="title"/>
          </p:nvPr>
        </p:nvSpPr>
        <p:spPr>
          <a:xfrm>
            <a:off x="554083" y="2818744"/>
            <a:ext cx="7918703" cy="731520"/>
          </a:xfrm>
        </p:spPr>
        <p:txBody>
          <a:bodyPr vert="horz" rIns="0"/>
          <a:lstStyle/>
          <a:p>
            <a:r>
              <a:rPr lang="en-US"/>
              <a:t>Appendix: Resources for AI</a:t>
            </a:r>
          </a:p>
        </p:txBody>
      </p:sp>
    </p:spTree>
    <p:extLst>
      <p:ext uri="{BB962C8B-B14F-4D97-AF65-F5344CB8AC3E}">
        <p14:creationId xmlns:p14="http://schemas.microsoft.com/office/powerpoint/2010/main" val="2568859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2FC9D2F-4E12-9BD4-5B1D-96DBED444819}"/>
              </a:ext>
            </a:extLst>
          </p:cNvPr>
          <p:cNvGraphicFramePr>
            <a:graphicFrameLocks/>
          </p:cNvGraphicFramePr>
          <p:nvPr>
            <p:custDataLst>
              <p:tags r:id="rId1"/>
            </p:custDataLst>
            <p:extLst>
              <p:ext uri="{D42A27DB-BD31-4B8C-83A1-F6EECF244321}">
                <p14:modId xmlns:p14="http://schemas.microsoft.com/office/powerpoint/2010/main" val="36494914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 name="think-cell data - do not delete" hidden="1">
            <a:extLst>
              <a:ext uri="{FF2B5EF4-FFF2-40B4-BE49-F238E27FC236}">
                <a16:creationId xmlns:a16="http://schemas.microsoft.com/office/drawing/2014/main" id="{3A19E339-6FBF-FFD7-5068-F15752A561C1}"/>
              </a:ext>
            </a:extLst>
          </p:cNvPr>
          <p:cNvGraphicFramePr>
            <a:graphicFrameLocks noChangeAspect="1"/>
          </p:cNvGraphicFramePr>
          <p:nvPr>
            <p:custDataLst>
              <p:tags r:id="rId2"/>
            </p:custDataLst>
            <p:extLst>
              <p:ext uri="{D42A27DB-BD31-4B8C-83A1-F6EECF244321}">
                <p14:modId xmlns:p14="http://schemas.microsoft.com/office/powerpoint/2010/main" val="2958036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7" imgH="348" progId="TCLayout.ActiveDocument.1">
                  <p:embed/>
                </p:oleObj>
              </mc:Choice>
              <mc:Fallback>
                <p:oleObj name="think-cell Slide" r:id="rId6"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F7AA985-3B08-4D0B-47B5-0879FC82715F}"/>
              </a:ext>
            </a:extLst>
          </p:cNvPr>
          <p:cNvSpPr>
            <a:spLocks noGrp="1"/>
          </p:cNvSpPr>
          <p:nvPr>
            <p:ph type="title"/>
          </p:nvPr>
        </p:nvSpPr>
        <p:spPr>
          <a:xfrm>
            <a:off x="554736" y="2744369"/>
            <a:ext cx="3005882" cy="769441"/>
          </a:xfrm>
        </p:spPr>
        <p:txBody>
          <a:bodyPr vert="horz" rIns="0"/>
          <a:lstStyle/>
          <a:p>
            <a:r>
              <a:rPr lang="en-US"/>
              <a:t>Suggested instructions for AI</a:t>
            </a:r>
          </a:p>
        </p:txBody>
      </p:sp>
      <p:sp>
        <p:nvSpPr>
          <p:cNvPr id="6" name="TextBox 5">
            <a:extLst>
              <a:ext uri="{FF2B5EF4-FFF2-40B4-BE49-F238E27FC236}">
                <a16:creationId xmlns:a16="http://schemas.microsoft.com/office/drawing/2014/main" id="{F48CAB76-8B0B-3E53-DCCF-BA429B1D77DA}"/>
              </a:ext>
            </a:extLst>
          </p:cNvPr>
          <p:cNvSpPr txBox="1"/>
          <p:nvPr/>
        </p:nvSpPr>
        <p:spPr>
          <a:xfrm>
            <a:off x="4527366" y="1805650"/>
            <a:ext cx="7109898" cy="3416320"/>
          </a:xfrm>
          <a:prstGeom prst="rect">
            <a:avLst/>
          </a:prstGeom>
          <a:noFill/>
        </p:spPr>
        <p:txBody>
          <a:bodyPr wrap="square">
            <a:spAutoFit/>
          </a:bodyPr>
          <a:lstStyle/>
          <a:p>
            <a:r>
              <a:rPr lang="en-US" sz="1200"/>
              <a:t>Use concise, formal language suited for corporate executives and consultants</a:t>
            </a:r>
          </a:p>
          <a:p>
            <a:r>
              <a:rPr lang="en-US" sz="1200"/>
              <a:t>When analyzing a business problem, use trusted online sources, reports, published thought leadership, and industry leader websites over existing training model knowledge</a:t>
            </a:r>
          </a:p>
          <a:p>
            <a:r>
              <a:rPr lang="en-US" sz="1200"/>
              <a:t>Lead with the implication or recommendation when responding to a business problem</a:t>
            </a:r>
          </a:p>
          <a:p>
            <a:r>
              <a:rPr lang="en-US" sz="1200"/>
              <a:t>When analyzing a business problem, consider operational realities specific to the industry to avoid generalization </a:t>
            </a:r>
          </a:p>
          <a:p>
            <a:r>
              <a:rPr lang="en-US" sz="1200"/>
              <a:t>Use active verbs rather than converting them into nouns</a:t>
            </a:r>
          </a:p>
          <a:p>
            <a:r>
              <a:rPr lang="en-US" sz="1200"/>
              <a:t>When there is more input or data needed, flag before jumping to an output</a:t>
            </a:r>
          </a:p>
          <a:p>
            <a:r>
              <a:rPr lang="en-US" sz="1200"/>
              <a:t>Vary sentence length naturally</a:t>
            </a:r>
          </a:p>
          <a:p>
            <a:r>
              <a:rPr lang="en-US" sz="1200"/>
              <a:t>Double check query scope to make sure the answer is sized correctly to the problem</a:t>
            </a:r>
          </a:p>
          <a:p>
            <a:r>
              <a:rPr lang="en-US" sz="1200"/>
              <a:t>Only draw conclusions that the dataset supports broadly. Do not make legal or regulatory judgments that can't be supported legally</a:t>
            </a:r>
          </a:p>
          <a:p>
            <a:endParaRPr lang="en-US" sz="1200"/>
          </a:p>
          <a:p>
            <a:r>
              <a:rPr lang="en-US" sz="1200"/>
              <a:t>Do not use filler affirmations ("Certainly", "Absolutely", "Great question")</a:t>
            </a:r>
          </a:p>
          <a:p>
            <a:r>
              <a:rPr lang="en-US" sz="1200"/>
              <a:t>Do not use vague intensifiers</a:t>
            </a:r>
          </a:p>
          <a:p>
            <a:r>
              <a:rPr lang="en-US" sz="1200"/>
              <a:t>Do not use em dashes(—). Use commas, semicolons, full stops, or restructure the sentence</a:t>
            </a:r>
          </a:p>
          <a:p>
            <a:r>
              <a:rPr lang="en-US" sz="1200"/>
              <a:t>Avoid false suspense hooks. Do not overuse contrasting framing such as "It's not X. It's Y."</a:t>
            </a:r>
          </a:p>
          <a:p>
            <a:r>
              <a:rPr lang="en-US" sz="1200"/>
              <a:t>Avoid false sense of balance. State a view when the evidence supports one</a:t>
            </a:r>
          </a:p>
        </p:txBody>
      </p:sp>
      <p:sp>
        <p:nvSpPr>
          <p:cNvPr id="7" name="TextBox 6">
            <a:extLst>
              <a:ext uri="{FF2B5EF4-FFF2-40B4-BE49-F238E27FC236}">
                <a16:creationId xmlns:a16="http://schemas.microsoft.com/office/drawing/2014/main" id="{79F36397-4999-9C8C-14AB-DAD45A0A310E}"/>
              </a:ext>
            </a:extLst>
          </p:cNvPr>
          <p:cNvSpPr txBox="1"/>
          <p:nvPr/>
        </p:nvSpPr>
        <p:spPr>
          <a:xfrm>
            <a:off x="4527366" y="1328253"/>
            <a:ext cx="7329055" cy="307777"/>
          </a:xfrm>
          <a:prstGeom prst="rect">
            <a:avLst/>
          </a:prstGeom>
          <a:noFill/>
        </p:spPr>
        <p:txBody>
          <a:bodyPr wrap="square">
            <a:spAutoFit/>
          </a:bodyPr>
          <a:lstStyle/>
          <a:p>
            <a:r>
              <a:rPr lang="en-US" sz="1400" b="1">
                <a:solidFill>
                  <a:schemeClr val="accent5"/>
                </a:solidFill>
              </a:rPr>
              <a:t>Copy and paste below to set the tone and thinking style for AI:</a:t>
            </a:r>
          </a:p>
        </p:txBody>
      </p:sp>
    </p:spTree>
    <p:extLst>
      <p:ext uri="{BB962C8B-B14F-4D97-AF65-F5344CB8AC3E}">
        <p14:creationId xmlns:p14="http://schemas.microsoft.com/office/powerpoint/2010/main" val="16963821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5D2C6-AC84-F7BE-61E0-C67EC594EE46}"/>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DD3221E-A55E-155D-7092-FE3AA130B78B}"/>
              </a:ext>
            </a:extLst>
          </p:cNvPr>
          <p:cNvGraphicFramePr>
            <a:graphicFrameLocks/>
          </p:cNvGraphicFramePr>
          <p:nvPr>
            <p:custDataLst>
              <p:tags r:id="rId1"/>
            </p:custDataLst>
            <p:extLst>
              <p:ext uri="{D42A27DB-BD31-4B8C-83A1-F6EECF244321}">
                <p14:modId xmlns:p14="http://schemas.microsoft.com/office/powerpoint/2010/main" val="9162344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5" name="think-cell data - do not delete" hidden="1">
            <a:extLst>
              <a:ext uri="{FF2B5EF4-FFF2-40B4-BE49-F238E27FC236}">
                <a16:creationId xmlns:a16="http://schemas.microsoft.com/office/drawing/2014/main" id="{B3A84C7C-4975-42B7-BB6A-D4F4872585E5}"/>
              </a:ext>
            </a:extLst>
          </p:cNvPr>
          <p:cNvGraphicFramePr>
            <a:graphicFrameLocks noChangeAspect="1"/>
          </p:cNvGraphicFramePr>
          <p:nvPr>
            <p:custDataLst>
              <p:tags r:id="rId2"/>
            </p:custDataLst>
            <p:extLst>
              <p:ext uri="{D42A27DB-BD31-4B8C-83A1-F6EECF244321}">
                <p14:modId xmlns:p14="http://schemas.microsoft.com/office/powerpoint/2010/main" val="42130845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7" imgH="348" progId="TCLayout.ActiveDocument.1">
                  <p:embed/>
                </p:oleObj>
              </mc:Choice>
              <mc:Fallback>
                <p:oleObj name="think-cell Slide" r:id="rId6"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B307C42-6C7A-9597-5A0F-718E2CD7FDCA}"/>
              </a:ext>
            </a:extLst>
          </p:cNvPr>
          <p:cNvSpPr>
            <a:spLocks noGrp="1"/>
          </p:cNvSpPr>
          <p:nvPr>
            <p:ph type="title"/>
          </p:nvPr>
        </p:nvSpPr>
        <p:spPr/>
        <p:txBody>
          <a:bodyPr vert="horz" rIns="0"/>
          <a:lstStyle/>
          <a:p>
            <a:r>
              <a:rPr lang="en-US"/>
              <a:t>Common deck types for AI</a:t>
            </a:r>
          </a:p>
        </p:txBody>
      </p:sp>
      <p:sp>
        <p:nvSpPr>
          <p:cNvPr id="6" name="TextBox 5">
            <a:extLst>
              <a:ext uri="{FF2B5EF4-FFF2-40B4-BE49-F238E27FC236}">
                <a16:creationId xmlns:a16="http://schemas.microsoft.com/office/drawing/2014/main" id="{DEAC9DC2-B7A5-48F5-B823-B6FA790BD3DF}"/>
              </a:ext>
            </a:extLst>
          </p:cNvPr>
          <p:cNvSpPr txBox="1"/>
          <p:nvPr/>
        </p:nvSpPr>
        <p:spPr>
          <a:xfrm>
            <a:off x="554736" y="1060884"/>
            <a:ext cx="11322939" cy="5453219"/>
          </a:xfrm>
          <a:prstGeom prst="rect">
            <a:avLst/>
          </a:prstGeom>
          <a:noFill/>
        </p:spPr>
        <p:txBody>
          <a:bodyPr wrap="square" lIns="18000" tIns="18000" rIns="18000" bIns="18000">
            <a:spAutoFit/>
          </a:bodyPr>
          <a:lstStyle/>
          <a:p>
            <a:r>
              <a:rPr lang="en-US" sz="1100"/>
              <a:t>Telesto uses common deck types to pitch, align with, and report to a client. Here are the most common ones:</a:t>
            </a:r>
          </a:p>
          <a:p>
            <a:endParaRPr lang="en-US" sz="1100"/>
          </a:p>
          <a:p>
            <a:r>
              <a:rPr lang="en-US" sz="1100" b="1">
                <a:solidFill>
                  <a:srgbClr val="009999"/>
                </a:solidFill>
              </a:rPr>
              <a:t>1. PROPOSAL / BD</a:t>
            </a:r>
            <a:br>
              <a:rPr lang="en-US" sz="1100"/>
            </a:br>
            <a:r>
              <a:rPr lang="en-US" sz="1100"/>
              <a:t>OBJECTIVE: Win approval for scope, budget, and start date.</a:t>
            </a:r>
            <a:br>
              <a:rPr lang="en-US" sz="1100"/>
            </a:br>
            <a:r>
              <a:rPr lang="en-US" sz="1100"/>
              <a:t>STRUCTURE: Cover → Why Telesto → Context &amp; Objectives → Summary page → Details on each option → Pricing options → Next steps → Past work (as reference)</a:t>
            </a:r>
            <a:br>
              <a:rPr lang="en-US" sz="1100"/>
            </a:br>
            <a:r>
              <a:rPr lang="en-US" sz="1100"/>
              <a:t>TAKEAWAY: “We can help your firm achieve these goals quickly by using external support: here is what you get and what it enables." </a:t>
            </a:r>
          </a:p>
          <a:p>
            <a:pPr marL="228600" indent="-228600">
              <a:buAutoNum type="arabicPeriod"/>
            </a:pPr>
            <a:endParaRPr lang="en-US" sz="1100"/>
          </a:p>
          <a:p>
            <a:r>
              <a:rPr lang="en-US" sz="1100" b="1">
                <a:solidFill>
                  <a:srgbClr val="009999"/>
                </a:solidFill>
              </a:rPr>
              <a:t>2. KICKOFF</a:t>
            </a:r>
            <a:br>
              <a:rPr lang="en-US" sz="1100"/>
            </a:br>
            <a:r>
              <a:rPr lang="en-US" sz="1100"/>
              <a:t>OBJECTIVE: Recap the client team on what was agreed on and how the work will run.</a:t>
            </a:r>
            <a:br>
              <a:rPr lang="en-US" sz="1100"/>
            </a:br>
            <a:r>
              <a:rPr lang="en-US" sz="1100"/>
              <a:t>STRUCTURE: Cover → Team intro → Context and objectives recap → Scope and approach per workstream → Workplan and timeline → Data requests (if needed) → next steps.</a:t>
            </a:r>
            <a:br>
              <a:rPr lang="en-US" sz="1100"/>
            </a:br>
            <a:r>
              <a:rPr lang="en-US" sz="1100"/>
              <a:t>TAKEAWAY: “We will start as agreed in the SOW(Scope of Work). Please finalize any open items and review our data requests.”</a:t>
            </a:r>
          </a:p>
          <a:p>
            <a:endParaRPr lang="en-US" sz="1100"/>
          </a:p>
          <a:p>
            <a:r>
              <a:rPr lang="en-US" sz="1100" b="1">
                <a:solidFill>
                  <a:srgbClr val="009999"/>
                </a:solidFill>
              </a:rPr>
              <a:t>3. UPDATE</a:t>
            </a:r>
            <a:br>
              <a:rPr lang="en-US" sz="1100"/>
            </a:br>
            <a:r>
              <a:rPr lang="en-US" sz="1100"/>
              <a:t>OBJECTIVE: Report status and decide on open items.</a:t>
            </a:r>
            <a:br>
              <a:rPr lang="en-US" sz="1100"/>
            </a:br>
            <a:r>
              <a:rPr lang="en-US" sz="1100"/>
              <a:t>STRUCTURE: Cover → Agenda → Findings so far (if applicable) → Open items to discuss → Timeline chart to recap (optional) → Next steps with owners and dates.</a:t>
            </a:r>
            <a:br>
              <a:rPr lang="en-US" sz="1100"/>
            </a:br>
            <a:r>
              <a:rPr lang="en-US" sz="1100"/>
              <a:t>TAKEAWAY: “Here’s how the work has been progressing, what we’ve learned so far, and anything we want you to sign off on.”</a:t>
            </a:r>
          </a:p>
          <a:p>
            <a:endParaRPr lang="en-US" sz="1100"/>
          </a:p>
          <a:p>
            <a:r>
              <a:rPr lang="en-US" sz="1100" b="1">
                <a:solidFill>
                  <a:srgbClr val="009999"/>
                </a:solidFill>
              </a:rPr>
              <a:t>4. FINDINGS REPORT</a:t>
            </a:r>
            <a:br>
              <a:rPr lang="en-US" sz="1100"/>
            </a:br>
            <a:r>
              <a:rPr lang="en-US" sz="1100"/>
              <a:t>OBJECTIVE: Deliver research or analysis conclusions the client will accept and act on.</a:t>
            </a:r>
            <a:br>
              <a:rPr lang="en-US" sz="1100"/>
            </a:br>
            <a:r>
              <a:rPr lang="en-US" sz="1100"/>
              <a:t>STRUCTURE: Cover → Table of Contents → Objectives &amp; methodology → Exec sum → Detail pages each tracing to one exec sum number → Supporting materials → Appendix </a:t>
            </a:r>
          </a:p>
          <a:p>
            <a:r>
              <a:rPr lang="en-US" sz="1100"/>
              <a:t>TAKEAWAY: "Here is what the research shows, what you should do about it, and how we can help further.”</a:t>
            </a:r>
          </a:p>
          <a:p>
            <a:endParaRPr lang="en-US" sz="1100"/>
          </a:p>
          <a:p>
            <a:r>
              <a:rPr lang="en-US" sz="1100" b="1">
                <a:solidFill>
                  <a:srgbClr val="009999"/>
                </a:solidFill>
              </a:rPr>
              <a:t>5. MINIPACK</a:t>
            </a:r>
            <a:br>
              <a:rPr lang="en-US" sz="1100"/>
            </a:br>
            <a:r>
              <a:rPr lang="en-US" sz="1100"/>
              <a:t>OBJECTIVE: Put the subset of an existing findings deck in front of one audience (sales, marketing, etc.). No new analysis, reframing only.</a:t>
            </a:r>
            <a:br>
              <a:rPr lang="en-US" sz="1100"/>
            </a:br>
            <a:r>
              <a:rPr lang="en-US" sz="1100"/>
              <a:t>STRUCTURE: Cover → Filtered one-page summary → 4–8 selected body pages, re-titled to the audience's decisions, exhibits and provenance intact → Next steps.</a:t>
            </a:r>
            <a:br>
              <a:rPr lang="en-US" sz="1100"/>
            </a:br>
            <a:r>
              <a:rPr lang="en-US" sz="1100"/>
              <a:t>TAKEAWAY: "Here is what this research means for your team and context specifically." </a:t>
            </a:r>
          </a:p>
          <a:p>
            <a:endParaRPr lang="en-US" sz="1100"/>
          </a:p>
          <a:p>
            <a:r>
              <a:rPr lang="en-US" sz="1100" b="1">
                <a:solidFill>
                  <a:srgbClr val="009999"/>
                </a:solidFill>
              </a:rPr>
              <a:t>6. WORKSHOP</a:t>
            </a:r>
            <a:br>
              <a:rPr lang="en-US" sz="1100"/>
            </a:br>
            <a:r>
              <a:rPr lang="en-US" sz="1100"/>
              <a:t>OBJECTIVE: Structure a live working session so the room reacts, chooses, and decides. Blank or simple pages are acceptable.</a:t>
            </a:r>
            <a:br>
              <a:rPr lang="en-US" sz="1100"/>
            </a:br>
            <a:r>
              <a:rPr lang="en-US" sz="1100"/>
              <a:t>STRUCTURE: Cover → Session objectives and agenda → Short context pages → Discussion frameworks &amp; live workshopping → Decisions needed → Parking lot / next steps.</a:t>
            </a:r>
            <a:br>
              <a:rPr lang="en-US" sz="1100"/>
            </a:br>
            <a:r>
              <a:rPr lang="en-US" sz="1100"/>
              <a:t>TAKEAWAY: “We want to use this time as a team to brainstorm and make decisions that inform a way forward.”</a:t>
            </a:r>
          </a:p>
        </p:txBody>
      </p:sp>
    </p:spTree>
    <p:extLst>
      <p:ext uri="{BB962C8B-B14F-4D97-AF65-F5344CB8AC3E}">
        <p14:creationId xmlns:p14="http://schemas.microsoft.com/office/powerpoint/2010/main" val="35756927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312&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d.&lt;/m_strFormatTime&gt;&lt;m_yearfmt&gt;&lt;begin val=&quot;0&quot;/&gt;&lt;end val=&quot;4&quot;/&gt;&lt;/m_yearfmt&gt;&lt;/m_precDefaultWeek&gt;&lt;m_precDefaultMonth&gt;&lt;m_bNumberIsYear val=&quot;0&quot;/&gt;&lt;m_strFormatTime&gt;%B&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SHAPENAME" val="ClientLogo"/>
</p:tagLst>
</file>

<file path=ppt/tags/tag6.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7.xml><?xml version="1.0" encoding="utf-8"?>
<p:tagLst xmlns:a="http://schemas.openxmlformats.org/drawingml/2006/main" xmlns:r="http://schemas.openxmlformats.org/officeDocument/2006/relationships" xmlns:p="http://schemas.openxmlformats.org/presentationml/2006/main">
  <p:tag name="SHAPENAME" val="Subtitle"/>
</p:tagLst>
</file>

<file path=ppt/tags/tag8.xml><?xml version="1.0" encoding="utf-8"?>
<p:tagLst xmlns:a="http://schemas.openxmlformats.org/drawingml/2006/main" xmlns:r="http://schemas.openxmlformats.org/officeDocument/2006/relationships" xmlns:p="http://schemas.openxmlformats.org/presentationml/2006/main">
  <p:tag name="SHAPENAME" val="Title"/>
</p:tagLst>
</file>

<file path=ppt/tags/tag9.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2.xml><?xml version="1.0" encoding="utf-8"?>
<p:tagLst xmlns:a="http://schemas.openxmlformats.org/drawingml/2006/main" xmlns:r="http://schemas.openxmlformats.org/officeDocument/2006/relationships" xmlns:p="http://schemas.openxmlformats.org/presentationml/2006/main">
  <p:tag name="SHAPENAME" val="Subtitle"/>
</p:tagLst>
</file>

<file path=ppt/tags/tag13.xml><?xml version="1.0" encoding="utf-8"?>
<p:tagLst xmlns:a="http://schemas.openxmlformats.org/drawingml/2006/main" xmlns:r="http://schemas.openxmlformats.org/officeDocument/2006/relationships" xmlns:p="http://schemas.openxmlformats.org/presentationml/2006/main">
  <p:tag name="SHAPENAME" val="Title"/>
</p:tagLst>
</file>

<file path=ppt/tags/tag14.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5.xml><?xml version="1.0" encoding="utf-8"?>
<p:tagLst xmlns:a="http://schemas.openxmlformats.org/drawingml/2006/main" xmlns:r="http://schemas.openxmlformats.org/officeDocument/2006/relationships" xmlns:p="http://schemas.openxmlformats.org/presentationml/2006/main">
  <p:tag name="SHAPENAME" val="ClientLogo"/>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8.xml><?xml version="1.0" encoding="utf-8"?>
<p:tagLst xmlns:a="http://schemas.openxmlformats.org/drawingml/2006/main" xmlns:r="http://schemas.openxmlformats.org/officeDocument/2006/relationships" xmlns:p="http://schemas.openxmlformats.org/presentationml/2006/main">
  <p:tag name="SHAPENAME" val="Subtitle"/>
</p:tagLst>
</file>

<file path=ppt/tags/tag19.xml><?xml version="1.0" encoding="utf-8"?>
<p:tagLst xmlns:a="http://schemas.openxmlformats.org/drawingml/2006/main" xmlns:r="http://schemas.openxmlformats.org/officeDocument/2006/relationships" xmlns:p="http://schemas.openxmlformats.org/presentationml/2006/main">
  <p:tag name="SHAPENAME" val="Title"/>
</p:tagLst>
</file>

<file path=ppt/tags/tag20.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21.xml><?xml version="1.0" encoding="utf-8"?>
<p:tagLst xmlns:a="http://schemas.openxmlformats.org/drawingml/2006/main" xmlns:r="http://schemas.openxmlformats.org/officeDocument/2006/relationships" xmlns:p="http://schemas.openxmlformats.org/presentationml/2006/main">
  <p:tag name="SHAPENAME" val="ClientLogo"/>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4.xml><?xml version="1.0" encoding="utf-8"?>
<p:tagLst xmlns:a="http://schemas.openxmlformats.org/drawingml/2006/main" xmlns:r="http://schemas.openxmlformats.org/officeDocument/2006/relationships" xmlns:p="http://schemas.openxmlformats.org/presentationml/2006/main">
  <p:tag name="SHAPENAME" val="Subtitle"/>
</p:tagLst>
</file>

<file path=ppt/tags/tag25.xml><?xml version="1.0" encoding="utf-8"?>
<p:tagLst xmlns:a="http://schemas.openxmlformats.org/drawingml/2006/main" xmlns:r="http://schemas.openxmlformats.org/officeDocument/2006/relationships" xmlns:p="http://schemas.openxmlformats.org/presentationml/2006/main">
  <p:tag name="SHAPENAME" val="Title"/>
</p:tagLst>
</file>

<file path=ppt/tags/tag26.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27.xml><?xml version="1.0" encoding="utf-8"?>
<p:tagLst xmlns:a="http://schemas.openxmlformats.org/drawingml/2006/main" xmlns:r="http://schemas.openxmlformats.org/officeDocument/2006/relationships" xmlns:p="http://schemas.openxmlformats.org/presentationml/2006/main">
  <p:tag name="SHAPENAME" val="ClientLogo"/>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30.xml><?xml version="1.0" encoding="utf-8"?>
<p:tagLst xmlns:a="http://schemas.openxmlformats.org/drawingml/2006/main" xmlns:r="http://schemas.openxmlformats.org/officeDocument/2006/relationships" xmlns:p="http://schemas.openxmlformats.org/presentationml/2006/main">
  <p:tag name="SHAPENAME" val="Subtitle"/>
</p:tagLst>
</file>

<file path=ppt/tags/tag31.xml><?xml version="1.0" encoding="utf-8"?>
<p:tagLst xmlns:a="http://schemas.openxmlformats.org/drawingml/2006/main" xmlns:r="http://schemas.openxmlformats.org/officeDocument/2006/relationships" xmlns:p="http://schemas.openxmlformats.org/presentationml/2006/main">
  <p:tag name="SHAPENAME" val="Title"/>
</p:tagLst>
</file>

<file path=ppt/tags/tag32.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33.xml><?xml version="1.0" encoding="utf-8"?>
<p:tagLst xmlns:a="http://schemas.openxmlformats.org/drawingml/2006/main" xmlns:r="http://schemas.openxmlformats.org/officeDocument/2006/relationships" xmlns:p="http://schemas.openxmlformats.org/presentationml/2006/main">
  <p:tag name="SHAPENAME" val="ClientLogo"/>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8.xml><?xml version="1.0" encoding="utf-8"?>
<p:tagLst xmlns:a="http://schemas.openxmlformats.org/drawingml/2006/main" xmlns:r="http://schemas.openxmlformats.org/officeDocument/2006/relationships" xmlns:p="http://schemas.openxmlformats.org/presentationml/2006/main">
  <p:tag name="SHAPENAME" val="3. Subtitle"/>
</p:tagLst>
</file>

<file path=ppt/tags/tag3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4.xml><?xml version="1.0" encoding="utf-8"?>
<p:tagLst xmlns:a="http://schemas.openxmlformats.org/drawingml/2006/main" xmlns:r="http://schemas.openxmlformats.org/officeDocument/2006/relationships" xmlns:p="http://schemas.openxmlformats.org/presentationml/2006/main">
  <p:tag name="SHAPENAME" val="3. Subtitle"/>
</p:tagLst>
</file>

<file path=ppt/tags/tag4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9.xml><?xml version="1.0" encoding="utf-8"?>
<p:tagLst xmlns:a="http://schemas.openxmlformats.org/drawingml/2006/main" xmlns:r="http://schemas.openxmlformats.org/officeDocument/2006/relationships" xmlns:p="http://schemas.openxmlformats.org/presentationml/2006/main">
  <p:tag name="SHAPENAME" val="3. Subtitle"/>
</p:tagLst>
</file>

<file path=ppt/tags/tag5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4.xml><?xml version="1.0" encoding="utf-8"?>
<p:tagLst xmlns:a="http://schemas.openxmlformats.org/drawingml/2006/main" xmlns:r="http://schemas.openxmlformats.org/officeDocument/2006/relationships" xmlns:p="http://schemas.openxmlformats.org/presentationml/2006/main">
  <p:tag name="SHAPENAME" val="3. Subtitle"/>
</p:tagLst>
</file>

<file path=ppt/tags/tag5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9.xml><?xml version="1.0" encoding="utf-8"?>
<p:tagLst xmlns:a="http://schemas.openxmlformats.org/drawingml/2006/main" xmlns:r="http://schemas.openxmlformats.org/officeDocument/2006/relationships" xmlns:p="http://schemas.openxmlformats.org/presentationml/2006/main">
  <p:tag name="SHAPENAME" val="3. Subtitl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3.xml><?xml version="1.0" encoding="utf-8"?>
<p:tagLst xmlns:a="http://schemas.openxmlformats.org/drawingml/2006/main" xmlns:r="http://schemas.openxmlformats.org/officeDocument/2006/relationships" xmlns:p="http://schemas.openxmlformats.org/presentationml/2006/main">
  <p:tag name="SHAPENAME" val="3. Subtitl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7.xml><?xml version="1.0" encoding="utf-8"?>
<p:tagLst xmlns:a="http://schemas.openxmlformats.org/drawingml/2006/main" xmlns:r="http://schemas.openxmlformats.org/officeDocument/2006/relationships" xmlns:p="http://schemas.openxmlformats.org/presentationml/2006/main">
  <p:tag name="SHAPENAME" val="3. Subtitl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1.xml><?xml version="1.0" encoding="utf-8"?>
<p:tagLst xmlns:a="http://schemas.openxmlformats.org/drawingml/2006/main" xmlns:r="http://schemas.openxmlformats.org/officeDocument/2006/relationships" xmlns:p="http://schemas.openxmlformats.org/presentationml/2006/main">
  <p:tag name="SHAPENAME" val="3. Subtitl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5.xml><?xml version="1.0" encoding="utf-8"?>
<p:tagLst xmlns:a="http://schemas.openxmlformats.org/drawingml/2006/main" xmlns:r="http://schemas.openxmlformats.org/officeDocument/2006/relationships" xmlns:p="http://schemas.openxmlformats.org/presentationml/2006/main">
  <p:tag name="SHAPENAME" val="3. Subtitl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9.xml><?xml version="1.0" encoding="utf-8"?>
<p:tagLst xmlns:a="http://schemas.openxmlformats.org/drawingml/2006/main" xmlns:r="http://schemas.openxmlformats.org/officeDocument/2006/relationships" xmlns:p="http://schemas.openxmlformats.org/presentationml/2006/main">
  <p:tag name="SHAPENAME" val="3. Subtitl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2.xml><?xml version="1.0" encoding="utf-8"?>
<p:tagLst xmlns:a="http://schemas.openxmlformats.org/drawingml/2006/main" xmlns:r="http://schemas.openxmlformats.org/officeDocument/2006/relationships" xmlns:p="http://schemas.openxmlformats.org/presentationml/2006/main">
  <p:tag name="SHAPENAME" val="3. Subtitle"/>
</p:tagLst>
</file>

<file path=ppt/tags/tag8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7.xml><?xml version="1.0" encoding="utf-8"?>
<p:tagLst xmlns:a="http://schemas.openxmlformats.org/drawingml/2006/main" xmlns:r="http://schemas.openxmlformats.org/officeDocument/2006/relationships" xmlns:p="http://schemas.openxmlformats.org/presentationml/2006/main">
  <p:tag name="SHAPENAME" val="3. Subtitl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0.xml><?xml version="1.0" encoding="utf-8"?>
<p:tagLst xmlns:a="http://schemas.openxmlformats.org/drawingml/2006/main" xmlns:r="http://schemas.openxmlformats.org/officeDocument/2006/relationships" xmlns:p="http://schemas.openxmlformats.org/presentationml/2006/main">
  <p:tag name="SHAPENAME" val="3. Subtitle"/>
</p:tagLst>
</file>

<file path=ppt/tags/tag9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4.xml><?xml version="1.0" encoding="utf-8"?>
<p:tagLst xmlns:a="http://schemas.openxmlformats.org/drawingml/2006/main" xmlns:r="http://schemas.openxmlformats.org/officeDocument/2006/relationships" xmlns:p="http://schemas.openxmlformats.org/presentationml/2006/main">
  <p:tag name="SHAPENAME" val="3. Subtitle"/>
</p:tagLst>
</file>

<file path=ppt/tags/tag9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8.xml><?xml version="1.0" encoding="utf-8"?>
<p:tagLst xmlns:a="http://schemas.openxmlformats.org/drawingml/2006/main" xmlns:r="http://schemas.openxmlformats.org/officeDocument/2006/relationships" xmlns:p="http://schemas.openxmlformats.org/presentationml/2006/main">
  <p:tag name="SHAPENAME" val="TopLineLeft"/>
</p:tagLst>
</file>

<file path=ppt/tags/tag9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0.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03.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04.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0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6.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1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1.xml><?xml version="1.0" encoding="utf-8"?>
<p:tagLst xmlns:a="http://schemas.openxmlformats.org/drawingml/2006/main" xmlns:r="http://schemas.openxmlformats.org/officeDocument/2006/relationships" xmlns:p="http://schemas.openxmlformats.org/presentationml/2006/main">
  <p:tag name="SHAPENAME" val="3. Subtitle"/>
</p:tagLst>
</file>

<file path=ppt/tags/tag11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5.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1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7.xml><?xml version="1.0" encoding="utf-8"?>
<p:tagLst xmlns:a="http://schemas.openxmlformats.org/drawingml/2006/main" xmlns:r="http://schemas.openxmlformats.org/officeDocument/2006/relationships" xmlns:p="http://schemas.openxmlformats.org/presentationml/2006/main">
  <p:tag name="SHAPENAME" val="3. Subtitl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0.xml><?xml version="1.0" encoding="utf-8"?>
<p:tagLst xmlns:a="http://schemas.openxmlformats.org/drawingml/2006/main" xmlns:r="http://schemas.openxmlformats.org/officeDocument/2006/relationships" xmlns:p="http://schemas.openxmlformats.org/presentationml/2006/main">
  <p:tag name="SHAPENAME" val="3. Subtitle"/>
</p:tagLst>
</file>

<file path=ppt/tags/tag12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4.xml><?xml version="1.0" encoding="utf-8"?>
<p:tagLst xmlns:a="http://schemas.openxmlformats.org/drawingml/2006/main" xmlns:r="http://schemas.openxmlformats.org/officeDocument/2006/relationships" xmlns:p="http://schemas.openxmlformats.org/presentationml/2006/main">
  <p:tag name="SHAPENAME" val="3. Subtitle"/>
</p:tagLst>
</file>

<file path=ppt/tags/tag12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9.xml><?xml version="1.0" encoding="utf-8"?>
<p:tagLst xmlns:a="http://schemas.openxmlformats.org/drawingml/2006/main" xmlns:r="http://schemas.openxmlformats.org/officeDocument/2006/relationships" xmlns:p="http://schemas.openxmlformats.org/presentationml/2006/main">
  <p:tag name="SHAPENAME" val="3. Subtitle"/>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1.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3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3.xml><?xml version="1.0" encoding="utf-8"?>
<p:tagLst xmlns:a="http://schemas.openxmlformats.org/drawingml/2006/main" xmlns:r="http://schemas.openxmlformats.org/officeDocument/2006/relationships" xmlns:p="http://schemas.openxmlformats.org/presentationml/2006/main">
  <p:tag name="SHAPENAME" val="3. Subtitle"/>
</p:tagLst>
</file>

<file path=ppt/tags/tag13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7.xml><?xml version="1.0" encoding="utf-8"?>
<p:tagLst xmlns:a="http://schemas.openxmlformats.org/drawingml/2006/main" xmlns:r="http://schemas.openxmlformats.org/officeDocument/2006/relationships" xmlns:p="http://schemas.openxmlformats.org/presentationml/2006/main">
  <p:tag name="SHAPENAME" val="3. Subtitle"/>
</p:tagLst>
</file>

<file path=ppt/tags/tag13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41.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42.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4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4.xml><?xml version="1.0" encoding="utf-8"?>
<p:tagLst xmlns:a="http://schemas.openxmlformats.org/drawingml/2006/main" xmlns:r="http://schemas.openxmlformats.org/officeDocument/2006/relationships" xmlns:p="http://schemas.openxmlformats.org/presentationml/2006/main">
  <p:tag name="SHAPENAME" val="3. Subtitle"/>
</p:tagLst>
</file>

<file path=ppt/tags/tag14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8.xml><?xml version="1.0" encoding="utf-8"?>
<p:tagLst xmlns:a="http://schemas.openxmlformats.org/drawingml/2006/main" xmlns:r="http://schemas.openxmlformats.org/officeDocument/2006/relationships" xmlns:p="http://schemas.openxmlformats.org/presentationml/2006/main">
  <p:tag name="SHAPENAME" val="3. Subtitle"/>
</p:tagLst>
</file>

<file path=ppt/tags/tag14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2.xml><?xml version="1.0" encoding="utf-8"?>
<p:tagLst xmlns:a="http://schemas.openxmlformats.org/drawingml/2006/main" xmlns:r="http://schemas.openxmlformats.org/officeDocument/2006/relationships" xmlns:p="http://schemas.openxmlformats.org/presentationml/2006/main">
  <p:tag name="SHAPENAME" val="3. Subtitle"/>
</p:tagLst>
</file>

<file path=ppt/tags/tag15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6.xml><?xml version="1.0" encoding="utf-8"?>
<p:tagLst xmlns:a="http://schemas.openxmlformats.org/drawingml/2006/main" xmlns:r="http://schemas.openxmlformats.org/officeDocument/2006/relationships" xmlns:p="http://schemas.openxmlformats.org/presentationml/2006/main">
  <p:tag name="SHAPENAME" val="3. Subtitle"/>
</p:tagLst>
</file>

<file path=ppt/tags/tag15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0.xml><?xml version="1.0" encoding="utf-8"?>
<p:tagLst xmlns:a="http://schemas.openxmlformats.org/drawingml/2006/main" xmlns:r="http://schemas.openxmlformats.org/officeDocument/2006/relationships" xmlns:p="http://schemas.openxmlformats.org/presentationml/2006/main">
  <p:tag name="SHAPENAME" val="3. Subtitle"/>
</p:tagLst>
</file>

<file path=ppt/tags/tag16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4.xml><?xml version="1.0" encoding="utf-8"?>
<p:tagLst xmlns:a="http://schemas.openxmlformats.org/drawingml/2006/main" xmlns:r="http://schemas.openxmlformats.org/officeDocument/2006/relationships" xmlns:p="http://schemas.openxmlformats.org/presentationml/2006/main">
  <p:tag name="SHAPENAME" val="3. Subtitle"/>
</p:tagLst>
</file>

<file path=ppt/tags/tag16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8.xml><?xml version="1.0" encoding="utf-8"?>
<p:tagLst xmlns:a="http://schemas.openxmlformats.org/drawingml/2006/main" xmlns:r="http://schemas.openxmlformats.org/officeDocument/2006/relationships" xmlns:p="http://schemas.openxmlformats.org/presentationml/2006/main">
  <p:tag name="SHAPENAME" val="3. Subtitle"/>
</p:tagLst>
</file>

<file path=ppt/tags/tag16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7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3.xml><?xml version="1.0" encoding="utf-8"?>
<p:tagLst xmlns:a="http://schemas.openxmlformats.org/drawingml/2006/main" xmlns:r="http://schemas.openxmlformats.org/officeDocument/2006/relationships" xmlns:p="http://schemas.openxmlformats.org/presentationml/2006/main">
  <p:tag name="SHAPENAME" val="3. Subtitl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7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7.xml><?xml version="1.0" encoding="utf-8"?>
<p:tagLst xmlns:a="http://schemas.openxmlformats.org/drawingml/2006/main" xmlns:r="http://schemas.openxmlformats.org/officeDocument/2006/relationships" xmlns:p="http://schemas.openxmlformats.org/presentationml/2006/main">
  <p:tag name="SHAPENAME" val="3. Subtitle"/>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1.xml><?xml version="1.0" encoding="utf-8"?>
<p:tagLst xmlns:a="http://schemas.openxmlformats.org/drawingml/2006/main" xmlns:r="http://schemas.openxmlformats.org/officeDocument/2006/relationships" xmlns:p="http://schemas.openxmlformats.org/presentationml/2006/main">
  <p:tag name="SHAPENAME" val="3. Subtitle"/>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3.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8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5.xml><?xml version="1.0" encoding="utf-8"?>
<p:tagLst xmlns:a="http://schemas.openxmlformats.org/drawingml/2006/main" xmlns:r="http://schemas.openxmlformats.org/officeDocument/2006/relationships" xmlns:p="http://schemas.openxmlformats.org/presentationml/2006/main">
  <p:tag name="SHAPENAME" val="3. Subtitle"/>
</p:tagLst>
</file>

<file path=ppt/tags/tag18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9.xml><?xml version="1.0" encoding="utf-8"?>
<p:tagLst xmlns:a="http://schemas.openxmlformats.org/drawingml/2006/main" xmlns:r="http://schemas.openxmlformats.org/officeDocument/2006/relationships" xmlns:p="http://schemas.openxmlformats.org/presentationml/2006/main">
  <p:tag name="SHAPENAME" val="3. Subtitle"/>
</p:tagLst>
</file>

<file path=ppt/tags/tag19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93.xml><?xml version="1.0" encoding="utf-8"?>
<p:tagLst xmlns:a="http://schemas.openxmlformats.org/drawingml/2006/main" xmlns:r="http://schemas.openxmlformats.org/officeDocument/2006/relationships" xmlns:p="http://schemas.openxmlformats.org/presentationml/2006/main">
  <p:tag name="SHAPENAME" val="3. Subtitle"/>
</p:tagLst>
</file>

<file path=ppt/tags/tag19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98.xml><?xml version="1.0" encoding="utf-8"?>
<p:tagLst xmlns:a="http://schemas.openxmlformats.org/drawingml/2006/main" xmlns:r="http://schemas.openxmlformats.org/officeDocument/2006/relationships" xmlns:p="http://schemas.openxmlformats.org/presentationml/2006/main">
  <p:tag name="SHAPENAME" val="3. Subtitle"/>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0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02.xml><?xml version="1.0" encoding="utf-8"?>
<p:tagLst xmlns:a="http://schemas.openxmlformats.org/drawingml/2006/main" xmlns:r="http://schemas.openxmlformats.org/officeDocument/2006/relationships" xmlns:p="http://schemas.openxmlformats.org/presentationml/2006/main">
  <p:tag name="SHAPENAME" val="3. Subtitle"/>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05.xml><?xml version="1.0" encoding="utf-8"?>
<p:tagLst xmlns:a="http://schemas.openxmlformats.org/drawingml/2006/main" xmlns:r="http://schemas.openxmlformats.org/officeDocument/2006/relationships" xmlns:p="http://schemas.openxmlformats.org/presentationml/2006/main">
  <p:tag name="SHAPENAME" val="3. Subtitle"/>
</p:tagLst>
</file>

<file path=ppt/tags/tag20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09.xml><?xml version="1.0" encoding="utf-8"?>
<p:tagLst xmlns:a="http://schemas.openxmlformats.org/drawingml/2006/main" xmlns:r="http://schemas.openxmlformats.org/officeDocument/2006/relationships" xmlns:p="http://schemas.openxmlformats.org/presentationml/2006/main">
  <p:tag name="SHAPENAME" val="3. Subtitle"/>
</p:tagLst>
</file>

<file path=ppt/tags/tag21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2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Telesto Refresh 1156 am">
      <a:dk1>
        <a:srgbClr val="282828"/>
      </a:dk1>
      <a:lt1>
        <a:sysClr val="window" lastClr="FFFFFF"/>
      </a:lt1>
      <a:dk2>
        <a:srgbClr val="17406D"/>
      </a:dk2>
      <a:lt2>
        <a:srgbClr val="005366"/>
      </a:lt2>
      <a:accent1>
        <a:srgbClr val="003366"/>
      </a:accent1>
      <a:accent2>
        <a:srgbClr val="808080"/>
      </a:accent2>
      <a:accent3>
        <a:srgbClr val="0BD0D9"/>
      </a:accent3>
      <a:accent4>
        <a:srgbClr val="10CF9B"/>
      </a:accent4>
      <a:accent5>
        <a:srgbClr val="009999"/>
      </a:accent5>
      <a:accent6>
        <a:srgbClr val="D5BA98"/>
      </a:accent6>
      <a:hlink>
        <a:srgbClr val="006699"/>
      </a:hlink>
      <a:folHlink>
        <a:srgbClr val="85DFD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5"/>
        </a:solidFill>
        <a:ln>
          <a:noFill/>
        </a:ln>
      </a:spPr>
      <a:bodyPr rtlCol="0" anchor="ctr"/>
      <a:lstStyle>
        <a:defPPr algn="ctr">
          <a:defRPr b="1"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50000"/>
            </a:schemeClr>
          </a:solidFill>
        </a:ln>
      </a:spPr>
      <a:bodyPr/>
      <a:lstStyle/>
      <a:style>
        <a:lnRef idx="1">
          <a:schemeClr val="dk1"/>
        </a:lnRef>
        <a:fillRef idx="0">
          <a:schemeClr val="dk1"/>
        </a:fillRef>
        <a:effectRef idx="0">
          <a:schemeClr val="dk1"/>
        </a:effectRef>
        <a:fontRef idx="minor">
          <a:schemeClr val="tx1"/>
        </a:fontRef>
      </a:style>
    </a:lnDef>
    <a:txDef>
      <a:spPr/>
      <a:bodyPr vert="horz" wrap="square" lIns="0" tIns="0" rIns="0" bIns="0" rtlCol="0">
        <a:spAutoFit/>
      </a:bodyPr>
      <a:lstStyle>
        <a:defPPr marL="0" indent="0" algn="l">
          <a:spcBef>
            <a:spcPts val="600"/>
          </a:spcBef>
          <a:buNone/>
          <a:defRPr dirty="0" err="1" smtClean="0">
            <a:solidFill>
              <a:schemeClr val="tx1"/>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83"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17F663C-8204-4C1A-86AE-1085E48DE924}">
  <we:reference id="WA200010001" version="1.0.0.1" store="Omex" storeType="OMEX"/>
  <we:alternateReferences>
    <we:reference id="WA200010001" version="1.0.0.1" store="WA200010001" storeType="OMEX"/>
  </we:alternateReferences>
  <we:properties>
    <we:property name="claude.fileId" value="&quot;5a064131-df95-45fc-9ceb-30121b583e0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4765</Words>
  <Application>Microsoft Office PowerPoint</Application>
  <PresentationFormat>Widescreen</PresentationFormat>
  <Paragraphs>521</Paragraphs>
  <Slides>38</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38</vt:i4>
      </vt:variant>
    </vt:vector>
  </HeadingPairs>
  <TitlesOfParts>
    <vt:vector size="47" baseType="lpstr">
      <vt:lpstr>Arial</vt:lpstr>
      <vt:lpstr>Avenir Next LT Pro Light</vt:lpstr>
      <vt:lpstr>Calibri</vt:lpstr>
      <vt:lpstr>Wingdings</vt:lpstr>
      <vt:lpstr>Lato</vt:lpstr>
      <vt:lpstr>Courier New</vt:lpstr>
      <vt:lpstr>Office Theme</vt:lpstr>
      <vt:lpstr>thinkcell Slide</vt:lpstr>
      <vt:lpstr>think-cell Slide</vt:lpstr>
      <vt:lpstr>The Vanguard Standard</vt:lpstr>
      <vt:lpstr>This AI page contains instructions on how to read this file</vt:lpstr>
      <vt:lpstr>What this standard achieves</vt:lpstr>
      <vt:lpstr>Contents</vt:lpstr>
      <vt:lpstr>PowerPoint Presentation</vt:lpstr>
      <vt:lpstr>[Use slide format]</vt:lpstr>
      <vt:lpstr>[Use for contrasting slides]</vt:lpstr>
      <vt:lpstr>[Use occasionally]</vt:lpstr>
      <vt:lpstr>Solving the problem starts with defining the problem in the SMART way  </vt:lpstr>
      <vt:lpstr>MECE is a defining element of why consultants sound structured, and used constantly to set up frameworks</vt:lpstr>
      <vt:lpstr>Consultants work with senior leaders, so they must think like one</vt:lpstr>
      <vt:lpstr>Critical thinking | Key takeaways</vt:lpstr>
      <vt:lpstr>2</vt:lpstr>
      <vt:lpstr>Before you write a single sentence or compose a slide, ask yourself in your client’s voice…</vt:lpstr>
      <vt:lpstr>Consulting decks follow top-down logic: takeaways and recommendations first, details below</vt:lpstr>
      <vt:lpstr>The storyline is at the heart of our deliverables and determines what is elevated above vs. below in a deck</vt:lpstr>
      <vt:lpstr>Consultants use “ghost” pages as scaffolding; this allows the team to align quickly on the structure and what slides can be built new vs. reused</vt:lpstr>
      <vt:lpstr>Deck building | Key takeaways</vt:lpstr>
      <vt:lpstr>3</vt:lpstr>
      <vt:lpstr>Most consulting pages follow a commonly used format</vt:lpstr>
      <vt:lpstr>The action title is the most important takeaway of the slide and should inform a busy reader in seconds</vt:lpstr>
      <vt:lpstr>Tables are used commonly to present categories, and should be reviewed for conciseness and overall takeaway</vt:lpstr>
      <vt:lpstr>Charts should contain explanatory titles, subtitles on methodology, and sources so that the reader gets the full picture</vt:lpstr>
      <vt:lpstr>Use page elements to provide visual cues and stickers to hedge</vt:lpstr>
      <vt:lpstr>Clients’ own style and learned preferences should inform the page elements</vt:lpstr>
      <vt:lpstr>Page building | Key takeaways</vt:lpstr>
      <vt:lpstr>4</vt:lpstr>
      <vt:lpstr>To grow as a nimble, AI-native firm, Telesto is moving towards more agentic uses and new forms of deliverables</vt:lpstr>
      <vt:lpstr>AI workflow can only be a moat when original IP and firm data are combined</vt:lpstr>
      <vt:lpstr>For any task that requires complex judgment, AI is best used like a colleague, not an outsourced worker</vt:lpstr>
      <vt:lpstr>AI | Key takeaways</vt:lpstr>
      <vt:lpstr>5</vt:lpstr>
      <vt:lpstr>Before a major internal or client review, check for these common mistakes</vt:lpstr>
      <vt:lpstr>Handling sensitive client data with AI requires extra steps to ensure data integrity and legal compliance</vt:lpstr>
      <vt:lpstr>QC and Data | Key takeaways</vt:lpstr>
      <vt:lpstr>Appendix: Resources for AI</vt:lpstr>
      <vt:lpstr>Suggested instructions for AI</vt:lpstr>
      <vt:lpstr>Common deck types for AI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2026-08-31T22:40:43Z</dcterms:created>
  <dcterms:modified xsi:type="dcterms:W3CDTF">2026-09-10T20:16:37Z</dcterms:modified>
</cp:coreProperties>
</file>