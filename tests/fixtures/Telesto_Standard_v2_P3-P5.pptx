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16"/>
    <p:sldId id="257" r:id="rId17"/>
    <p:sldId id="258" r:id="rId18"/>
  </p:sldIdLst>
  <p:sldSz cx="12192000" cy="6858000"/>
  <p:notesSz cx="6858000" cy="9144000"/>
  <p:embeddedFontLst>
    <p:embeddedFont>
      <p:font typeface="Avenir Next LT Pro Light" panose="020B0304020202020204" pitchFamily="34" charset="0"/>
      <p:regular r:id="rId42"/>
      <p:italic r:id="rId43"/>
    </p:embeddedFont>
    <p:embeddedFont>
      <p:font typeface="Lato" panose="020F0502020204030203" pitchFamily="34" charset="0"/>
      <p:regular r:id="rId44"/>
      <p:bold r:id="rId45"/>
      <p:italic r:id="rId46"/>
      <p:boldItalic r:id="rId47"/>
    </p:embeddedFont>
  </p:embeddedFontLst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nguard v2" id="{8597E0A4-7068-4F01-AEFA-93E7B6659A2E}">
          <p14:sldIdLst>
            <p14:sldId id="307268"/>
            <p14:sldId id="307305"/>
            <p14:sldId id="307331"/>
            <p14:sldId id="307299"/>
            <p14:sldId id="307318"/>
            <p14:sldId id="307357"/>
            <p14:sldId id="307358"/>
            <p14:sldId id="307359"/>
          </p14:sldIdLst>
        </p14:section>
        <p14:section name="Archived v1" id="{C6DBC089-7422-4D34-87B4-80A5DC66CFB2}">
          <p14:sldIdLst>
            <p14:sldId id="307337"/>
            <p14:sldId id="307338"/>
            <p14:sldId id="307339"/>
            <p14:sldId id="307306"/>
            <p14:sldId id="307319"/>
            <p14:sldId id="307336"/>
            <p14:sldId id="307340"/>
            <p14:sldId id="307341"/>
            <p14:sldId id="307342"/>
            <p14:sldId id="307330"/>
            <p14:sldId id="307320"/>
            <p14:sldId id="307343"/>
            <p14:sldId id="307344"/>
            <p14:sldId id="307347"/>
            <p14:sldId id="307346"/>
            <p14:sldId id="307345"/>
            <p14:sldId id="307348"/>
            <p14:sldId id="307333"/>
            <p14:sldId id="307323"/>
            <p14:sldId id="307354"/>
            <p14:sldId id="307298"/>
            <p14:sldId id="307350"/>
            <p14:sldId id="307334"/>
            <p14:sldId id="307327"/>
            <p14:sldId id="307351"/>
            <p14:sldId id="307352"/>
            <p14:sldId id="307335"/>
          </p14:sldIdLst>
        </p14:section>
        <p14:section name="Resources" id="{8EC96852-FFCB-4A9B-A724-78462A89513B}">
          <p14:sldIdLst>
            <p14:sldId id="307356"/>
            <p14:sldId id="307332"/>
            <p14:sldId id="3073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66"/>
    <a:srgbClr val="000000"/>
    <a:srgbClr val="282828"/>
    <a:srgbClr val="FFFFFF"/>
    <a:srgbClr val="009999"/>
    <a:srgbClr val="D5BA98"/>
    <a:srgbClr val="17406D"/>
    <a:srgbClr val="F2F2F2"/>
    <a:srgbClr val="C49500"/>
    <a:srgbClr val="006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1" autoAdjust="0"/>
    <p:restoredTop sz="94660"/>
  </p:normalViewPr>
  <p:slideViewPr>
    <p:cSldViewPr snapToGrid="0">
      <p:cViewPr varScale="1">
        <p:scale>
          <a:sx n="87" d="100"/>
          <a:sy n="87" d="100"/>
        </p:scale>
        <p:origin x="44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66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font" Target="fonts/font1.fntdata"/><Relationship Id="rId43" Type="http://schemas.openxmlformats.org/officeDocument/2006/relationships/font" Target="fonts/font2.fntdata"/><Relationship Id="rId44" Type="http://schemas.openxmlformats.org/officeDocument/2006/relationships/font" Target="fonts/font3.fntdata"/><Relationship Id="rId45" Type="http://schemas.openxmlformats.org/officeDocument/2006/relationships/font" Target="fonts/font4.fntdata"/><Relationship Id="rId46" Type="http://schemas.openxmlformats.org/officeDocument/2006/relationships/font" Target="fonts/font5.fntdata"/><Relationship Id="rId47" Type="http://schemas.openxmlformats.org/officeDocument/2006/relationships/font" Target="fonts/font6.fntdata"/><Relationship Id="rId48" Type="http://schemas.openxmlformats.org/officeDocument/2006/relationships/tags" Target="tags/tag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B882AF-6D11-1181-D2D1-679561BA1D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907E8-11B0-5AF6-B3F9-C8FDBE5D4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27576-6378-46A1-83F5-E942D03BBC96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91FC6-30B5-A5F9-4AD2-0275B50402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8577E-D212-D033-D76B-EA91EF5AD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8F607-C6D4-4728-95B4-93C593136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878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6A2CA-3EC9-4F35-9CF6-26B83A9DD6B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5BE5-4ADF-47CE-B7CE-40389D4C0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3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5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6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1.emf"/><Relationship Id="rId11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3.bin"/><Relationship Id="rId9" Type="http://schemas.openxmlformats.org/officeDocument/2006/relationships/image" Target="../media/image1.emf"/><Relationship Id="rId10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7.jpeg"/><Relationship Id="rId9" Type="http://schemas.openxmlformats.org/officeDocument/2006/relationships/oleObject" Target="../embeddings/oleObject4.bin"/><Relationship Id="rId10" Type="http://schemas.openxmlformats.org/officeDocument/2006/relationships/image" Target="../media/image1.emf"/><Relationship Id="rId11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tags" Target="../tags/tag48.xml"/><Relationship Id="rId4" Type="http://schemas.openxmlformats.org/officeDocument/2006/relationships/tags" Target="../tags/tag49.xml"/><Relationship Id="rId5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2.jpeg"/><Relationship Id="rId8" Type="http://schemas.openxmlformats.org/officeDocument/2006/relationships/oleObject" Target="../embeddings/oleObject5.bin"/><Relationship Id="rId9" Type="http://schemas.openxmlformats.org/officeDocument/2006/relationships/image" Target="../media/image1.emf"/><Relationship Id="rId10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6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7" Type="http://schemas.openxmlformats.org/officeDocument/2006/relationships/oleObject" Target="../embeddings/oleObject6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7" Type="http://schemas.openxmlformats.org/officeDocument/2006/relationships/oleObject" Target="../embeddings/oleObject6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7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0.jpeg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8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tags" Target="../tags/tag85.xml"/><Relationship Id="rId3" Type="http://schemas.openxmlformats.org/officeDocument/2006/relationships/tags" Target="../tags/tag86.xml"/><Relationship Id="rId4" Type="http://schemas.openxmlformats.org/officeDocument/2006/relationships/tags" Target="../tags/tag8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7" Type="http://schemas.openxmlformats.org/officeDocument/2006/relationships/oleObject" Target="../embeddings/oleObject9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1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01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1.emf"/><Relationship Id="rId11" Type="http://schemas.openxmlformats.org/officeDocument/2006/relationships/image" Target="../media/image13.jpeg"/><Relationship Id="rId1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14.jpeg"/><Relationship Id="rId8" Type="http://schemas.openxmlformats.org/officeDocument/2006/relationships/oleObject" Target="../embeddings/oleObject11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13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tags" Target="../tags/tag116.xml"/><Relationship Id="rId5" Type="http://schemas.openxmlformats.org/officeDocument/2006/relationships/tags" Target="../tags/tag117.xml"/><Relationship Id="rId6" Type="http://schemas.openxmlformats.org/officeDocument/2006/relationships/slideMaster" Target="../slideMasters/slideMaster1.xml"/><Relationship Id="rId7" Type="http://schemas.openxmlformats.org/officeDocument/2006/relationships/image" Target="../media/image15.jpeg"/><Relationship Id="rId8" Type="http://schemas.openxmlformats.org/officeDocument/2006/relationships/oleObject" Target="../embeddings/oleObject11.bin"/><Relationship Id="rId9" Type="http://schemas.openxmlformats.org/officeDocument/2006/relationships/image" Target="../media/image1.emf"/><Relationship Id="rId10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tags" Target="../tags/tag123.xml"/><Relationship Id="rId3" Type="http://schemas.openxmlformats.org/officeDocument/2006/relationships/tags" Target="../tags/tag124.xml"/><Relationship Id="rId4" Type="http://schemas.openxmlformats.org/officeDocument/2006/relationships/tags" Target="../tags/tag125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3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30.xml"/><Relationship Id="rId2" Type="http://schemas.openxmlformats.org/officeDocument/2006/relationships/tags" Target="../tags/tag131.xml"/><Relationship Id="rId3" Type="http://schemas.openxmlformats.org/officeDocument/2006/relationships/tags" Target="../tags/tag132.xml"/><Relationship Id="rId4" Type="http://schemas.openxmlformats.org/officeDocument/2006/relationships/tags" Target="../tags/tag133.xml"/><Relationship Id="rId5" Type="http://schemas.openxmlformats.org/officeDocument/2006/relationships/tags" Target="../tags/tag1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14.bin"/><Relationship Id="rId8" Type="http://schemas.openxmlformats.org/officeDocument/2006/relationships/image" Target="../media/image1.emf"/><Relationship Id="rId9" Type="http://schemas.openxmlformats.org/officeDocument/2006/relationships/image" Target="../media/image16.jpeg"/><Relationship Id="rId10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16.bin"/><Relationship Id="rId10" Type="http://schemas.openxmlformats.org/officeDocument/2006/relationships/image" Target="../media/image1.emf"/><Relationship Id="rId11" Type="http://schemas.openxmlformats.org/officeDocument/2006/relationships/image" Target="../media/image17.jpeg"/><Relationship Id="rId12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tags" Target="../tags/tag148.xml"/><Relationship Id="rId4" Type="http://schemas.openxmlformats.org/officeDocument/2006/relationships/tags" Target="../tags/tag14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7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tags" Target="../tags/tag152.xml"/><Relationship Id="rId4" Type="http://schemas.openxmlformats.org/officeDocument/2006/relationships/tags" Target="../tags/tag15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8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tags" Target="../tags/tag155.xml"/><Relationship Id="rId3" Type="http://schemas.openxmlformats.org/officeDocument/2006/relationships/tags" Target="../tags/tag156.xml"/><Relationship Id="rId4" Type="http://schemas.openxmlformats.org/officeDocument/2006/relationships/tags" Target="../tags/tag15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9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19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tags" Target="../tags/tag164.xml"/><Relationship Id="rId4" Type="http://schemas.openxmlformats.org/officeDocument/2006/relationships/tags" Target="../tags/tag16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8.jpeg"/><Relationship Id="rId7" Type="http://schemas.openxmlformats.org/officeDocument/2006/relationships/oleObject" Target="../embeddings/oleObject19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66.xml"/><Relationship Id="rId2" Type="http://schemas.openxmlformats.org/officeDocument/2006/relationships/tags" Target="../tags/tag167.xml"/><Relationship Id="rId3" Type="http://schemas.openxmlformats.org/officeDocument/2006/relationships/tags" Target="../tags/tag168.xml"/><Relationship Id="rId4" Type="http://schemas.openxmlformats.org/officeDocument/2006/relationships/tags" Target="../tags/tag169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0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1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1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tags" Target="../tags/tag179.xml"/><Relationship Id="rId3" Type="http://schemas.openxmlformats.org/officeDocument/2006/relationships/tags" Target="../tags/tag180.xml"/><Relationship Id="rId4" Type="http://schemas.openxmlformats.org/officeDocument/2006/relationships/tags" Target="../tags/tag18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9.jpeg"/><Relationship Id="rId7" Type="http://schemas.openxmlformats.org/officeDocument/2006/relationships/oleObject" Target="../embeddings/oleObject21.bin"/><Relationship Id="rId8" Type="http://schemas.openxmlformats.org/officeDocument/2006/relationships/image" Target="../media/image1.emf"/><Relationship Id="rId9" Type="http://schemas.openxmlformats.org/officeDocument/2006/relationships/image" Target="../media/image9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82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2.bin"/><Relationship Id="rId8" Type="http://schemas.openxmlformats.org/officeDocument/2006/relationships/image" Target="../media/image1.emf"/><Relationship Id="rId9" Type="http://schemas.openxmlformats.org/officeDocument/2006/relationships/image" Target="../media/image20.jpeg"/><Relationship Id="rId10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tags" Target="../tags/tag190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3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3.bin"/><Relationship Id="rId7" Type="http://schemas.openxmlformats.org/officeDocument/2006/relationships/image" Target="../media/image1.emf"/><Relationship Id="rId8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1.jpe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199.xml"/><Relationship Id="rId2" Type="http://schemas.openxmlformats.org/officeDocument/2006/relationships/tags" Target="../tags/tag200.xml"/><Relationship Id="rId3" Type="http://schemas.openxmlformats.org/officeDocument/2006/relationships/tags" Target="../tags/tag201.xml"/><Relationship Id="rId4" Type="http://schemas.openxmlformats.org/officeDocument/2006/relationships/tags" Target="../tags/tag202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.jpeg"/><Relationship Id="rId7" Type="http://schemas.openxmlformats.org/officeDocument/2006/relationships/oleObject" Target="../embeddings/oleObject24.bin"/><Relationship Id="rId8" Type="http://schemas.openxmlformats.org/officeDocument/2006/relationships/image" Target="../media/image1.emf"/><Relationship Id="rId9" Type="http://schemas.openxmlformats.org/officeDocument/2006/relationships/image" Target="../media/image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07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slideMaster" Target="../slideMasters/slideMaster1.xml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11.xml"/><Relationship Id="rId2" Type="http://schemas.openxmlformats.org/officeDocument/2006/relationships/tags" Target="../tags/tag212.xml"/><Relationship Id="rId3" Type="http://schemas.openxmlformats.org/officeDocument/2006/relationships/tags" Target="../tags/tag21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.emf"/><Relationship Id="rId7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14.x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.emf"/><Relationship Id="rId7" Type="http://schemas.openxmlformats.org/officeDocument/2006/relationships/image" Target="../media/image8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17.xml"/><Relationship Id="rId2" Type="http://schemas.openxmlformats.org/officeDocument/2006/relationships/tags" Target="../tags/tag218.xml"/><Relationship Id="rId3" Type="http://schemas.openxmlformats.org/officeDocument/2006/relationships/tags" Target="../tags/tag219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20.xml"/><Relationship Id="rId2" Type="http://schemas.openxmlformats.org/officeDocument/2006/relationships/tags" Target="../tags/tag221.xml"/><Relationship Id="rId3" Type="http://schemas.openxmlformats.org/officeDocument/2006/relationships/tags" Target="../tags/tag222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2.jpeg"/><Relationship Id="rId6" Type="http://schemas.openxmlformats.org/officeDocument/2006/relationships/oleObject" Target="../embeddings/oleObject25.bin"/><Relationship Id="rId7" Type="http://schemas.openxmlformats.org/officeDocument/2006/relationships/image" Target="../media/image1.emf"/><Relationship Id="rId8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FB34CE-F739-0242-1761-63694A80DC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7" name="ClientLogo">
            <a:extLst>
              <a:ext uri="{FF2B5EF4-FFF2-40B4-BE49-F238E27FC236}">
                <a16:creationId xmlns:a16="http://schemas.microsoft.com/office/drawing/2014/main" id="{595C0A44-CFA5-4158-7990-BA5DA2178502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tx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tx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3D6D9-A703-3B85-36C7-82418F86631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281" y="179064"/>
            <a:ext cx="2926080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FB34CE-F739-0242-1761-63694A80DC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noProof="0"/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E582C-643C-ED23-B8D9-710A354D128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72898"/>
            <a:ext cx="2926080" cy="1170432"/>
          </a:xfrm>
          <a:prstGeom prst="rect">
            <a:avLst/>
          </a:prstGeom>
        </p:spPr>
      </p:pic>
      <p:sp>
        <p:nvSpPr>
          <p:cNvPr id="4" name="ClientLogo">
            <a:extLst>
              <a:ext uri="{FF2B5EF4-FFF2-40B4-BE49-F238E27FC236}">
                <a16:creationId xmlns:a16="http://schemas.microsoft.com/office/drawing/2014/main" id="{6D405767-39A5-B8D5-D9B7-967793AEA4B8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93635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6B5E4B-F629-59AF-5AF1-788C1B333D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FFFFF">
              <a:alpha val="5686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Title of the deck</a:t>
            </a:r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tx1"/>
                </a:solidFill>
                <a:latin typeface="+mn-lt"/>
              </a:rPr>
              <a:t>Any use or reproduction of this material without the express written consent of Telesto Strategy LLC is prohibited </a:t>
            </a:r>
          </a:p>
        </p:txBody>
      </p:sp>
      <p:sp>
        <p:nvSpPr>
          <p:cNvPr id="4" name="ClientLogo">
            <a:extLst>
              <a:ext uri="{FF2B5EF4-FFF2-40B4-BE49-F238E27FC236}">
                <a16:creationId xmlns:a16="http://schemas.microsoft.com/office/drawing/2014/main" id="{476C8FE1-901A-4B80-FBAF-7838EB225B6C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rgbClr val="282828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35170-88FE-5083-7F78-09465186483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0281" y="179064"/>
            <a:ext cx="2926080" cy="11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2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B74751E-19A5-9A00-5CDE-2AFEE644A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61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0DB651-4757-7DFC-829C-3D554E2BA252}"/>
              </a:ext>
            </a:extLst>
          </p:cNvPr>
          <p:cNvSpPr/>
          <p:nvPr userDrawn="1"/>
        </p:nvSpPr>
        <p:spPr>
          <a:xfrm>
            <a:off x="-2" y="-4362"/>
            <a:ext cx="12192000" cy="6862361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noProof="0"/>
          </a:p>
        </p:txBody>
      </p:sp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isclaimer-English (United States)">
            <a:extLst>
              <a:ext uri="{FF2B5EF4-FFF2-40B4-BE49-F238E27FC236}">
                <a16:creationId xmlns:a16="http://schemas.microsoft.com/office/drawing/2014/main" id="{BE1AD253-BB6A-C7E8-76B5-27E95989CD9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148FA-F56C-D91C-FB3F-826BFF69F25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65810"/>
            <a:ext cx="2926080" cy="1170432"/>
          </a:xfrm>
          <a:prstGeom prst="rect">
            <a:avLst/>
          </a:prstGeom>
        </p:spPr>
      </p:pic>
      <p:sp>
        <p:nvSpPr>
          <p:cNvPr id="4" name="ClientLogo">
            <a:extLst>
              <a:ext uri="{FF2B5EF4-FFF2-40B4-BE49-F238E27FC236}">
                <a16:creationId xmlns:a16="http://schemas.microsoft.com/office/drawing/2014/main" id="{0634024F-6A9F-278F-8EC9-D25D6443908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203385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1"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3E646D6-F65D-5006-7C7C-48E61E4A14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266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E646D6-F65D-5006-7C7C-48E61E4A14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Documenttype">
            <a:extLst>
              <a:ext uri="{FF2B5EF4-FFF2-40B4-BE49-F238E27FC236}">
                <a16:creationId xmlns:a16="http://schemas.microsoft.com/office/drawing/2014/main" id="{F92320DC-6702-C465-A52E-7A0713ED18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290045A-AEE3-0769-CF9F-1042D4B9C8F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69FB337-778B-9C0B-EB4A-35FECC7CD7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8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Disclaimer-English (United States)">
            <a:extLst>
              <a:ext uri="{FF2B5EF4-FFF2-40B4-BE49-F238E27FC236}">
                <a16:creationId xmlns:a16="http://schemas.microsoft.com/office/drawing/2014/main" id="{00A79FED-855B-B4EB-A995-A801107F4F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551942" y="6190488"/>
            <a:ext cx="520750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CONFIDENTIAL</a:t>
            </a:r>
          </a:p>
          <a:p>
            <a:pPr defTabSz="804863" eaLnBrk="0" hangingPunct="0"/>
            <a:r>
              <a:rPr lang="en-US" sz="800">
                <a:solidFill>
                  <a:schemeClr val="bg1"/>
                </a:solidFill>
                <a:latin typeface="+mn-lt"/>
              </a:rPr>
              <a:t>Any use or reproduction of this material without the express written consent of </a:t>
            </a:r>
            <a:r>
              <a:rPr lang="en-US" sz="800" err="1">
                <a:solidFill>
                  <a:schemeClr val="bg1"/>
                </a:solidFill>
                <a:latin typeface="+mn-lt"/>
              </a:rPr>
              <a:t>Telesto</a:t>
            </a:r>
            <a:r>
              <a:rPr lang="en-US" sz="800">
                <a:solidFill>
                  <a:schemeClr val="bg1"/>
                </a:solidFill>
                <a:latin typeface="+mn-lt"/>
              </a:rPr>
              <a:t> Strategy LLC is prohibited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4108F-8EAC-FF3E-A0A9-389C1113DD2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1329" y="165810"/>
            <a:ext cx="2926080" cy="1170432"/>
          </a:xfrm>
          <a:prstGeom prst="rect">
            <a:avLst/>
          </a:prstGeom>
        </p:spPr>
      </p:pic>
      <p:sp>
        <p:nvSpPr>
          <p:cNvPr id="2" name="ClientLogo">
            <a:extLst>
              <a:ext uri="{FF2B5EF4-FFF2-40B4-BE49-F238E27FC236}">
                <a16:creationId xmlns:a16="http://schemas.microsoft.com/office/drawing/2014/main" id="{278D6CAD-7133-5B54-E36F-5CBC7CACF19B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6"/>
            </p:custDataLst>
          </p:nvPr>
        </p:nvSpPr>
        <p:spPr>
          <a:xfrm>
            <a:off x="551942" y="4984025"/>
            <a:ext cx="283343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868972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EBFDC4-8D06-CEA9-EBFB-51CED3076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374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60970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54C57EC4-3892-BC12-B621-313BC72C097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458011" y="1815460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57F75B52-1739-892A-B396-ACFDFE6FA38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60970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#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3D4F6C3-4F88-BB74-2B64-73E323F82FB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A3099-1C19-A53B-EDB1-108D7B5CDEF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AD7A-DD97-A54E-308A-BC908EF267D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35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(Contrast)"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374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083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54C57EC4-3892-BC12-B621-313BC72C097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458011" y="1815460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57F75B52-1739-892A-B396-ACFDFE6FA38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4083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#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9CBEFA67-C762-BA75-0184-7041FDF594D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0A64DE-350A-99AF-AAED-D6034295643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7F535-1D45-0634-1CD4-142AF26D2BE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3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  <p15:guide id="4" orient="horz" pos="39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412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3349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3. Subtitle">
            <a:extLst>
              <a:ext uri="{FF2B5EF4-FFF2-40B4-BE49-F238E27FC236}">
                <a16:creationId xmlns:a16="http://schemas.microsoft.com/office/drawing/2014/main" id="{8B21B024-D01D-AA2A-D573-1887DC21A12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3349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#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4524C-3D54-522A-C305-6D0C6BCA2CE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49" y="6322775"/>
            <a:ext cx="1188720" cy="475488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1E0A4CBB-B7DE-A584-BAAF-3EA40EFC462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29F34D-92C2-67EE-F9A3-4B474730D208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164073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1CDDF-4DF1-7114-2E19-D8799119A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68D9C71-AE6D-C9A2-82C4-9D5402CFBDEA}"/>
              </a:ext>
            </a:extLst>
          </p:cNvPr>
          <p:cNvSpPr/>
          <p:nvPr userDrawn="1"/>
        </p:nvSpPr>
        <p:spPr>
          <a:xfrm>
            <a:off x="0" y="-3574"/>
            <a:ext cx="12192000" cy="6861574"/>
          </a:xfrm>
          <a:prstGeom prst="rect">
            <a:avLst/>
          </a:prstGeom>
          <a:solidFill>
            <a:srgbClr val="FFFFFF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412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2. Slide Title">
            <a:extLst>
              <a:ext uri="{FF2B5EF4-FFF2-40B4-BE49-F238E27FC236}">
                <a16:creationId xmlns:a16="http://schemas.microsoft.com/office/drawing/2014/main" id="{31175465-90B0-C6C5-C69E-8EF632BF7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3248" y="3428344"/>
            <a:ext cx="7918703" cy="731520"/>
          </a:xfrm>
        </p:spPr>
        <p:txBody>
          <a:bodyPr vert="horz"/>
          <a:lstStyle>
            <a:lvl1pPr>
              <a:defRPr sz="4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2. Slide Title">
            <a:extLst>
              <a:ext uri="{FF2B5EF4-FFF2-40B4-BE49-F238E27FC236}">
                <a16:creationId xmlns:a16="http://schemas.microsoft.com/office/drawing/2014/main" id="{D1A48DE1-A930-33B3-D9CE-D6E5F05BA3CD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458011" y="2246617"/>
            <a:ext cx="791870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3. Subtitle">
            <a:extLst>
              <a:ext uri="{FF2B5EF4-FFF2-40B4-BE49-F238E27FC236}">
                <a16:creationId xmlns:a16="http://schemas.microsoft.com/office/drawing/2014/main" id="{8B21B024-D01D-AA2A-D573-1887DC21A12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3248" y="1465792"/>
            <a:ext cx="1333698" cy="1501775"/>
          </a:xfrm>
        </p:spPr>
        <p:txBody>
          <a:bodyPr wrap="square" anchor="b">
            <a:noAutofit/>
          </a:bodyPr>
          <a:lstStyle>
            <a:lvl1pPr marL="0" indent="0" algn="l">
              <a:buNone/>
              <a:defRPr sz="11500" b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#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F9BE4BB-B868-CD7C-065D-305AB24C057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C4C58-1BB0-3334-1DE9-B4E232014F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F99614-6037-1DBA-06D9-D9E06B38D0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248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5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03CBEB-270E-D2C4-9030-F9661F6A7EB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27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94776D-D5C5-D6C7-32EF-3CB00D8B94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5255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6150D6-CB53-BE39-BB90-890843D88902}"/>
              </a:ext>
            </a:extLst>
          </p:cNvPr>
          <p:cNvSpPr/>
          <p:nvPr userDrawn="1"/>
        </p:nvSpPr>
        <p:spPr>
          <a:xfrm>
            <a:off x="0" y="5255"/>
            <a:ext cx="12192000" cy="6858000"/>
          </a:xfrm>
          <a:prstGeom prst="rect">
            <a:avLst/>
          </a:prstGeom>
          <a:solidFill>
            <a:srgbClr val="FFFFFF">
              <a:alpha val="81961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7B64C-A5A8-9011-F642-DADDEE156D5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558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31B4FFF-3112-509A-25AD-DC04D3ED94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574"/>
            <a:ext cx="12192000" cy="6861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6150D6-CB53-BE39-BB90-890843D88902}"/>
              </a:ext>
            </a:extLst>
          </p:cNvPr>
          <p:cNvSpPr/>
          <p:nvPr userDrawn="1"/>
        </p:nvSpPr>
        <p:spPr>
          <a:xfrm>
            <a:off x="0" y="-3575"/>
            <a:ext cx="12192000" cy="6861573"/>
          </a:xfrm>
          <a:prstGeom prst="rect">
            <a:avLst/>
          </a:prstGeom>
          <a:solidFill>
            <a:srgbClr val="FFFFFF">
              <a:alpha val="87059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29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8557C46E-D820-D748-A948-C2D35571B83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0376E815-6082-4113-B8E6-422BA7A9F5F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E46C5-3207-971D-94FE-D0073C3B00A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5F5F8-E425-3904-305F-CF996C73608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27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5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3410584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B973C-76F2-39D3-8702-44384549ACF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74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07BBF4-D3FE-7E10-DEFC-0CF2DC977DC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341058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3410584" cy="6858000"/>
          </a:xfrm>
          <a:prstGeom prst="rect">
            <a:avLst/>
          </a:prstGeom>
          <a:solidFill>
            <a:srgbClr val="282828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A0821-CE25-99A8-3217-F20F160C27C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58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56F025-2A9A-0363-5927-666BC5FBAC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337664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309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1" y="0"/>
            <a:ext cx="3376644" cy="6858000"/>
          </a:xfrm>
          <a:prstGeom prst="rect">
            <a:avLst/>
          </a:prstGeom>
          <a:solidFill>
            <a:schemeClr val="bg1">
              <a:lumMod val="95000"/>
              <a:alpha val="6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8FC89-71A1-B315-1559-52EDB6A3885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63D343-BDCA-624C-141D-78E04B1CF77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3798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-1"/>
            <a:ext cx="3410584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70F1CDC-CF2D-1EDE-374F-863F46341EB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68446-C9D2-EA0E-E7C0-93D310A88C0C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8B2E0-588E-63AE-17A4-EFEC73247F3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110B21-817C-FECE-4FD3-5E1815B9571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361686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2378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70832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48145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145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54DFF-3522-6AC3-C3D3-4742561F6D5B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91A5DC-1071-13C1-B6F3-E7D340882DB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99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6116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6168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145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48145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49D0C2B-3846-B8EF-0B14-D381D41DD87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A889B-1138-5CDA-C8C3-4353D5B024FD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1BF6AA-9285-AC65-18B2-BFEA377229C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94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6116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4361688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5AE19F66-3558-ADEB-801B-418364F872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407664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EB941A43-EB03-AEFA-DFC9-EFA13A2F61E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407664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49D0C2B-3846-B8EF-0B14-D381D41DD87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A889B-1138-5CDA-C8C3-4353D5B024FD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8B81F-AD2C-B383-74CB-465DCC5CB6F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1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3B85E-A324-FE9D-FFE2-8F3B6E62E95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06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17" name="TopLineRight">
            <a:extLst>
              <a:ext uri="{FF2B5EF4-FFF2-40B4-BE49-F238E27FC236}">
                <a16:creationId xmlns:a16="http://schemas.microsoft.com/office/drawing/2014/main" id="{7CCC7D8D-D9D7-5515-DAAE-9407D99404B9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6573171" y="62301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TopLineRight">
            <a:extLst>
              <a:ext uri="{FF2B5EF4-FFF2-40B4-BE49-F238E27FC236}">
                <a16:creationId xmlns:a16="http://schemas.microsoft.com/office/drawing/2014/main" id="{84AF57CB-8A1D-D8CD-9FE3-C44B3EFDF42F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6573171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4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7A36E4-0957-8ECC-3082-BE707CF68B0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0D4C9F-0133-939E-AFE8-F025A012511B}"/>
              </a:ext>
            </a:extLst>
          </p:cNvPr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282828">
              <a:alpha val="7098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7E6623-6297-A305-A99F-CB3492FED01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  <p:sp>
        <p:nvSpPr>
          <p:cNvPr id="18" name="Slide Number">
            <a:extLst>
              <a:ext uri="{FF2B5EF4-FFF2-40B4-BE49-F238E27FC236}">
                <a16:creationId xmlns:a16="http://schemas.microsoft.com/office/drawing/2014/main" id="{5F0D303F-C275-1E41-7D65-5F820CA12216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07D81-2A00-DEAD-6711-333D309C6B26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361591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2A9BCD-32A0-E105-E2F9-737A3988D1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82267" y="0"/>
            <a:ext cx="6114688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-1"/>
            <a:ext cx="609904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0D4C9F-0133-939E-AFE8-F025A012511B}"/>
              </a:ext>
            </a:extLst>
          </p:cNvPr>
          <p:cNvSpPr/>
          <p:nvPr userDrawn="1"/>
        </p:nvSpPr>
        <p:spPr>
          <a:xfrm>
            <a:off x="6095998" y="0"/>
            <a:ext cx="6099048" cy="6858000"/>
          </a:xfrm>
          <a:prstGeom prst="rect">
            <a:avLst/>
          </a:prstGeom>
          <a:solidFill>
            <a:schemeClr val="accent6">
              <a:lumMod val="50000"/>
              <a:alpha val="7098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E2A278-C154-4323-3A4C-2C6E83DB7E3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2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88498B-F14E-3E46-DB68-756D68477D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8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606" imgH="608" progId="TCLayout.ActiveDocument.1">
                  <p:embed/>
                </p:oleObj>
              </mc:Choice>
              <mc:Fallback>
                <p:oleObj name="thinkcell Slide" r:id="rId8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82828">
              <a:alpha val="6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7" name="TopLineLeft">
            <a:extLst>
              <a:ext uri="{FF2B5EF4-FFF2-40B4-BE49-F238E27FC236}">
                <a16:creationId xmlns:a16="http://schemas.microsoft.com/office/drawing/2014/main" id="{4EDFE56F-E507-08B4-8517-275C7793A98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554736" y="104855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2. Slide Title">
            <a:extLst>
              <a:ext uri="{FF2B5EF4-FFF2-40B4-BE49-F238E27FC236}">
                <a16:creationId xmlns:a16="http://schemas.microsoft.com/office/drawing/2014/main" id="{B33732C0-F322-B2B4-F4A4-A41E3551319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3. Subtitle">
            <a:extLst>
              <a:ext uri="{FF2B5EF4-FFF2-40B4-BE49-F238E27FC236}">
                <a16:creationId xmlns:a16="http://schemas.microsoft.com/office/drawing/2014/main" id="{17A8874F-8812-3F09-8A2F-95E39D1B24A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86862-111C-1E19-A594-38759CFEB40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72F52-B755-5791-4AB1-65AC85900BF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76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71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C3AD25D-29A3-D4BC-7AB1-EFC4E2BCC3C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9290E951-F55D-E63C-08A3-5C292512A87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C0AD84-E372-F11D-D1F6-4605D356B51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E32A6-ACEB-4BD1-FE15-1E15842DBE7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F3ACB-87C9-DEDE-1F70-352EBD39F2E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4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711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C3AD25D-29A3-D4BC-7AB1-EFC4E2BCC3C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9290E951-F55D-E63C-08A3-5C292512A87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C0AD84-E372-F11D-D1F6-4605D356B517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E32A6-ACEB-4BD1-FE15-1E15842DBE7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E59EA9-E8CC-3881-AA6F-AE87483A700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3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9E3C030A-4C7F-7416-7D62-911459ACC51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44DB4907-6513-B1AB-36BC-039D23FABB3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F3624-7A77-B62B-E1DC-D2B1CAC9346E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5BBAC-24E2-2A1B-76C9-DFC59054AD0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4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506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5297C83-6155-10DC-F3DE-8C4F75018A4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7264" y="0"/>
            <a:ext cx="4364736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26303A-72E0-EBF8-C5C4-EDE3BCE9D30D}"/>
              </a:ext>
            </a:extLst>
          </p:cNvPr>
          <p:cNvSpPr/>
          <p:nvPr userDrawn="1"/>
        </p:nvSpPr>
        <p:spPr>
          <a:xfrm>
            <a:off x="7827264" y="0"/>
            <a:ext cx="4364736" cy="6858000"/>
          </a:xfrm>
          <a:prstGeom prst="rect">
            <a:avLst/>
          </a:prstGeom>
          <a:solidFill>
            <a:srgbClr val="282828">
              <a:alpha val="7098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4" name="TopLineRight">
            <a:extLst>
              <a:ext uri="{FF2B5EF4-FFF2-40B4-BE49-F238E27FC236}">
                <a16:creationId xmlns:a16="http://schemas.microsoft.com/office/drawing/2014/main" id="{84AF57CB-8A1D-D8CD-9FE3-C44B3EFDF42F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8173371" y="1048556"/>
            <a:ext cx="365419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9E3C030A-4C7F-7416-7D62-911459ACC51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44DB4907-6513-B1AB-36BC-039D23FABB3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68DA312-E9AD-A3B0-A882-492C8DD31F4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6D104F9C-B85C-EE9F-658F-02DD34EF0D0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27D91-8BF7-25B4-AC31-C3570D4D109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</p:spTree>
    <p:extLst>
      <p:ext uri="{BB962C8B-B14F-4D97-AF65-F5344CB8AC3E}">
        <p14:creationId xmlns:p14="http://schemas.microsoft.com/office/powerpoint/2010/main" val="4118099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6258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919EC17A-4541-5AEF-1D7F-FB74BEC8078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700304FD-148E-0963-7DE3-0C1A05D313A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51CA00-34DA-886B-077B-B68C82C67096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37C8F-C960-A54C-3187-69B2D22EB69A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D027E-3BCE-E04E-7C8D-4DBDF147EFF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4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37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606" imgH="608" progId="TCLayout.ActiveDocument.1">
                  <p:embed/>
                </p:oleObj>
              </mc:Choice>
              <mc:Fallback>
                <p:oleObj name="thinkcell Slide" r:id="rId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" name="TopLineRight">
            <a:extLst>
              <a:ext uri="{FF2B5EF4-FFF2-40B4-BE49-F238E27FC236}">
                <a16:creationId xmlns:a16="http://schemas.microsoft.com/office/drawing/2014/main" id="{1E83B81C-9379-4FDF-E230-45CCDE600321}"/>
              </a:ext>
            </a:extLst>
          </p:cNvPr>
          <p:cNvCxnSpPr>
            <a:cxnSpLocks/>
          </p:cNvCxnSpPr>
          <p:nvPr userDrawn="1">
            <p:custDataLst>
              <p:tags r:id="rId3"/>
            </p:custDataLst>
          </p:nvPr>
        </p:nvCxnSpPr>
        <p:spPr>
          <a:xfrm>
            <a:off x="9119861" y="6230156"/>
            <a:ext cx="2707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Right">
            <a:extLst>
              <a:ext uri="{FF2B5EF4-FFF2-40B4-BE49-F238E27FC236}">
                <a16:creationId xmlns:a16="http://schemas.microsoft.com/office/drawing/2014/main" id="{3C1CAAF5-2326-FA40-AFB2-5FA904A51612}"/>
              </a:ext>
            </a:extLst>
          </p:cNvPr>
          <p:cNvCxnSpPr>
            <a:cxnSpLocks/>
          </p:cNvCxnSpPr>
          <p:nvPr userDrawn="1">
            <p:custDataLst>
              <p:tags r:id="rId4"/>
            </p:custDataLst>
          </p:nvPr>
        </p:nvCxnSpPr>
        <p:spPr>
          <a:xfrm>
            <a:off x="9119861" y="1048556"/>
            <a:ext cx="2707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2. Slide Title">
            <a:extLst>
              <a:ext uri="{FF2B5EF4-FFF2-40B4-BE49-F238E27FC236}">
                <a16:creationId xmlns:a16="http://schemas.microsoft.com/office/drawing/2014/main" id="{66DADF39-9702-DBE5-8115-CC53117D838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3. Subtitle">
            <a:extLst>
              <a:ext uri="{FF2B5EF4-FFF2-40B4-BE49-F238E27FC236}">
                <a16:creationId xmlns:a16="http://schemas.microsoft.com/office/drawing/2014/main" id="{D2564903-BE8D-2E83-8CC0-4F40C8BF2E7D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A9BCF-8DC0-17F3-6030-5E9E0CE42E88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B9538-3032-C580-A718-4A46AA1BC7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77299" y="0"/>
            <a:ext cx="3314701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DD6709E-449A-9D60-3280-459461744298}"/>
              </a:ext>
            </a:extLst>
          </p:cNvPr>
          <p:cNvSpPr/>
          <p:nvPr userDrawn="1"/>
        </p:nvSpPr>
        <p:spPr>
          <a:xfrm>
            <a:off x="8877705" y="0"/>
            <a:ext cx="3314701" cy="685800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2BF990-AD5E-850E-6551-207B024399E4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94044" y="6454220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4DC04C-0F1F-1725-1883-154C149678EC}"/>
              </a:ext>
            </a:extLst>
          </p:cNvPr>
          <p:cNvSpPr txBox="1"/>
          <p:nvPr userDrawn="1"/>
        </p:nvSpPr>
        <p:spPr>
          <a:xfrm>
            <a:off x="8555003" y="6407162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FA51D8-7F16-6C3F-FCBF-CD29A85A72B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602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(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5247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345DD1-7E21-F515-85CF-B359B12C5A88}"/>
              </a:ext>
            </a:extLst>
          </p:cNvPr>
          <p:cNvSpPr/>
          <p:nvPr userDrawn="1"/>
        </p:nvSpPr>
        <p:spPr>
          <a:xfrm>
            <a:off x="431800" y="6295219"/>
            <a:ext cx="2514600" cy="550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53E8C-6E9D-8264-2874-D89D74CD9E15}"/>
              </a:ext>
            </a:extLst>
          </p:cNvPr>
          <p:cNvSpPr/>
          <p:nvPr userDrawn="1"/>
        </p:nvSpPr>
        <p:spPr>
          <a:xfrm>
            <a:off x="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610D696-A3AB-8379-4D91-9CAEA035C91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F209E84-B0F9-7159-CFE4-F41D8C1384E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1DDF4BF-CE8E-13FA-99C0-39B44DD63A6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5451D-3755-0D4F-6FF1-AB8F4287CDE1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670CA-6111-EBC0-5187-350EABFBC58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3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3760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3314700" y="0"/>
            <a:ext cx="88773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251460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6C8CC3D-FCB2-2F4C-6816-B051F9933E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1C8D7-1A55-C410-AC5E-BD3D3AB4E15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CC296F-FA51-2D60-EBFD-B5DDF33B4F3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62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64736" y="0"/>
            <a:ext cx="7827264" cy="6857998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B0565AB-4079-4F9F-C11B-0E94581185E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38087-9039-BEEA-40E1-3C8B3B85D7C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20D12-73FD-A6BF-0AF4-0AFF6996943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13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64736" y="0"/>
            <a:ext cx="7827264" cy="685799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B0565AB-4079-4F9F-C11B-0E94581185E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38087-9039-BEEA-40E1-3C8B3B85D7C5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50299-D895-018E-C536-218E95104E3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1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7C1147-F01C-C5FA-E0E3-17AB963AF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4736" y="-3574"/>
            <a:ext cx="7827264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8736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4357642" y="0"/>
            <a:ext cx="7834357" cy="6857998"/>
          </a:xfrm>
          <a:prstGeom prst="rect">
            <a:avLst/>
          </a:prstGeom>
          <a:solidFill>
            <a:srgbClr val="282828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2" name="2. Slide Title">
            <a:extLst>
              <a:ext uri="{FF2B5EF4-FFF2-40B4-BE49-F238E27FC236}">
                <a16:creationId xmlns:a16="http://schemas.microsoft.com/office/drawing/2014/main" id="{F9639F65-6267-3E12-A764-EFF3F0D8D7A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744369"/>
            <a:ext cx="3563430" cy="769441"/>
          </a:xfrm>
        </p:spPr>
        <p:txBody>
          <a:bodyPr vert="horz" anchor="b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F5F6EAFF-30EB-7E79-542F-A44ABBD79CF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3659644"/>
            <a:ext cx="3563430" cy="2492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A746E6F-EE25-8EF1-2A8D-A96A6E1DD5F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C041C-D790-3BE5-561C-0AE4BF6C4F96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E96FE-1336-A612-1F68-5C2649DC6C7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78472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0DBD039E-D8CC-F27C-A5CF-DE876D571E9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506577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3. Subtitle">
            <a:extLst>
              <a:ext uri="{FF2B5EF4-FFF2-40B4-BE49-F238E27FC236}">
                <a16:creationId xmlns:a16="http://schemas.microsoft.com/office/drawing/2014/main" id="{A70AD7AA-E5E0-21FE-6EC1-7EB218BBCD60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00F35FC-A0DC-82BE-A43D-C3F0454B913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8430C-560F-5992-DECA-F88E142AA4C3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8F88A6-0458-8F41-A99E-8DB1AE08DB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4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AF53A-3AAD-7119-5BC3-480625DA50C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1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05DFB-1824-BA75-4B51-57D421CCD7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387F1-7CA1-1F7C-7233-21D6F4F1D5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45788" y="-1"/>
            <a:ext cx="4446211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426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745788" y="-1"/>
            <a:ext cx="4446211" cy="6857999"/>
          </a:xfrm>
          <a:prstGeom prst="rect">
            <a:avLst/>
          </a:prstGeom>
          <a:solidFill>
            <a:srgbClr val="282828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C7DCE0-AB35-168B-F71C-39D0B5FF339E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4195ED8-2E77-5DEB-05AD-89CA4409D2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15065C5-31EB-7FD3-0E13-021536D60B2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229C8-9E4D-D258-D009-01D88C61DD80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7E8BF-DF5C-04BC-5DD0-0F870091F91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3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/3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19750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7830312" y="0"/>
            <a:ext cx="4361688" cy="6857999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cxnSp>
        <p:nvCxnSpPr>
          <p:cNvPr id="2" name="TopLineRight">
            <a:extLst>
              <a:ext uri="{FF2B5EF4-FFF2-40B4-BE49-F238E27FC236}">
                <a16:creationId xmlns:a16="http://schemas.microsoft.com/office/drawing/2014/main" id="{0207D452-16AE-537B-6FD2-74CF7F01249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8173371" y="1048556"/>
            <a:ext cx="364715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2. Slide Title">
            <a:extLst>
              <a:ext uri="{FF2B5EF4-FFF2-40B4-BE49-F238E27FC236}">
                <a16:creationId xmlns:a16="http://schemas.microsoft.com/office/drawing/2014/main" id="{D78DD2EB-E32E-0335-D77C-F267BAC328F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69677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3. Subtitle">
            <a:extLst>
              <a:ext uri="{FF2B5EF4-FFF2-40B4-BE49-F238E27FC236}">
                <a16:creationId xmlns:a16="http://schemas.microsoft.com/office/drawing/2014/main" id="{8453E736-3485-4084-72C8-ACCDEA8FCF4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BF691-0FD5-8E31-D513-57412302E3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>
            <a:fillRect/>
          </a:stretch>
        </p:blipFill>
        <p:spPr>
          <a:xfrm>
            <a:off x="7801895" y="0"/>
            <a:ext cx="4390105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A7BD50-6113-59CA-DD56-0BEBB42018A0}"/>
              </a:ext>
            </a:extLst>
          </p:cNvPr>
          <p:cNvSpPr/>
          <p:nvPr userDrawn="1"/>
        </p:nvSpPr>
        <p:spPr>
          <a:xfrm>
            <a:off x="7801896" y="0"/>
            <a:ext cx="4390104" cy="6858000"/>
          </a:xfrm>
          <a:prstGeom prst="rect">
            <a:avLst/>
          </a:prstGeom>
          <a:solidFill>
            <a:srgbClr val="282828">
              <a:alpha val="7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975EAB0-966D-7F32-8F3C-E8D0DA5BBE4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41965-DF97-A888-0813-296F1159ADE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98D86A-7AA2-BB1F-7939-CD84523233B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0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553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8781416" y="-9524"/>
            <a:ext cx="3410584" cy="6867524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AEF754C1-BAFC-0271-30BC-70EE99C07F1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D9BC05A-04C1-C167-49D5-70481C23BA1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50522D0-A5DF-ADFA-B1A0-C5F02FD25A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5F0F5-BD11-0C60-19F2-B95860F3F9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5B7544-7B1B-5687-B682-D9112B3F9E9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44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/4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5530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86782E5-C92F-27C6-BFA5-3AC5771E22C1}"/>
              </a:ext>
            </a:extLst>
          </p:cNvPr>
          <p:cNvSpPr/>
          <p:nvPr userDrawn="1"/>
        </p:nvSpPr>
        <p:spPr>
          <a:xfrm>
            <a:off x="8781416" y="-9524"/>
            <a:ext cx="3410584" cy="6867524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AEF754C1-BAFC-0271-30BC-70EE99C07F1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0D9BC05A-04C1-C167-49D5-70481C23BA1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50522D0-A5DF-ADFA-B1A0-C5F02FD25A3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5F0F5-BD11-0C60-19F2-B95860F3F977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24529-AED8-E717-5D71-636D72AFDEE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50" y="6322775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28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364E57-9967-B3CD-C9B0-E7AEDCFE6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1942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8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BBD03E5-26E4-99BF-CC74-8AF15513F42B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D0EB6279-FA78-F45C-3761-6DB01CEAAEF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FEE6799D-E124-E9E7-C4F2-A47CA1B1157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49CA-30CD-E3C2-51E6-AEA71B13C74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818CD-970B-DD1F-CF68-4715C936557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93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 (Contra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E3EB5-7E07-BBB7-E780-1205F77D96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1942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606" imgH="608" progId="TCLayout.ActiveDocument.1">
                  <p:embed/>
                </p:oleObj>
              </mc:Choice>
              <mc:Fallback>
                <p:oleObj name="thinkcell Slide" r:id="rId7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BBD03E5-26E4-99BF-CC74-8AF15513F42B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2. Slide Title">
            <a:extLst>
              <a:ext uri="{FF2B5EF4-FFF2-40B4-BE49-F238E27FC236}">
                <a16:creationId xmlns:a16="http://schemas.microsoft.com/office/drawing/2014/main" id="{D0EB6279-FA78-F45C-3761-6DB01CEAAEF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3. Subtitle">
            <a:extLst>
              <a:ext uri="{FF2B5EF4-FFF2-40B4-BE49-F238E27FC236}">
                <a16:creationId xmlns:a16="http://schemas.microsoft.com/office/drawing/2014/main" id="{FEE6799D-E124-E9E7-C4F2-A47CA1B11579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49CA-30CD-E3C2-51E6-AEA71B13C749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789D9-02CE-2ACE-40AF-0B23B0733ED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13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9EC453D-5A76-929D-143E-78E804D3D8F6}"/>
              </a:ext>
            </a:extLst>
          </p:cNvPr>
          <p:cNvSpPr/>
          <p:nvPr userDrawn="1"/>
        </p:nvSpPr>
        <p:spPr>
          <a:xfrm>
            <a:off x="9648825" y="6334126"/>
            <a:ext cx="1663700" cy="284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C2E102BA-655C-3DD3-162C-BE2CC40594B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6779D-6C40-CFB0-7E24-0B37AC77255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53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91264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C2E102BA-655C-3DD3-162C-BE2CC40594B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075141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6779D-6C40-CFB0-7E24-0B37AC77255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06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606" imgH="608" progId="TCLayout.ActiveDocument.1">
                  <p:embed/>
                </p:oleObj>
              </mc:Choice>
              <mc:Fallback>
                <p:oleObj name="thinkcell Slide" r:id="rId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6" y="304118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Key message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A50D7-4B34-7124-09F9-9ED77083951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97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606" imgH="608" progId="TCLayout.ActiveDocument.1">
                  <p:embed/>
                </p:oleObj>
              </mc:Choice>
              <mc:Fallback>
                <p:oleObj name="thinkcell Slide" r:id="rId5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3053" y="1261730"/>
            <a:ext cx="11082528" cy="333322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23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32C2F34-60B4-9455-1A0F-147B43063A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450" y="4997450"/>
            <a:ext cx="11082338" cy="96678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about number above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FE7D25-A9B2-596E-A903-A329E28ABAC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8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CCE262-FA15-614B-5776-AD4E30089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3574"/>
            <a:ext cx="12191999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4736" y="2700670"/>
            <a:ext cx="11082528" cy="16303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Key message may be two lines or one.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05CAE-EB66-A47E-8293-4A5922D4800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84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(Contrast - Corner Image Read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B29C40-E54C-7908-32BD-34EC9D608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E57A80D-4A6A-EE5A-5B07-AF8FC50EE64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2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" imgW="606" imgH="608" progId="TCLayout.ActiveDocument.1">
                  <p:embed/>
                </p:oleObj>
              </mc:Choice>
              <mc:Fallback>
                <p:oleObj name="thinkcell Slide" r:id="rId6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57A80D-4A6A-EE5A-5B07-AF8FC50EE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81D0576-49D8-26B3-E95C-58D3A15B73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>
              <a:alpha val="87843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R="0" lvl="0" indent="0" algn="ctr" defTabSz="4963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95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B93EDD42-67BE-6B80-FFAF-34C3FCC01E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53053" y="1261730"/>
            <a:ext cx="11082528" cy="333322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ctr">
              <a:defRPr sz="23900" b="0">
                <a:solidFill>
                  <a:schemeClr val="bg1"/>
                </a:solidFill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077F44-6B45-641D-9673-AB37F630BEDE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5067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F0FC6-222E-0E32-1570-35E1B4183B64}"/>
              </a:ext>
            </a:extLst>
          </p:cNvPr>
          <p:cNvSpPr txBox="1"/>
          <p:nvPr userDrawn="1"/>
        </p:nvSpPr>
        <p:spPr>
          <a:xfrm>
            <a:off x="8473484" y="6403616"/>
            <a:ext cx="281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latin typeface="+mn-lt"/>
                <a:ea typeface="Lato Light" panose="020F0502020204030203" pitchFamily="34" charset="0"/>
                <a:cs typeface="Lato Light" panose="020F0502020204030203" pitchFamily="34" charset="0"/>
              </a:rPr>
              <a:t>©Telesto Strategy LLC 2026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431657-40B0-E564-7ECA-60A82B5CD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450" y="4997450"/>
            <a:ext cx="11082338" cy="96678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about number above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AEA2C-3663-2438-9A21-EF1FB5F99D9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45" y="6320941"/>
            <a:ext cx="1188720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75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tags" Target="../tags/tag2.xml"/><Relationship Id="rId52" Type="http://schemas.openxmlformats.org/officeDocument/2006/relationships/tags" Target="../tags/tag3.xml"/><Relationship Id="rId53" Type="http://schemas.openxmlformats.org/officeDocument/2006/relationships/oleObject" Target="../embeddings/oleObject1.bin"/><Relationship Id="rId5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AD74DD7-5A7B-CE8C-6629-61FE56C9DB2D}"/>
              </a:ext>
            </a:extLst>
          </p:cNvPr>
          <p:cNvGraphicFramePr>
            <a:graphicFrameLocks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2964369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3" imgW="606" imgH="608" progId="TCLayout.ActiveDocument.1">
                  <p:embed/>
                </p:oleObj>
              </mc:Choice>
              <mc:Fallback>
                <p:oleObj name="thinkcell Slide" r:id="rId5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74DD7-5A7B-CE8C-6629-61FE56C9D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9387FB-EF1C-1781-E283-3CA5984D5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12B24C4B-7000-9219-5348-DDDCA2A6F348}"/>
              </a:ext>
            </a:extLst>
          </p:cNvPr>
          <p:cNvSpPr>
            <a:spLocks noGrp="1"/>
          </p:cNvSpPr>
          <p:nvPr>
            <p:ph type="title"/>
            <p:custDataLst>
              <p:tags r:id="rId5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2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912" r:id="rId2"/>
    <p:sldLayoutId id="2147483910" r:id="rId3"/>
    <p:sldLayoutId id="2147483790" r:id="rId4"/>
    <p:sldLayoutId id="2147483697" r:id="rId5"/>
    <p:sldLayoutId id="2147483800" r:id="rId6"/>
    <p:sldLayoutId id="2147483672" r:id="rId7"/>
    <p:sldLayoutId id="2147483686" r:id="rId8"/>
    <p:sldLayoutId id="2147483808" r:id="rId9"/>
    <p:sldLayoutId id="2147483649" r:id="rId10"/>
    <p:sldLayoutId id="2147483803" r:id="rId11"/>
    <p:sldLayoutId id="2147483807" r:id="rId12"/>
    <p:sldLayoutId id="2147483661" r:id="rId13"/>
    <p:sldLayoutId id="2147483791" r:id="rId14"/>
    <p:sldLayoutId id="2147483806" r:id="rId15"/>
    <p:sldLayoutId id="2147483673" r:id="rId16"/>
    <p:sldLayoutId id="2147483792" r:id="rId17"/>
    <p:sldLayoutId id="2147483674" r:id="rId18"/>
    <p:sldLayoutId id="2147483928" r:id="rId19"/>
    <p:sldLayoutId id="2147483663" r:id="rId20"/>
    <p:sldLayoutId id="2147483794" r:id="rId21"/>
    <p:sldLayoutId id="2147483926" r:id="rId22"/>
    <p:sldLayoutId id="2147483793" r:id="rId23"/>
    <p:sldLayoutId id="2147483675" r:id="rId24"/>
    <p:sldLayoutId id="2147483927" r:id="rId25"/>
    <p:sldLayoutId id="2147483664" r:id="rId26"/>
    <p:sldLayoutId id="2147483795" r:id="rId27"/>
    <p:sldLayoutId id="2147483676" r:id="rId28"/>
    <p:sldLayoutId id="2147483915" r:id="rId29"/>
    <p:sldLayoutId id="2147483677" r:id="rId30"/>
    <p:sldLayoutId id="2147483678" r:id="rId31"/>
    <p:sldLayoutId id="2147483679" r:id="rId32"/>
    <p:sldLayoutId id="2147483929" r:id="rId33"/>
    <p:sldLayoutId id="2147483921" r:id="rId34"/>
    <p:sldLayoutId id="2147483680" r:id="rId35"/>
    <p:sldLayoutId id="2147483658" r:id="rId36"/>
    <p:sldLayoutId id="2147483930" r:id="rId37"/>
    <p:sldLayoutId id="2147483801" r:id="rId38"/>
    <p:sldLayoutId id="2147483933" r:id="rId39"/>
    <p:sldLayoutId id="2147483682" r:id="rId40"/>
    <p:sldLayoutId id="2147483931" r:id="rId41"/>
    <p:sldLayoutId id="2147483802" r:id="rId42"/>
    <p:sldLayoutId id="2147483916" r:id="rId43"/>
    <p:sldLayoutId id="2147483695" r:id="rId44"/>
    <p:sldLayoutId id="2147483932" r:id="rId45"/>
    <p:sldLayoutId id="2147483922" r:id="rId46"/>
    <p:sldLayoutId id="2147483923" r:id="rId47"/>
    <p:sldLayoutId id="2147483924" r:id="rId48"/>
    <p:sldLayoutId id="2147483925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207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Avenir Next LT Pro Light" panose="020B03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636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065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Telesto works along a continuum from services to product, and the path chosen decides which rules apply.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  <p:sp>
        <p:nvSpPr>
          <p:cNvPr id="8" name="Pentagon 7"/>
          <p:cNvSpPr/>
          <p:nvPr/>
        </p:nvSpPr>
        <p:spPr>
          <a:xfrm>
            <a:off x="557784" y="1691640"/>
            <a:ext cx="3749039" cy="749808"/>
          </a:xfrm>
          <a:prstGeom prst="homePlate">
            <a:avLst>
              <a:gd name="adj" fmla="val 2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3" y="186537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01   </a:t>
            </a:r>
            <a:r>
              <a:rPr sz="15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Chevron 9"/>
          <p:cNvSpPr/>
          <p:nvPr/>
        </p:nvSpPr>
        <p:spPr>
          <a:xfrm>
            <a:off x="4197096" y="1691640"/>
            <a:ext cx="3749039" cy="749808"/>
          </a:xfrm>
          <a:prstGeom prst="chevron">
            <a:avLst>
              <a:gd name="adj" fmla="val 22000"/>
            </a:avLst>
          </a:prstGeom>
          <a:solidFill>
            <a:srgbClr val="00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64024" y="186537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02   </a:t>
            </a:r>
            <a:r>
              <a:rPr sz="1500" b="1">
                <a:solidFill>
                  <a:srgbClr val="FFFFFF"/>
                </a:solidFill>
                <a:latin typeface="Arial"/>
              </a:rPr>
              <a:t>SERVICES + PRODUCT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6408" y="1691640"/>
            <a:ext cx="3749039" cy="749808"/>
          </a:xfrm>
          <a:prstGeom prst="chevron">
            <a:avLst>
              <a:gd name="adj" fmla="val 22000"/>
            </a:avLst>
          </a:prstGeom>
          <a:solidFill>
            <a:srgbClr val="005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03336" y="1865376"/>
            <a:ext cx="2926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03   </a:t>
            </a:r>
            <a:r>
              <a:rPr sz="150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2697480"/>
            <a:ext cx="3557016" cy="2926080"/>
          </a:xfrm>
          <a:prstGeom prst="roundRect">
            <a:avLst>
              <a:gd name="adj" fmla="val 4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2971800"/>
            <a:ext cx="3081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Analysis, findings and recommendations are delivered as a deck.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3995928"/>
            <a:ext cx="3081528" cy="12801"/>
          </a:xfrm>
          <a:prstGeom prst="rect">
            <a:avLst/>
          </a:prstGeom>
          <a:solidFill>
            <a:srgbClr val="4A4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8" y="4178808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09999"/>
                </a:solidFill>
                <a:latin typeface="Arial"/>
              </a:rPr>
              <a:t>IN PRACTICE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4558284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33271" y="4489704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Intelligence programs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" y="4942332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3271" y="4873752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Strategy and PMO engagements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2697480"/>
            <a:ext cx="3557016" cy="2926080"/>
          </a:xfrm>
          <a:prstGeom prst="roundRect">
            <a:avLst>
              <a:gd name="adj" fmla="val 4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53712" y="2971800"/>
            <a:ext cx="3081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 deck states the findings; a product the client keeps using answers the questions that follow.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3995928"/>
            <a:ext cx="3081528" cy="12801"/>
          </a:xfrm>
          <a:prstGeom prst="rect">
            <a:avLst/>
          </a:prstGeom>
          <a:solidFill>
            <a:srgbClr val="4A4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53712" y="4178808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09999"/>
                </a:solidFill>
                <a:latin typeface="Arial"/>
              </a:rPr>
              <a:t>IN PRACTICE</a:t>
            </a:r>
          </a:p>
        </p:txBody>
      </p:sp>
      <p:sp>
        <p:nvSpPr>
          <p:cNvPr id="26" name="Oval 25"/>
          <p:cNvSpPr/>
          <p:nvPr/>
        </p:nvSpPr>
        <p:spPr>
          <a:xfrm>
            <a:off x="4553712" y="4558284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91456" y="4489704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Client chatbot</a:t>
            </a:r>
          </a:p>
        </p:txBody>
      </p:sp>
      <p:sp>
        <p:nvSpPr>
          <p:cNvPr id="28" name="Oval 27"/>
          <p:cNvSpPr/>
          <p:nvPr/>
        </p:nvSpPr>
        <p:spPr>
          <a:xfrm>
            <a:off x="4553712" y="4942332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91456" y="4873752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Public sector market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2" y="2697480"/>
            <a:ext cx="3557016" cy="2926080"/>
          </a:xfrm>
          <a:prstGeom prst="roundRect">
            <a:avLst>
              <a:gd name="adj" fmla="val 4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11896" y="2971800"/>
            <a:ext cx="30815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 live application the client operates. A short deck exists to explain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1896" y="3995928"/>
            <a:ext cx="3081528" cy="12801"/>
          </a:xfrm>
          <a:prstGeom prst="rect">
            <a:avLst/>
          </a:prstGeom>
          <a:solidFill>
            <a:srgbClr val="4A4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4178808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09999"/>
                </a:solidFill>
                <a:latin typeface="Arial"/>
              </a:rPr>
              <a:t>IN PRACTICE</a:t>
            </a:r>
          </a:p>
        </p:txBody>
      </p:sp>
      <p:sp>
        <p:nvSpPr>
          <p:cNvPr id="34" name="Oval 33"/>
          <p:cNvSpPr/>
          <p:nvPr/>
        </p:nvSpPr>
        <p:spPr>
          <a:xfrm>
            <a:off x="8311896" y="4558284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549640" y="4489704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Standalone application</a:t>
            </a:r>
          </a:p>
        </p:txBody>
      </p:sp>
      <p:sp>
        <p:nvSpPr>
          <p:cNvPr id="36" name="Oval 35"/>
          <p:cNvSpPr/>
          <p:nvPr/>
        </p:nvSpPr>
        <p:spPr>
          <a:xfrm>
            <a:off x="8311896" y="4942332"/>
            <a:ext cx="100584" cy="100584"/>
          </a:xfrm>
          <a:prstGeom prst="ellipse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549640" y="4873752"/>
            <a:ext cx="2825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Sold on its own terms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1896" y="5221224"/>
            <a:ext cx="1755648" cy="329184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11896" y="530809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009999"/>
                </a:solidFill>
                <a:latin typeface="Arial"/>
              </a:rPr>
              <a:t>IN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Every deliverable starts with a one-slide brief, is drafted with AI, and clears a self-check before partner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572768"/>
            <a:ext cx="1975104" cy="1481328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664" y="177393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13969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Pick the path: services, services and product, or product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87752" y="2231136"/>
            <a:ext cx="164592" cy="164592"/>
          </a:xfrm>
          <a:prstGeom prst="rightArrow">
            <a:avLst/>
          </a:prstGeom>
          <a:solidFill>
            <a:srgbClr val="8A8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807208" y="1572768"/>
            <a:ext cx="1975104" cy="1481328"/>
          </a:xfrm>
          <a:prstGeom prst="roundRect">
            <a:avLst>
              <a:gd name="adj" fmla="val 5000"/>
            </a:avLst>
          </a:prstGeom>
          <a:solidFill>
            <a:srgbClr val="0E3A3E"/>
          </a:solidFill>
          <a:ln w="15875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0088" y="177393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9999"/>
                </a:solidFill>
                <a:latin typeface="Arial"/>
              </a:rPr>
              <a:t>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13969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One slide: goal, audience, value at stake, storyline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7176" y="2231136"/>
            <a:ext cx="164592" cy="164592"/>
          </a:xfrm>
          <a:prstGeom prst="rightArrow">
            <a:avLst/>
          </a:prstGeom>
          <a:solidFill>
            <a:srgbClr val="8A8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56632" y="1572768"/>
            <a:ext cx="1975104" cy="1481328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39512" y="177393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13969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AI drafts from the approved brief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231136"/>
            <a:ext cx="164592" cy="164592"/>
          </a:xfrm>
          <a:prstGeom prst="rightArrow">
            <a:avLst/>
          </a:prstGeom>
          <a:solidFill>
            <a:srgbClr val="8A8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306056" y="1572768"/>
            <a:ext cx="1975104" cy="1481328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 w="15875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88936" y="177393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9999"/>
                </a:solidFill>
                <a:latin typeface="Arial"/>
              </a:rPr>
              <a:t>QC 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13969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The consultant scores the deck and fixes what it flags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36024" y="2231136"/>
            <a:ext cx="164592" cy="164592"/>
          </a:xfrm>
          <a:prstGeom prst="rightArrow">
            <a:avLst/>
          </a:prstGeom>
          <a:solidFill>
            <a:srgbClr val="8A8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555480" y="1572768"/>
            <a:ext cx="1975104" cy="1481328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38359" y="177393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139696"/>
            <a:ext cx="160934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Partner reads for judgment, then it 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07208" y="3200400"/>
            <a:ext cx="1975104" cy="36576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07208" y="3291839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009999"/>
                </a:solidFill>
                <a:latin typeface="Arial"/>
              </a:rPr>
              <a:t>GATE</a:t>
            </a:r>
            <a:r>
              <a:rPr sz="1050" b="0">
                <a:solidFill>
                  <a:srgbClr val="FFFFFF"/>
                </a:solidFill>
                <a:latin typeface="Arial"/>
              </a:rPr>
              <a:t>   Green light to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6292" y="3054096"/>
            <a:ext cx="14630" cy="274319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036868" y="3236976"/>
            <a:ext cx="14630" cy="91439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044184" y="3328415"/>
            <a:ext cx="2249424" cy="1463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Up Arrow 31"/>
          <p:cNvSpPr/>
          <p:nvPr/>
        </p:nvSpPr>
        <p:spPr>
          <a:xfrm>
            <a:off x="5961888" y="3090672"/>
            <a:ext cx="164592" cy="164592"/>
          </a:xfrm>
          <a:prstGeom prst="up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44184" y="3419856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Flags come back, fix and re-run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3931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09999"/>
                </a:solidFill>
                <a:latin typeface="Arial"/>
              </a:rPr>
              <a:t>WHAT THE QC BOT SCORES, 1 TO 5 PER DECK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" y="4279392"/>
            <a:ext cx="2628900" cy="155448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80559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7240" y="4846320"/>
            <a:ext cx="2189988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Clarity of outcome and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394959"/>
            <a:ext cx="21899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One takeaway, and the reader knows what to decide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9564" y="4279392"/>
            <a:ext cx="2628900" cy="155448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4480559"/>
            <a:ext cx="310896" cy="3108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589020" y="4846320"/>
            <a:ext cx="2189988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Logical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5394959"/>
            <a:ext cx="21899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Parts align, the order holds, no missing pages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1344" y="4279392"/>
            <a:ext cx="2628900" cy="155448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va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80559"/>
            <a:ext cx="310896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00800" y="4846320"/>
            <a:ext cx="2189988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Financial value at stake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394959"/>
            <a:ext cx="21899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Dollar impact stated and defensible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3124" y="4279392"/>
            <a:ext cx="2628900" cy="1554480"/>
          </a:xfrm>
          <a:prstGeom prst="roundRect">
            <a:avLst>
              <a:gd name="adj" fmla="val 5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accur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0" y="4480559"/>
            <a:ext cx="310896" cy="3108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12580" y="4846320"/>
            <a:ext cx="2189988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Technical 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580" y="5394959"/>
            <a:ext cx="21899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Every number traced to a real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603504"/>
            <a:ext cx="11082528" cy="658368"/>
          </a:xfrm>
        </p:spPr>
        <p:txBody>
          <a:bodyPr wrap="square" anchor="t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Each path uses a different mix of skills and tools.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274320"/>
            <a:ext cx="1369771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009999"/>
                </a:solidFill>
                <a:latin typeface="Arial"/>
              </a:rPr>
              <a:t>00  </a:t>
            </a:r>
            <a:r>
              <a:rPr sz="1050">
                <a:solidFill>
                  <a:srgbClr val="009999"/>
                </a:solidFill>
                <a:latin typeface="Arial"/>
              </a:rPr>
              <a:t>ORIENTATION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525780"/>
            <a:ext cx="1324051" cy="228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0163" y="274320"/>
            <a:ext cx="1100937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01  </a:t>
            </a:r>
            <a:r>
              <a:rPr sz="1050">
                <a:solidFill>
                  <a:srgbClr val="8A8F92"/>
                </a:solidFill>
                <a:latin typeface="Arial"/>
              </a:rPr>
              <a:t>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3708" y="274320"/>
            <a:ext cx="199704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02  </a:t>
            </a:r>
            <a:r>
              <a:rPr sz="1050">
                <a:solidFill>
                  <a:srgbClr val="8A8F92"/>
                </a:solidFill>
                <a:latin typeface="Arial"/>
              </a:rPr>
              <a:t>SERVICES +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3366" y="274320"/>
            <a:ext cx="1011326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50">
                <a:solidFill>
                  <a:srgbClr val="8A8F92"/>
                </a:solidFill>
                <a:latin typeface="Arial"/>
              </a:rPr>
              <a:t>03  </a:t>
            </a:r>
            <a:r>
              <a:rPr sz="1050">
                <a:solidFill>
                  <a:srgbClr val="8A8F92"/>
                </a:solidFill>
                <a:latin typeface="Arial"/>
              </a:rPr>
              <a:t>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44752"/>
            <a:ext cx="3026664" cy="457200"/>
          </a:xfrm>
          <a:prstGeom prst="roundRect">
            <a:avLst>
              <a:gd name="adj" fmla="val 10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87168" y="1563624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01   </a:t>
            </a:r>
            <a:r>
              <a:rPr sz="125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444752"/>
            <a:ext cx="3026664" cy="457200"/>
          </a:xfrm>
          <a:prstGeom prst="roundRect">
            <a:avLst>
              <a:gd name="adj" fmla="val 10000"/>
            </a:avLst>
          </a:prstGeom>
          <a:solidFill>
            <a:srgbClr val="00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41848" y="1563624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02   </a:t>
            </a:r>
            <a:r>
              <a:rPr sz="1250" b="1">
                <a:solidFill>
                  <a:srgbClr val="FFFFFF"/>
                </a:solidFill>
                <a:latin typeface="Arial"/>
              </a:rPr>
              <a:t>SERVICES +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444752"/>
            <a:ext cx="3026664" cy="457200"/>
          </a:xfrm>
          <a:prstGeom prst="roundRect">
            <a:avLst>
              <a:gd name="adj" fmla="val 10000"/>
            </a:avLst>
          </a:prstGeom>
          <a:solidFill>
            <a:srgbClr val="005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96528" y="1563624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03   </a:t>
            </a:r>
            <a:r>
              <a:rPr sz="125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581912"/>
            <a:ext cx="2624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IN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" y="2029968"/>
            <a:ext cx="1600200" cy="1481328"/>
          </a:xfrm>
          <a:prstGeom prst="roundRect">
            <a:avLst>
              <a:gd name="adj" fmla="val 6000"/>
            </a:avLst>
          </a:prstGeom>
          <a:solidFill>
            <a:srgbClr val="14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2376" y="2029968"/>
            <a:ext cx="1271016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09999"/>
                </a:solidFill>
                <a:latin typeface="Arial"/>
              </a:rPr>
              <a:t>Consultant 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029968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87168" y="2212848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Storyline and synthesis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Executive writing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Client psychology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029968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41848" y="2212848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09999"/>
                </a:solidFill>
                <a:latin typeface="Arial"/>
              </a:rPr>
              <a:t>Everything at left, plus: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Data structuring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Dashboard and tool design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Client data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029968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96528" y="2212848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09999"/>
                </a:solidFill>
                <a:latin typeface="Arial"/>
              </a:rPr>
              <a:t>Everything at left, plus: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Product specification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User experience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Deployment and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" y="3639312"/>
            <a:ext cx="1600200" cy="1481328"/>
          </a:xfrm>
          <a:prstGeom prst="roundRect">
            <a:avLst>
              <a:gd name="adj" fmla="val 6000"/>
            </a:avLst>
          </a:prstGeom>
          <a:solidFill>
            <a:srgbClr val="14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2376" y="3639312"/>
            <a:ext cx="1271016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09999"/>
                </a:solidFill>
                <a:latin typeface="Arial"/>
              </a:rPr>
              <a:t>Build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639312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487168" y="3822191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Claude with Telesto skills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PowerPoint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3639312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41848" y="3822191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09999"/>
                </a:solidFill>
                <a:latin typeface="Arial"/>
              </a:rPr>
              <a:t>Everything at left, plus: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Claude Code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Replit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Google Cloud for live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639312"/>
            <a:ext cx="3026664" cy="148132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96528" y="3822191"/>
            <a:ext cx="262432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09999"/>
                </a:solidFill>
                <a:latin typeface="Arial"/>
              </a:rPr>
              <a:t>Everything at left, plus: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GitHub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Managed hosting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Identity and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" y="5248656"/>
            <a:ext cx="1600200" cy="658368"/>
          </a:xfrm>
          <a:prstGeom prst="roundRect">
            <a:avLst>
              <a:gd name="adj" fmla="val 6000"/>
            </a:avLst>
          </a:prstGeom>
          <a:solidFill>
            <a:srgbClr val="143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2376" y="5248656"/>
            <a:ext cx="127101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09999"/>
                </a:solidFill>
                <a:latin typeface="Arial"/>
              </a:rPr>
              <a:t>Where the work lives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5248656"/>
            <a:ext cx="3026664" cy="65836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487168" y="543153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 deck 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5248656"/>
            <a:ext cx="3026664" cy="65836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41848" y="543153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 client portal, with the deck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5248656"/>
            <a:ext cx="3026664" cy="658368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796528" y="5431536"/>
            <a:ext cx="2624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A live application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1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B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Office Theme">
  <a:themeElements>
    <a:clrScheme name="Telesto Refresh 1156 am">
      <a:dk1>
        <a:srgbClr val="282828"/>
      </a:dk1>
      <a:lt1>
        <a:sysClr val="window" lastClr="FFFFFF"/>
      </a:lt1>
      <a:dk2>
        <a:srgbClr val="17406D"/>
      </a:dk2>
      <a:lt2>
        <a:srgbClr val="005366"/>
      </a:lt2>
      <a:accent1>
        <a:srgbClr val="003366"/>
      </a:accent1>
      <a:accent2>
        <a:srgbClr val="808080"/>
      </a:accent2>
      <a:accent3>
        <a:srgbClr val="0BD0D9"/>
      </a:accent3>
      <a:accent4>
        <a:srgbClr val="10CF9B"/>
      </a:accent4>
      <a:accent5>
        <a:srgbClr val="009999"/>
      </a:accent5>
      <a:accent6>
        <a:srgbClr val="D5BA98"/>
      </a:accent6>
      <a:hlink>
        <a:srgbClr val="006699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spcBef>
            <a:spcPts val="600"/>
          </a:spcBef>
          <a:buNone/>
          <a:defRPr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83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7F663C-8204-4C1A-86AE-1085E48DE92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a064131-df95-45fc-9ceb-30121b583e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4765</Words>
  <Application>Microsoft Office PowerPoint</Application>
  <PresentationFormat>Widescreen</PresentationFormat>
  <Paragraphs>521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Avenir Next LT Pro Light</vt:lpstr>
      <vt:lpstr>Calibri</vt:lpstr>
      <vt:lpstr>Wingdings</vt:lpstr>
      <vt:lpstr>Lato</vt:lpstr>
      <vt:lpstr>Courier New</vt:lpstr>
      <vt:lpstr>Office Theme</vt:lpstr>
      <vt:lpstr>thinkcell Slide</vt:lpstr>
      <vt:lpstr>think-cell Slide</vt:lpstr>
      <vt:lpstr>The Vanguard Standard</vt:lpstr>
      <vt:lpstr>This AI page contains instructions on how to read this file</vt:lpstr>
      <vt:lpstr>What this standard achieves</vt:lpstr>
      <vt:lpstr>Contents</vt:lpstr>
      <vt:lpstr>PowerPoint Presentation</vt:lpstr>
      <vt:lpstr>[Use slide format]</vt:lpstr>
      <vt:lpstr>[Use for contrasting slides]</vt:lpstr>
      <vt:lpstr>[Use occasionally]</vt:lpstr>
      <vt:lpstr>Solving the problem starts with defining the problem in the SMART way  </vt:lpstr>
      <vt:lpstr>MECE is a defining element of why consultants sound structured, and used constantly to set up frameworks</vt:lpstr>
      <vt:lpstr>Consultants work with senior leaders, so they must think like one</vt:lpstr>
      <vt:lpstr>Critical thinking | Key takeaways</vt:lpstr>
      <vt:lpstr>2</vt:lpstr>
      <vt:lpstr>Before you write a single sentence or compose a slide, ask yourself in your client’s voice…</vt:lpstr>
      <vt:lpstr>Consulting decks follow top-down logic: takeaways and recommendations first, details below</vt:lpstr>
      <vt:lpstr>The storyline is at the heart of our deliverables and determines what is elevated above vs. below in a deck</vt:lpstr>
      <vt:lpstr>Consultants use “ghost” pages as scaffolding; this allows the team to align quickly on the structure and what slides can be built new vs. reused</vt:lpstr>
      <vt:lpstr>Deck building | Key takeaways</vt:lpstr>
      <vt:lpstr>3</vt:lpstr>
      <vt:lpstr>Most consulting pages follow a commonly used format</vt:lpstr>
      <vt:lpstr>The action title is the most important takeaway of the slide and should inform a busy reader in seconds</vt:lpstr>
      <vt:lpstr>Tables are used commonly to present categories, and should be reviewed for conciseness and overall takeaway</vt:lpstr>
      <vt:lpstr>Charts should contain explanatory titles, subtitles on methodology, and sources so that the reader gets the full picture</vt:lpstr>
      <vt:lpstr>Use page elements to provide visual cues and stickers to hedge</vt:lpstr>
      <vt:lpstr>Clients’ own style and learned preferences should inform the page elements</vt:lpstr>
      <vt:lpstr>Page building | Key takeaways</vt:lpstr>
      <vt:lpstr>4</vt:lpstr>
      <vt:lpstr>To grow as a nimble, AI-native firm, Telesto is moving towards more agentic uses and new forms of deliverables</vt:lpstr>
      <vt:lpstr>AI workflow can only be a moat when original IP and firm data are combined</vt:lpstr>
      <vt:lpstr>For any task that requires complex judgment, AI is best used like a colleague, not an outsourced worker</vt:lpstr>
      <vt:lpstr>AI | Key takeaways</vt:lpstr>
      <vt:lpstr>5</vt:lpstr>
      <vt:lpstr>Before a major internal or client review, check for these common mistakes</vt:lpstr>
      <vt:lpstr>Handling sensitive client data with AI requires extra steps to ensure data integrity and legal compliance</vt:lpstr>
      <vt:lpstr>QC and Data | Key takeaways</vt:lpstr>
      <vt:lpstr>Appendix: Resources for AI</vt:lpstr>
      <vt:lpstr>Suggested instructions for AI</vt:lpstr>
      <vt:lpstr>Common deck types for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2026-08-31T22:40:43Z</dcterms:created>
  <dcterms:modified xsi:type="dcterms:W3CDTF">2026-09-10T20:16:37Z</dcterms:modified>
</cp:coreProperties>
</file>